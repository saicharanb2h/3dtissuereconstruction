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alibri (MS) Bold" charset="1" panose="020F0702030404030204"/>
      <p:regular r:id="rId21"/>
    </p:embeddedFont>
    <p:embeddedFont>
      <p:font typeface="Cambria Bold" charset="1" panose="02040803050406030204"/>
      <p:regular r:id="rId22"/>
    </p:embeddedFont>
    <p:embeddedFont>
      <p:font typeface="Calibri (MS)" charset="1" panose="020F0502020204030204"/>
      <p:regular r:id="rId23"/>
    </p:embeddedFont>
    <p:embeddedFont>
      <p:font typeface="Calibri (MS) Italics" charset="1" panose="020F05020202040A0204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Slides/notesSlide2.xml" Type="http://schemas.openxmlformats.org/officeDocument/2006/relationships/notesSlide"/><Relationship Id="rId25" Target="notesSlides/notesSlide3.xml" Type="http://schemas.openxmlformats.org/officeDocument/2006/relationships/notesSlide"/><Relationship Id="rId26" Target="notesSlides/notesSlide4.xml" Type="http://schemas.openxmlformats.org/officeDocument/2006/relationships/notesSlide"/><Relationship Id="rId27" Target="notesSlides/notesSlide5.xml" Type="http://schemas.openxmlformats.org/officeDocument/2006/relationships/notesSlide"/><Relationship Id="rId28" Target="fonts/font28.fntdata" Type="http://schemas.openxmlformats.org/officeDocument/2006/relationships/font"/><Relationship Id="rId29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7.xml" Type="http://schemas.openxmlformats.org/officeDocument/2006/relationships/notesSlide"/><Relationship Id="rId31" Target="notesSlides/notesSlide8.xml" Type="http://schemas.openxmlformats.org/officeDocument/2006/relationships/notesSlide"/><Relationship Id="rId32" Target="notesSlides/notesSlide9.xml" Type="http://schemas.openxmlformats.org/officeDocument/2006/relationships/notesSlide"/><Relationship Id="rId33" Target="notesSlides/notesSlide10.xml" Type="http://schemas.openxmlformats.org/officeDocument/2006/relationships/notesSlide"/><Relationship Id="rId34" Target="notesSlides/notesSlide11.xml" Type="http://schemas.openxmlformats.org/officeDocument/2006/relationships/notesSlide"/><Relationship Id="rId35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jpeg" Type="http://schemas.openxmlformats.org/officeDocument/2006/relationships/image"/><Relationship Id="rId4" Target="../media/image7.png" Type="http://schemas.openxmlformats.org/officeDocument/2006/relationships/image"/><Relationship Id="rId5" Target="../media/image6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jpe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2.jpe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4.png" Type="http://schemas.openxmlformats.org/officeDocument/2006/relationships/image"/><Relationship Id="rId7" Target="../media/image1.png" Type="http://schemas.openxmlformats.org/officeDocument/2006/relationships/image"/><Relationship Id="rId8" Target="../media/image15.png" Type="http://schemas.openxmlformats.org/officeDocument/2006/relationships/image"/><Relationship Id="rId9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jpeg" Type="http://schemas.openxmlformats.org/officeDocument/2006/relationships/image"/><Relationship Id="rId4" Target="../media/image17.png" Type="http://schemas.openxmlformats.org/officeDocument/2006/relationships/image"/><Relationship Id="rId5" Target="../media/image14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jpe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png" Type="http://schemas.openxmlformats.org/officeDocument/2006/relationships/image"/><Relationship Id="rId12" Target="../media/image28.png" Type="http://schemas.openxmlformats.org/officeDocument/2006/relationships/image"/><Relationship Id="rId2" Target="../notesSlides/notesSlide8.xml" Type="http://schemas.openxmlformats.org/officeDocument/2006/relationships/notesSlide"/><Relationship Id="rId3" Target="../media/image2.jpe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Relationship Id="rId8" Target="../media/image24.pn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.jpe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Relationship Id="rId6" Target="../media/image31.png" Type="http://schemas.openxmlformats.org/officeDocument/2006/relationships/image"/><Relationship Id="rId7" Target="../media/image3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.jpeg" Type="http://schemas.openxmlformats.org/officeDocument/2006/relationships/image"/><Relationship Id="rId4" Target="../media/image16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2.jpeg" Type="http://schemas.openxmlformats.org/officeDocument/2006/relationships/image"/><Relationship Id="rId4" Target="../media/image33.png" Type="http://schemas.openxmlformats.org/officeDocument/2006/relationships/image"/><Relationship Id="rId5" Target="../media/image34.png" Type="http://schemas.openxmlformats.org/officeDocument/2006/relationships/image"/><Relationship Id="rId6" Target="../media/image1.png" Type="http://schemas.openxmlformats.org/officeDocument/2006/relationships/image"/><Relationship Id="rId7" Target="../media/image35.png" Type="http://schemas.openxmlformats.org/officeDocument/2006/relationships/image"/><Relationship Id="rId8" Target="../media/image36.png" Type="http://schemas.openxmlformats.org/officeDocument/2006/relationships/image"/><Relationship Id="rId9" Target="../media/image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2.jpeg" Type="http://schemas.openxmlformats.org/officeDocument/2006/relationships/image"/><Relationship Id="rId4" Target="../media/image5.png" Type="http://schemas.openxmlformats.org/officeDocument/2006/relationships/image"/><Relationship Id="rId5" Target="../media/image19.png" Type="http://schemas.openxmlformats.org/officeDocument/2006/relationships/image"/><Relationship Id="rId6" Target="../media/image3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50323" y="-2196274"/>
            <a:ext cx="5765225" cy="5765225"/>
            <a:chOff x="0" y="0"/>
            <a:chExt cx="7686967" cy="76869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86929" cy="7686929"/>
            </a:xfrm>
            <a:custGeom>
              <a:avLst/>
              <a:gdLst/>
              <a:ahLst/>
              <a:cxnLst/>
              <a:rect r="r" b="b" t="t" l="l"/>
              <a:pathLst>
                <a:path h="7686929" w="7686929">
                  <a:moveTo>
                    <a:pt x="0" y="3843528"/>
                  </a:moveTo>
                  <a:cubicBezTo>
                    <a:pt x="0" y="1720723"/>
                    <a:pt x="1720723" y="0"/>
                    <a:pt x="3843528" y="0"/>
                  </a:cubicBezTo>
                  <a:cubicBezTo>
                    <a:pt x="5966333" y="0"/>
                    <a:pt x="7686929" y="1720723"/>
                    <a:pt x="7686929" y="3843528"/>
                  </a:cubicBezTo>
                  <a:cubicBezTo>
                    <a:pt x="7686929" y="5966333"/>
                    <a:pt x="5966206" y="7686929"/>
                    <a:pt x="3843528" y="7686929"/>
                  </a:cubicBezTo>
                  <a:cubicBezTo>
                    <a:pt x="1720850" y="7686929"/>
                    <a:pt x="0" y="5966206"/>
                    <a:pt x="0" y="3843528"/>
                  </a:cubicBezTo>
                  <a:close/>
                </a:path>
              </a:pathLst>
            </a:custGeom>
            <a:solidFill>
              <a:srgbClr val="065A82">
                <a:alpha val="20000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921745" y="7275166"/>
            <a:ext cx="4941618" cy="4941618"/>
            <a:chOff x="0" y="0"/>
            <a:chExt cx="6588823" cy="658882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588760" cy="6588760"/>
            </a:xfrm>
            <a:custGeom>
              <a:avLst/>
              <a:gdLst/>
              <a:ahLst/>
              <a:cxnLst/>
              <a:rect r="r" b="b" t="t" l="l"/>
              <a:pathLst>
                <a:path h="6588760" w="6588760">
                  <a:moveTo>
                    <a:pt x="0" y="3294380"/>
                  </a:moveTo>
                  <a:cubicBezTo>
                    <a:pt x="0" y="1474978"/>
                    <a:pt x="1474978" y="0"/>
                    <a:pt x="3294380" y="0"/>
                  </a:cubicBezTo>
                  <a:cubicBezTo>
                    <a:pt x="5113782" y="0"/>
                    <a:pt x="6588760" y="1474978"/>
                    <a:pt x="6588760" y="3294380"/>
                  </a:cubicBezTo>
                  <a:cubicBezTo>
                    <a:pt x="6588760" y="5113782"/>
                    <a:pt x="5113782" y="6588760"/>
                    <a:pt x="3294380" y="6588760"/>
                  </a:cubicBezTo>
                  <a:cubicBezTo>
                    <a:pt x="1474978" y="6588760"/>
                    <a:pt x="0" y="5113909"/>
                    <a:pt x="0" y="3294380"/>
                  </a:cubicBezTo>
                  <a:close/>
                </a:path>
              </a:pathLst>
            </a:custGeom>
            <a:solidFill>
              <a:srgbClr val="1C7293">
                <a:alpha val="1568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533219" y="892235"/>
            <a:ext cx="1235402" cy="1235402"/>
            <a:chOff x="0" y="0"/>
            <a:chExt cx="1647203" cy="16472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47190" cy="1647190"/>
            </a:xfrm>
            <a:custGeom>
              <a:avLst/>
              <a:gdLst/>
              <a:ahLst/>
              <a:cxnLst/>
              <a:rect r="r" b="b" t="t" l="l"/>
              <a:pathLst>
                <a:path h="1647190" w="1647190">
                  <a:moveTo>
                    <a:pt x="0" y="823595"/>
                  </a:moveTo>
                  <a:cubicBezTo>
                    <a:pt x="0" y="368681"/>
                    <a:pt x="368681" y="0"/>
                    <a:pt x="823595" y="0"/>
                  </a:cubicBezTo>
                  <a:cubicBezTo>
                    <a:pt x="1278509" y="0"/>
                    <a:pt x="1647190" y="368681"/>
                    <a:pt x="1647190" y="823595"/>
                  </a:cubicBezTo>
                  <a:cubicBezTo>
                    <a:pt x="1647190" y="1278509"/>
                    <a:pt x="1278509" y="1647190"/>
                    <a:pt x="823595" y="1647190"/>
                  </a:cubicBezTo>
                  <a:cubicBezTo>
                    <a:pt x="368681" y="1647190"/>
                    <a:pt x="0" y="1278509"/>
                    <a:pt x="0" y="823595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8693820" y="1052836"/>
            <a:ext cx="914200" cy="914200"/>
            <a:chOff x="0" y="0"/>
            <a:chExt cx="1218933" cy="1218933"/>
          </a:xfrm>
        </p:grpSpPr>
        <p:sp>
          <p:nvSpPr>
            <p:cNvPr name="Freeform 9" id="9" descr="/home/claude/proj/icons/brain_white.png"/>
            <p:cNvSpPr/>
            <p:nvPr/>
          </p:nvSpPr>
          <p:spPr>
            <a:xfrm flipH="false" flipV="false" rot="0">
              <a:off x="0" y="0"/>
              <a:ext cx="1218946" cy="1218946"/>
            </a:xfrm>
            <a:custGeom>
              <a:avLst/>
              <a:gdLst/>
              <a:ahLst/>
              <a:cxnLst/>
              <a:rect r="r" b="b" t="t" l="l"/>
              <a:pathLst>
                <a:path h="1218946" w="1218946">
                  <a:moveTo>
                    <a:pt x="0" y="0"/>
                  </a:moveTo>
                  <a:lnTo>
                    <a:pt x="1218946" y="0"/>
                  </a:lnTo>
                  <a:lnTo>
                    <a:pt x="1218946" y="1218946"/>
                  </a:lnTo>
                  <a:lnTo>
                    <a:pt x="0" y="1218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98137" y="2537622"/>
            <a:ext cx="16105565" cy="480431"/>
            <a:chOff x="0" y="0"/>
            <a:chExt cx="21474087" cy="6405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474086" cy="640580"/>
            </a:xfrm>
            <a:custGeom>
              <a:avLst/>
              <a:gdLst/>
              <a:ahLst/>
              <a:cxnLst/>
              <a:rect r="r" b="b" t="t" l="l"/>
              <a:pathLst>
                <a:path h="640580" w="21474086">
                  <a:moveTo>
                    <a:pt x="0" y="0"/>
                  </a:moveTo>
                  <a:lnTo>
                    <a:pt x="21474086" y="0"/>
                  </a:lnTo>
                  <a:lnTo>
                    <a:pt x="21474086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03194" r="0" b="-60319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1474087" cy="688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b="true" sz="1951" spc="450">
                  <a:solidFill>
                    <a:srgbClr val="8FD1E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B.TECH FINAL YEAR PROJECT PROPOSAL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09941" y="3122828"/>
            <a:ext cx="15281958" cy="2608078"/>
            <a:chOff x="0" y="0"/>
            <a:chExt cx="20375944" cy="34774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375949" cy="3477437"/>
            </a:xfrm>
            <a:custGeom>
              <a:avLst/>
              <a:gdLst/>
              <a:ahLst/>
              <a:cxnLst/>
              <a:rect r="r" b="b" t="t" l="l"/>
              <a:pathLst>
                <a:path h="3477437" w="20375949">
                  <a:moveTo>
                    <a:pt x="0" y="0"/>
                  </a:moveTo>
                  <a:lnTo>
                    <a:pt x="20375949" y="0"/>
                  </a:lnTo>
                  <a:lnTo>
                    <a:pt x="20375949" y="3477437"/>
                  </a:lnTo>
                  <a:lnTo>
                    <a:pt x="0" y="347743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172" r="0" b="-6417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0375944" cy="3534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47"/>
                </a:lnSpc>
              </a:pPr>
              <a:r>
                <a:rPr lang="en-US" sz="4053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Generative Three-Dimensional Reconstruction of Biomedical Tissues from Sparse 2D CT/MRI Slices using Conditional Diffusion Models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102819" y="5833862"/>
            <a:ext cx="82363" cy="82363"/>
            <a:chOff x="0" y="0"/>
            <a:chExt cx="109817" cy="10981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855" cy="109855"/>
            </a:xfrm>
            <a:custGeom>
              <a:avLst/>
              <a:gdLst/>
              <a:ahLst/>
              <a:cxnLst/>
              <a:rect r="r" b="b" t="t" l="l"/>
              <a:pathLst>
                <a:path h="109855" w="109855">
                  <a:moveTo>
                    <a:pt x="0" y="54864"/>
                  </a:moveTo>
                  <a:cubicBezTo>
                    <a:pt x="0" y="24638"/>
                    <a:pt x="24638" y="0"/>
                    <a:pt x="54864" y="0"/>
                  </a:cubicBezTo>
                  <a:cubicBezTo>
                    <a:pt x="85090" y="0"/>
                    <a:pt x="109855" y="24638"/>
                    <a:pt x="109855" y="54864"/>
                  </a:cubicBezTo>
                  <a:cubicBezTo>
                    <a:pt x="109855" y="85090"/>
                    <a:pt x="85217" y="109855"/>
                    <a:pt x="54864" y="109855"/>
                  </a:cubicBezTo>
                  <a:cubicBezTo>
                    <a:pt x="24511" y="109855"/>
                    <a:pt x="0" y="85217"/>
                    <a:pt x="0" y="54864"/>
                  </a:cubicBezTo>
                  <a:close/>
                </a:path>
              </a:pathLst>
            </a:custGeom>
            <a:solidFill>
              <a:srgbClr val="8FD1E6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2186740" y="6510661"/>
            <a:ext cx="6767808" cy="2146706"/>
            <a:chOff x="0" y="0"/>
            <a:chExt cx="9023744" cy="286227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023858" cy="2862326"/>
            </a:xfrm>
            <a:custGeom>
              <a:avLst/>
              <a:gdLst/>
              <a:ahLst/>
              <a:cxnLst/>
              <a:rect r="r" b="b" t="t" l="l"/>
              <a:pathLst>
                <a:path h="2862326" w="9023858">
                  <a:moveTo>
                    <a:pt x="0" y="166243"/>
                  </a:moveTo>
                  <a:cubicBezTo>
                    <a:pt x="0" y="74422"/>
                    <a:pt x="74422" y="0"/>
                    <a:pt x="166243" y="0"/>
                  </a:cubicBezTo>
                  <a:lnTo>
                    <a:pt x="8857615" y="0"/>
                  </a:lnTo>
                  <a:cubicBezTo>
                    <a:pt x="8949436" y="0"/>
                    <a:pt x="9023858" y="74422"/>
                    <a:pt x="9023858" y="166243"/>
                  </a:cubicBezTo>
                  <a:lnTo>
                    <a:pt x="9023858" y="2696083"/>
                  </a:lnTo>
                  <a:cubicBezTo>
                    <a:pt x="9023858" y="2787904"/>
                    <a:pt x="8949436" y="2862326"/>
                    <a:pt x="8857615" y="2862326"/>
                  </a:cubicBezTo>
                  <a:lnTo>
                    <a:pt x="166243" y="2862326"/>
                  </a:lnTo>
                  <a:cubicBezTo>
                    <a:pt x="74422" y="2862326"/>
                    <a:pt x="0" y="2787904"/>
                    <a:pt x="0" y="2696083"/>
                  </a:cubicBezTo>
                  <a:close/>
                </a:path>
              </a:pathLst>
            </a:custGeom>
            <a:solidFill>
              <a:srgbClr val="263269"/>
            </a:solidFill>
            <a:ln w="19065" cap="sq">
              <a:solidFill>
                <a:srgbClr val="3A4A8F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2562777" y="6891137"/>
            <a:ext cx="6131042" cy="144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b="true" sz="1501" spc="150">
                <a:solidFill>
                  <a:srgbClr val="8FD1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Student</a:t>
            </a:r>
          </a:p>
          <a:p>
            <a:pPr algn="l">
              <a:lnSpc>
                <a:spcPts val="2702"/>
              </a:lnSpc>
            </a:pPr>
            <a:r>
              <a:rPr lang="en-US" b="true" sz="2251" spc="225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Gudikandula Sai Charan chary, Ayush chaurasia, Chahanaa Sheth</a:t>
            </a:r>
          </a:p>
          <a:p>
            <a:pPr algn="l">
              <a:lnSpc>
                <a:spcPts val="1981"/>
              </a:lnSpc>
            </a:pPr>
          </a:p>
          <a:p>
            <a:pPr algn="l">
              <a:lnSpc>
                <a:spcPts val="1981"/>
              </a:lnSpc>
            </a:pPr>
            <a:r>
              <a:rPr lang="en-US" sz="1651" spc="165">
                <a:solidFill>
                  <a:srgbClr val="C6D6EE"/>
                </a:solidFill>
                <a:latin typeface="Calibri (MS)"/>
                <a:ea typeface="Calibri (MS)"/>
                <a:cs typeface="Calibri (MS)"/>
                <a:sym typeface="Calibri (MS)"/>
              </a:rPr>
              <a:t>Roll No:  23BAI1536, 23BAI1543, 23BAI1517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347292" y="6510661"/>
            <a:ext cx="6767808" cy="2146706"/>
            <a:chOff x="0" y="0"/>
            <a:chExt cx="9023744" cy="286227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023858" cy="2862326"/>
            </a:xfrm>
            <a:custGeom>
              <a:avLst/>
              <a:gdLst/>
              <a:ahLst/>
              <a:cxnLst/>
              <a:rect r="r" b="b" t="t" l="l"/>
              <a:pathLst>
                <a:path h="2862326" w="9023858">
                  <a:moveTo>
                    <a:pt x="0" y="166243"/>
                  </a:moveTo>
                  <a:cubicBezTo>
                    <a:pt x="0" y="74422"/>
                    <a:pt x="74422" y="0"/>
                    <a:pt x="166243" y="0"/>
                  </a:cubicBezTo>
                  <a:lnTo>
                    <a:pt x="8857615" y="0"/>
                  </a:lnTo>
                  <a:cubicBezTo>
                    <a:pt x="8949436" y="0"/>
                    <a:pt x="9023858" y="74422"/>
                    <a:pt x="9023858" y="166243"/>
                  </a:cubicBezTo>
                  <a:lnTo>
                    <a:pt x="9023858" y="2696083"/>
                  </a:lnTo>
                  <a:cubicBezTo>
                    <a:pt x="9023858" y="2787904"/>
                    <a:pt x="8949436" y="2862326"/>
                    <a:pt x="8857615" y="2862326"/>
                  </a:cubicBezTo>
                  <a:lnTo>
                    <a:pt x="166243" y="2862326"/>
                  </a:lnTo>
                  <a:cubicBezTo>
                    <a:pt x="74422" y="2862326"/>
                    <a:pt x="0" y="2787904"/>
                    <a:pt x="0" y="2696083"/>
                  </a:cubicBezTo>
                  <a:close/>
                </a:path>
              </a:pathLst>
            </a:custGeom>
            <a:solidFill>
              <a:srgbClr val="263269"/>
            </a:solidFill>
            <a:ln w="19065" cap="sq">
              <a:solidFill>
                <a:srgbClr val="3A4A8F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9768621" y="7012515"/>
            <a:ext cx="6131042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b="true" sz="1501" spc="150">
                <a:solidFill>
                  <a:srgbClr val="8FD1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Project Guide</a:t>
            </a:r>
          </a:p>
          <a:p>
            <a:pPr algn="l">
              <a:lnSpc>
                <a:spcPts val="2702"/>
              </a:lnSpc>
            </a:pPr>
            <a:r>
              <a:rPr lang="en-US" b="true" sz="2251" spc="225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Dr. Sarita Kumari</a:t>
            </a:r>
          </a:p>
          <a:p>
            <a:pPr algn="l">
              <a:lnSpc>
                <a:spcPts val="1981"/>
              </a:lnSpc>
            </a:pPr>
          </a:p>
          <a:p>
            <a:pPr algn="l">
              <a:lnSpc>
                <a:spcPts val="1981"/>
              </a:lnSpc>
            </a:pPr>
            <a:r>
              <a:rPr lang="en-US" b="true" sz="1651" spc="165">
                <a:solidFill>
                  <a:srgbClr val="C6D6E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Assistant Professor, SCOPE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45337" y="9128274"/>
            <a:ext cx="16105565" cy="549069"/>
            <a:chOff x="0" y="0"/>
            <a:chExt cx="21474087" cy="73209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474086" cy="732092"/>
            </a:xfrm>
            <a:custGeom>
              <a:avLst/>
              <a:gdLst/>
              <a:ahLst/>
              <a:cxnLst/>
              <a:rect r="r" b="b" t="t" l="l"/>
              <a:pathLst>
                <a:path h="732092" w="21474086">
                  <a:moveTo>
                    <a:pt x="0" y="0"/>
                  </a:moveTo>
                  <a:lnTo>
                    <a:pt x="21474086" y="0"/>
                  </a:lnTo>
                  <a:lnTo>
                    <a:pt x="21474086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1544" r="0" b="-521544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1474087" cy="770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sz="1801">
                  <a:solidFill>
                    <a:srgbClr val="9FB4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Computer Science &amp; Engineering  •  VIT Chennai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971" y="576520"/>
            <a:ext cx="12354049" cy="439255"/>
            <a:chOff x="0" y="0"/>
            <a:chExt cx="16472065" cy="5856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72069" cy="585674"/>
            </a:xfrm>
            <a:custGeom>
              <a:avLst/>
              <a:gdLst/>
              <a:ahLst/>
              <a:cxnLst/>
              <a:rect r="r" b="b" t="t" l="l"/>
              <a:pathLst>
                <a:path h="585674" w="16472069">
                  <a:moveTo>
                    <a:pt x="0" y="0"/>
                  </a:moveTo>
                  <a:lnTo>
                    <a:pt x="16472069" y="0"/>
                  </a:lnTo>
                  <a:lnTo>
                    <a:pt x="16472069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8016" r="0" b="-49801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472065" cy="6237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b="true" sz="1801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INTRODUCTION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971" y="988324"/>
            <a:ext cx="16791899" cy="988324"/>
            <a:chOff x="0" y="0"/>
            <a:chExt cx="22389198" cy="13177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389201" cy="1317765"/>
            </a:xfrm>
            <a:custGeom>
              <a:avLst/>
              <a:gdLst/>
              <a:ahLst/>
              <a:cxnLst/>
              <a:rect r="r" b="b" t="t" l="l"/>
              <a:pathLst>
                <a:path h="1317765" w="22389201">
                  <a:moveTo>
                    <a:pt x="0" y="0"/>
                  </a:moveTo>
                  <a:lnTo>
                    <a:pt x="22389201" y="0"/>
                  </a:lnTo>
                  <a:lnTo>
                    <a:pt x="22389201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1056" r="0" b="-28105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389198" cy="1327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4"/>
                </a:lnSpc>
              </a:pPr>
              <a:r>
                <a:rPr lang="en-US" sz="4503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From 2D Scans to 3D Anatomy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4971" y="9718519"/>
            <a:ext cx="10981382" cy="411804"/>
            <a:chOff x="0" y="0"/>
            <a:chExt cx="14641843" cy="5490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41840" cy="549069"/>
            </a:xfrm>
            <a:custGeom>
              <a:avLst/>
              <a:gdLst/>
              <a:ahLst/>
              <a:cxnLst/>
              <a:rect r="r" b="b" t="t" l="l"/>
              <a:pathLst>
                <a:path h="549069" w="14641840">
                  <a:moveTo>
                    <a:pt x="0" y="0"/>
                  </a:moveTo>
                  <a:lnTo>
                    <a:pt x="14641840" y="0"/>
                  </a:lnTo>
                  <a:lnTo>
                    <a:pt x="1464184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0" r="0" b="-46960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4641843" cy="5776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>
                  <a:solidFill>
                    <a:srgbClr val="5B6E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3D Reconstruction of Biomedical Tissues — B.Tech Project Proposal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899663" y="9718519"/>
            <a:ext cx="1647206" cy="411804"/>
            <a:chOff x="0" y="0"/>
            <a:chExt cx="2196274" cy="5490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6276" cy="549069"/>
            </a:xfrm>
            <a:custGeom>
              <a:avLst/>
              <a:gdLst/>
              <a:ahLst/>
              <a:cxnLst/>
              <a:rect r="r" b="b" t="t" l="l"/>
              <a:pathLst>
                <a:path h="549069" w="2196276">
                  <a:moveTo>
                    <a:pt x="0" y="0"/>
                  </a:moveTo>
                  <a:lnTo>
                    <a:pt x="2196276" y="0"/>
                  </a:lnTo>
                  <a:lnTo>
                    <a:pt x="219627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39" r="0" b="-2794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2196274" cy="5776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1"/>
                </a:lnSpc>
              </a:pPr>
              <a:r>
                <a:rPr lang="en-US" sz="1351">
                  <a:solidFill>
                    <a:srgbClr val="5B6E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02 / 12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45436" y="2529916"/>
            <a:ext cx="5387588" cy="3519383"/>
            <a:chOff x="0" y="0"/>
            <a:chExt cx="7183450" cy="469251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183501" cy="4692523"/>
            </a:xfrm>
            <a:custGeom>
              <a:avLst/>
              <a:gdLst/>
              <a:ahLst/>
              <a:cxnLst/>
              <a:rect r="r" b="b" t="t" l="l"/>
              <a:pathLst>
                <a:path h="4692523" w="7183501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7017893" y="0"/>
                  </a:lnTo>
                  <a:cubicBezTo>
                    <a:pt x="7109333" y="0"/>
                    <a:pt x="7183501" y="74168"/>
                    <a:pt x="7183501" y="165608"/>
                  </a:cubicBezTo>
                  <a:lnTo>
                    <a:pt x="7183501" y="4526915"/>
                  </a:lnTo>
                  <a:cubicBezTo>
                    <a:pt x="7183501" y="4618355"/>
                    <a:pt x="7109333" y="4692523"/>
                    <a:pt x="7017893" y="4692523"/>
                  </a:cubicBezTo>
                  <a:lnTo>
                    <a:pt x="165608" y="4692523"/>
                  </a:lnTo>
                  <a:cubicBezTo>
                    <a:pt x="74168" y="4692523"/>
                    <a:pt x="0" y="4618355"/>
                    <a:pt x="0" y="4526915"/>
                  </a:cubicBezTo>
                  <a:close/>
                </a:path>
              </a:pathLst>
            </a:custGeom>
            <a:solidFill>
              <a:srgbClr val="F7FAFB"/>
            </a:solidFill>
            <a:ln w="19065" cap="sq">
              <a:solidFill>
                <a:srgbClr val="DCE6E9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2890161" y="3019882"/>
            <a:ext cx="1098137" cy="1098137"/>
            <a:chOff x="0" y="0"/>
            <a:chExt cx="1464183" cy="146418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64310" cy="1464310"/>
            </a:xfrm>
            <a:custGeom>
              <a:avLst/>
              <a:gdLst/>
              <a:ahLst/>
              <a:cxnLst/>
              <a:rect r="r" b="b" t="t" l="l"/>
              <a:pathLst>
                <a:path h="1464310" w="1464310">
                  <a:moveTo>
                    <a:pt x="0" y="732155"/>
                  </a:moveTo>
                  <a:cubicBezTo>
                    <a:pt x="0" y="327787"/>
                    <a:pt x="327787" y="0"/>
                    <a:pt x="732155" y="0"/>
                  </a:cubicBezTo>
                  <a:cubicBezTo>
                    <a:pt x="1136523" y="0"/>
                    <a:pt x="1464310" y="327787"/>
                    <a:pt x="1464310" y="732155"/>
                  </a:cubicBezTo>
                  <a:cubicBezTo>
                    <a:pt x="1464310" y="1136523"/>
                    <a:pt x="1136523" y="1464310"/>
                    <a:pt x="732155" y="1464310"/>
                  </a:cubicBezTo>
                  <a:cubicBezTo>
                    <a:pt x="327787" y="1464310"/>
                    <a:pt x="0" y="1136396"/>
                    <a:pt x="0" y="732155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3032922" y="3162633"/>
            <a:ext cx="812625" cy="812625"/>
            <a:chOff x="0" y="0"/>
            <a:chExt cx="1083500" cy="1083500"/>
          </a:xfrm>
        </p:grpSpPr>
        <p:sp>
          <p:nvSpPr>
            <p:cNvPr name="Freeform 19" id="19" descr="/home/claude/proj/icons/ctscan_white.png"/>
            <p:cNvSpPr/>
            <p:nvPr/>
          </p:nvSpPr>
          <p:spPr>
            <a:xfrm flipH="false" flipV="false" rot="0">
              <a:off x="0" y="0"/>
              <a:ext cx="1083437" cy="1083437"/>
            </a:xfrm>
            <a:custGeom>
              <a:avLst/>
              <a:gdLst/>
              <a:ahLst/>
              <a:cxnLst/>
              <a:rect r="r" b="b" t="t" l="l"/>
              <a:pathLst>
                <a:path h="1083437" w="1083437">
                  <a:moveTo>
                    <a:pt x="0" y="0"/>
                  </a:moveTo>
                  <a:lnTo>
                    <a:pt x="1083437" y="0"/>
                  </a:lnTo>
                  <a:lnTo>
                    <a:pt x="1083437" y="1083437"/>
                  </a:lnTo>
                  <a:lnTo>
                    <a:pt x="0" y="10834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5" b="-5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98137" y="4323921"/>
            <a:ext cx="4682185" cy="686333"/>
            <a:chOff x="0" y="0"/>
            <a:chExt cx="6242914" cy="91511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242913" cy="915115"/>
            </a:xfrm>
            <a:custGeom>
              <a:avLst/>
              <a:gdLst/>
              <a:ahLst/>
              <a:cxnLst/>
              <a:rect r="r" b="b" t="t" l="l"/>
              <a:pathLst>
                <a:path h="915115" w="6242913">
                  <a:moveTo>
                    <a:pt x="0" y="0"/>
                  </a:moveTo>
                  <a:lnTo>
                    <a:pt x="6242913" y="0"/>
                  </a:lnTo>
                  <a:lnTo>
                    <a:pt x="6242913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927" r="0" b="-8292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6242914" cy="9246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CT &amp; MRI Imaging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139314" y="4903518"/>
            <a:ext cx="4599823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1"/>
              </a:lnSpc>
            </a:pPr>
            <a:r>
              <a:rPr lang="en-US" sz="1851">
                <a:solidFill>
                  <a:srgbClr val="5B6E76"/>
                </a:solidFill>
                <a:latin typeface="Calibri (MS)"/>
                <a:ea typeface="Calibri (MS)"/>
                <a:cs typeface="Calibri (MS)"/>
                <a:sym typeface="Calibri (MS)"/>
              </a:rPr>
              <a:t>CT uses X-rays and MRI uses magnetic fields to capture detailed cross-sectional images of internal anatomy.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457131" y="2529916"/>
            <a:ext cx="5387588" cy="3519383"/>
            <a:chOff x="0" y="0"/>
            <a:chExt cx="7183450" cy="469251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183501" cy="4692523"/>
            </a:xfrm>
            <a:custGeom>
              <a:avLst/>
              <a:gdLst/>
              <a:ahLst/>
              <a:cxnLst/>
              <a:rect r="r" b="b" t="t" l="l"/>
              <a:pathLst>
                <a:path h="4692523" w="7183501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7017893" y="0"/>
                  </a:lnTo>
                  <a:cubicBezTo>
                    <a:pt x="7109333" y="0"/>
                    <a:pt x="7183501" y="74168"/>
                    <a:pt x="7183501" y="165608"/>
                  </a:cubicBezTo>
                  <a:lnTo>
                    <a:pt x="7183501" y="4526915"/>
                  </a:lnTo>
                  <a:cubicBezTo>
                    <a:pt x="7183501" y="4618355"/>
                    <a:pt x="7109333" y="4692523"/>
                    <a:pt x="7017893" y="4692523"/>
                  </a:cubicBezTo>
                  <a:lnTo>
                    <a:pt x="165608" y="4692523"/>
                  </a:lnTo>
                  <a:cubicBezTo>
                    <a:pt x="74168" y="4692523"/>
                    <a:pt x="0" y="4618355"/>
                    <a:pt x="0" y="4526915"/>
                  </a:cubicBezTo>
                  <a:close/>
                </a:path>
              </a:pathLst>
            </a:custGeom>
            <a:solidFill>
              <a:srgbClr val="F7FAFB"/>
            </a:solidFill>
            <a:ln w="19065" cap="sq">
              <a:solidFill>
                <a:srgbClr val="DCE6E9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8601856" y="3019882"/>
            <a:ext cx="1098137" cy="1098137"/>
            <a:chOff x="0" y="0"/>
            <a:chExt cx="1464183" cy="146418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310" cy="1464310"/>
            </a:xfrm>
            <a:custGeom>
              <a:avLst/>
              <a:gdLst/>
              <a:ahLst/>
              <a:cxnLst/>
              <a:rect r="r" b="b" t="t" l="l"/>
              <a:pathLst>
                <a:path h="1464310" w="1464310">
                  <a:moveTo>
                    <a:pt x="0" y="732155"/>
                  </a:moveTo>
                  <a:cubicBezTo>
                    <a:pt x="0" y="327787"/>
                    <a:pt x="327787" y="0"/>
                    <a:pt x="732155" y="0"/>
                  </a:cubicBezTo>
                  <a:cubicBezTo>
                    <a:pt x="1136523" y="0"/>
                    <a:pt x="1464310" y="327787"/>
                    <a:pt x="1464310" y="732155"/>
                  </a:cubicBezTo>
                  <a:cubicBezTo>
                    <a:pt x="1464310" y="1136523"/>
                    <a:pt x="1136523" y="1464310"/>
                    <a:pt x="732155" y="1464310"/>
                  </a:cubicBezTo>
                  <a:cubicBezTo>
                    <a:pt x="327787" y="1464310"/>
                    <a:pt x="0" y="1136396"/>
                    <a:pt x="0" y="732155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8744607" y="3162633"/>
            <a:ext cx="812625" cy="812625"/>
            <a:chOff x="0" y="0"/>
            <a:chExt cx="1083500" cy="1083500"/>
          </a:xfrm>
        </p:grpSpPr>
        <p:sp>
          <p:nvSpPr>
            <p:cNvPr name="Freeform 29" id="29" descr="/home/claude/proj/icons/layers_white.png"/>
            <p:cNvSpPr/>
            <p:nvPr/>
          </p:nvSpPr>
          <p:spPr>
            <a:xfrm flipH="false" flipV="false" rot="0">
              <a:off x="0" y="0"/>
              <a:ext cx="1083437" cy="1083437"/>
            </a:xfrm>
            <a:custGeom>
              <a:avLst/>
              <a:gdLst/>
              <a:ahLst/>
              <a:cxnLst/>
              <a:rect r="r" b="b" t="t" l="l"/>
              <a:pathLst>
                <a:path h="1083437" w="1083437">
                  <a:moveTo>
                    <a:pt x="0" y="0"/>
                  </a:moveTo>
                  <a:lnTo>
                    <a:pt x="1083437" y="0"/>
                  </a:lnTo>
                  <a:lnTo>
                    <a:pt x="1083437" y="1083437"/>
                  </a:lnTo>
                  <a:lnTo>
                    <a:pt x="0" y="10834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5" b="-5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6809823" y="4323921"/>
            <a:ext cx="4682185" cy="686333"/>
            <a:chOff x="0" y="0"/>
            <a:chExt cx="6242914" cy="91511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242913" cy="915115"/>
            </a:xfrm>
            <a:custGeom>
              <a:avLst/>
              <a:gdLst/>
              <a:ahLst/>
              <a:cxnLst/>
              <a:rect r="r" b="b" t="t" l="l"/>
              <a:pathLst>
                <a:path h="915115" w="6242913">
                  <a:moveTo>
                    <a:pt x="0" y="0"/>
                  </a:moveTo>
                  <a:lnTo>
                    <a:pt x="6242913" y="0"/>
                  </a:lnTo>
                  <a:lnTo>
                    <a:pt x="6242913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927" r="0" b="-8292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6242914" cy="9246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Stacks of 2D Slices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6851009" y="4903518"/>
            <a:ext cx="4599823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1"/>
              </a:lnSpc>
            </a:pPr>
            <a:r>
              <a:rPr lang="en-US" sz="1851">
                <a:solidFill>
                  <a:srgbClr val="5B6E76"/>
                </a:solidFill>
                <a:latin typeface="Calibri (MS)"/>
                <a:ea typeface="Calibri (MS)"/>
                <a:cs typeface="Calibri (MS)"/>
                <a:sym typeface="Calibri (MS)"/>
              </a:rPr>
              <a:t>Scanners acquire a sequence of parallel 2D slices through the body, each a thin cross-section.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2168816" y="2529916"/>
            <a:ext cx="5387588" cy="3519383"/>
            <a:chOff x="0" y="0"/>
            <a:chExt cx="7183450" cy="469251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183501" cy="4692523"/>
            </a:xfrm>
            <a:custGeom>
              <a:avLst/>
              <a:gdLst/>
              <a:ahLst/>
              <a:cxnLst/>
              <a:rect r="r" b="b" t="t" l="l"/>
              <a:pathLst>
                <a:path h="4692523" w="7183501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7017893" y="0"/>
                  </a:lnTo>
                  <a:cubicBezTo>
                    <a:pt x="7109333" y="0"/>
                    <a:pt x="7183501" y="74168"/>
                    <a:pt x="7183501" y="165608"/>
                  </a:cubicBezTo>
                  <a:lnTo>
                    <a:pt x="7183501" y="4526915"/>
                  </a:lnTo>
                  <a:cubicBezTo>
                    <a:pt x="7183501" y="4618355"/>
                    <a:pt x="7109333" y="4692523"/>
                    <a:pt x="7017893" y="4692523"/>
                  </a:cubicBezTo>
                  <a:lnTo>
                    <a:pt x="165608" y="4692523"/>
                  </a:lnTo>
                  <a:cubicBezTo>
                    <a:pt x="74168" y="4692523"/>
                    <a:pt x="0" y="4618355"/>
                    <a:pt x="0" y="4526915"/>
                  </a:cubicBezTo>
                  <a:close/>
                </a:path>
              </a:pathLst>
            </a:custGeom>
            <a:solidFill>
              <a:srgbClr val="F7FAFB"/>
            </a:solidFill>
            <a:ln w="19065" cap="sq">
              <a:solidFill>
                <a:srgbClr val="DCE6E9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4313541" y="3019882"/>
            <a:ext cx="1098137" cy="1098137"/>
            <a:chOff x="0" y="0"/>
            <a:chExt cx="1464183" cy="146418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464310" cy="1464310"/>
            </a:xfrm>
            <a:custGeom>
              <a:avLst/>
              <a:gdLst/>
              <a:ahLst/>
              <a:cxnLst/>
              <a:rect r="r" b="b" t="t" l="l"/>
              <a:pathLst>
                <a:path h="1464310" w="1464310">
                  <a:moveTo>
                    <a:pt x="0" y="732155"/>
                  </a:moveTo>
                  <a:cubicBezTo>
                    <a:pt x="0" y="327787"/>
                    <a:pt x="327787" y="0"/>
                    <a:pt x="732155" y="0"/>
                  </a:cubicBezTo>
                  <a:cubicBezTo>
                    <a:pt x="1136523" y="0"/>
                    <a:pt x="1464310" y="327787"/>
                    <a:pt x="1464310" y="732155"/>
                  </a:cubicBezTo>
                  <a:cubicBezTo>
                    <a:pt x="1464310" y="1136523"/>
                    <a:pt x="1136523" y="1464310"/>
                    <a:pt x="732155" y="1464310"/>
                  </a:cubicBezTo>
                  <a:cubicBezTo>
                    <a:pt x="327787" y="1464310"/>
                    <a:pt x="0" y="1136396"/>
                    <a:pt x="0" y="732155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4456302" y="3162633"/>
            <a:ext cx="812625" cy="812625"/>
            <a:chOff x="0" y="0"/>
            <a:chExt cx="1083500" cy="1083500"/>
          </a:xfrm>
        </p:grpSpPr>
        <p:sp>
          <p:nvSpPr>
            <p:cNvPr name="Freeform 39" id="39" descr="/home/claude/proj/icons/cube3d_white.png"/>
            <p:cNvSpPr/>
            <p:nvPr/>
          </p:nvSpPr>
          <p:spPr>
            <a:xfrm flipH="false" flipV="false" rot="0">
              <a:off x="0" y="0"/>
              <a:ext cx="1083437" cy="1083437"/>
            </a:xfrm>
            <a:custGeom>
              <a:avLst/>
              <a:gdLst/>
              <a:ahLst/>
              <a:cxnLst/>
              <a:rect r="r" b="b" t="t" l="l"/>
              <a:pathLst>
                <a:path h="1083437" w="1083437">
                  <a:moveTo>
                    <a:pt x="0" y="0"/>
                  </a:moveTo>
                  <a:lnTo>
                    <a:pt x="1083437" y="0"/>
                  </a:lnTo>
                  <a:lnTo>
                    <a:pt x="1083437" y="1083437"/>
                  </a:lnTo>
                  <a:lnTo>
                    <a:pt x="0" y="10834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5" b="-5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2521517" y="4323921"/>
            <a:ext cx="4682185" cy="686333"/>
            <a:chOff x="0" y="0"/>
            <a:chExt cx="6242914" cy="91511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242913" cy="915115"/>
            </a:xfrm>
            <a:custGeom>
              <a:avLst/>
              <a:gdLst/>
              <a:ahLst/>
              <a:cxnLst/>
              <a:rect r="r" b="b" t="t" l="l"/>
              <a:pathLst>
                <a:path h="915115" w="6242913">
                  <a:moveTo>
                    <a:pt x="0" y="0"/>
                  </a:moveTo>
                  <a:lnTo>
                    <a:pt x="6242913" y="0"/>
                  </a:lnTo>
                  <a:lnTo>
                    <a:pt x="6242913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927" r="0" b="-82926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6242914" cy="9246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Forming the 3D Volume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2562694" y="4903518"/>
            <a:ext cx="4599823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1"/>
              </a:lnSpc>
            </a:pPr>
            <a:r>
              <a:rPr lang="en-US" sz="1851">
                <a:solidFill>
                  <a:srgbClr val="5B6E76"/>
                </a:solidFill>
                <a:latin typeface="Calibri (MS)"/>
                <a:ea typeface="Calibri (MS)"/>
                <a:cs typeface="Calibri (MS)"/>
                <a:sym typeface="Calibri (MS)"/>
              </a:rPr>
              <a:t>Stacking these slices along the depth axis reconstructs a continuous 3D anatomical volume.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754971" y="6401724"/>
            <a:ext cx="16810968" cy="2146706"/>
            <a:chOff x="0" y="0"/>
            <a:chExt cx="22414624" cy="286227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2414737" cy="2862326"/>
            </a:xfrm>
            <a:custGeom>
              <a:avLst/>
              <a:gdLst/>
              <a:ahLst/>
              <a:cxnLst/>
              <a:rect r="r" b="b" t="t" l="l"/>
              <a:pathLst>
                <a:path h="2862326" w="22414737">
                  <a:moveTo>
                    <a:pt x="0" y="166243"/>
                  </a:moveTo>
                  <a:cubicBezTo>
                    <a:pt x="0" y="74422"/>
                    <a:pt x="74422" y="0"/>
                    <a:pt x="166243" y="0"/>
                  </a:cubicBezTo>
                  <a:lnTo>
                    <a:pt x="22248495" y="0"/>
                  </a:lnTo>
                  <a:cubicBezTo>
                    <a:pt x="22340315" y="0"/>
                    <a:pt x="22414737" y="74422"/>
                    <a:pt x="22414737" y="166243"/>
                  </a:cubicBezTo>
                  <a:lnTo>
                    <a:pt x="22414737" y="2696083"/>
                  </a:lnTo>
                  <a:cubicBezTo>
                    <a:pt x="22414737" y="2787904"/>
                    <a:pt x="22340315" y="2862326"/>
                    <a:pt x="22248495" y="2862326"/>
                  </a:cubicBezTo>
                  <a:lnTo>
                    <a:pt x="166243" y="2862326"/>
                  </a:lnTo>
                  <a:cubicBezTo>
                    <a:pt x="74422" y="2862326"/>
                    <a:pt x="0" y="2787904"/>
                    <a:pt x="0" y="2696083"/>
                  </a:cubicBezTo>
                  <a:close/>
                </a:path>
              </a:pathLst>
            </a:custGeom>
            <a:solidFill>
              <a:srgbClr val="FDF3EC"/>
            </a:solidFill>
            <a:ln w="19065" cap="sq">
              <a:solidFill>
                <a:srgbClr val="F0DCC9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235402" y="6904539"/>
            <a:ext cx="1029500" cy="1029500"/>
            <a:chOff x="0" y="0"/>
            <a:chExt cx="1372667" cy="1372667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372616" cy="1372616"/>
            </a:xfrm>
            <a:custGeom>
              <a:avLst/>
              <a:gdLst/>
              <a:ahLst/>
              <a:cxnLst/>
              <a:rect r="r" b="b" t="t" l="l"/>
              <a:pathLst>
                <a:path h="1372616" w="1372616">
                  <a:moveTo>
                    <a:pt x="0" y="686308"/>
                  </a:moveTo>
                  <a:cubicBezTo>
                    <a:pt x="0" y="307340"/>
                    <a:pt x="307340" y="0"/>
                    <a:pt x="686308" y="0"/>
                  </a:cubicBezTo>
                  <a:cubicBezTo>
                    <a:pt x="1065276" y="0"/>
                    <a:pt x="1372616" y="307340"/>
                    <a:pt x="1372616" y="686308"/>
                  </a:cubicBezTo>
                  <a:cubicBezTo>
                    <a:pt x="1372616" y="1065276"/>
                    <a:pt x="1065276" y="1372616"/>
                    <a:pt x="686308" y="1372616"/>
                  </a:cubicBezTo>
                  <a:cubicBezTo>
                    <a:pt x="307340" y="1372616"/>
                    <a:pt x="0" y="1065403"/>
                    <a:pt x="0" y="686308"/>
                  </a:cubicBezTo>
                  <a:close/>
                </a:path>
              </a:pathLst>
            </a:custGeom>
            <a:solidFill>
              <a:srgbClr val="C97A2B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369238" y="6983473"/>
            <a:ext cx="761829" cy="761829"/>
            <a:chOff x="0" y="0"/>
            <a:chExt cx="1015771" cy="1015771"/>
          </a:xfrm>
        </p:grpSpPr>
        <p:sp>
          <p:nvSpPr>
            <p:cNvPr name="Freeform 49" id="49" descr="/home/claude/proj/icons/warning_white.png"/>
            <p:cNvSpPr/>
            <p:nvPr/>
          </p:nvSpPr>
          <p:spPr>
            <a:xfrm flipH="false" flipV="false" rot="0">
              <a:off x="0" y="0"/>
              <a:ext cx="1015746" cy="1015746"/>
            </a:xfrm>
            <a:custGeom>
              <a:avLst/>
              <a:gdLst/>
              <a:ahLst/>
              <a:cxnLst/>
              <a:rect r="r" b="b" t="t" l="l"/>
              <a:pathLst>
                <a:path h="1015746" w="1015746">
                  <a:moveTo>
                    <a:pt x="0" y="0"/>
                  </a:moveTo>
                  <a:lnTo>
                    <a:pt x="1015746" y="0"/>
                  </a:lnTo>
                  <a:lnTo>
                    <a:pt x="1015746" y="1015746"/>
                  </a:lnTo>
                  <a:lnTo>
                    <a:pt x="0" y="1015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2" b="-2"/>
              </a:stretch>
            </a:blip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2593928" y="6811299"/>
            <a:ext cx="14458359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2"/>
              </a:lnSpc>
            </a:pPr>
            <a:r>
              <a:rPr lang="en-US" sz="2351" b="true">
                <a:solidFill>
                  <a:srgbClr val="8A4B1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Challenge of Sparse Scans</a:t>
            </a:r>
          </a:p>
          <a:p>
            <a:pPr algn="l">
              <a:lnSpc>
                <a:spcPts val="2281"/>
              </a:lnSpc>
            </a:pPr>
          </a:p>
          <a:p>
            <a:pPr algn="l">
              <a:lnSpc>
                <a:spcPts val="2281"/>
              </a:lnSpc>
            </a:pPr>
            <a:r>
              <a:rPr lang="en-US" sz="1901">
                <a:solidFill>
                  <a:srgbClr val="6B4A28"/>
                </a:solidFill>
                <a:latin typeface="Calibri (MS)"/>
                <a:ea typeface="Calibri (MS)"/>
                <a:cs typeface="Calibri (MS)"/>
                <a:sym typeface="Calibri (MS)"/>
              </a:rPr>
              <a:t>To reduce scan time, radiation dose, and cost, clinical protocols often acquire only a sparse subset of slices — leaving gaps that must be reconstructed accurately.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971" y="576520"/>
            <a:ext cx="12354049" cy="439255"/>
            <a:chOff x="0" y="0"/>
            <a:chExt cx="16472065" cy="5856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72069" cy="585674"/>
            </a:xfrm>
            <a:custGeom>
              <a:avLst/>
              <a:gdLst/>
              <a:ahLst/>
              <a:cxnLst/>
              <a:rect r="r" b="b" t="t" l="l"/>
              <a:pathLst>
                <a:path h="585674" w="16472069">
                  <a:moveTo>
                    <a:pt x="0" y="0"/>
                  </a:moveTo>
                  <a:lnTo>
                    <a:pt x="16472069" y="0"/>
                  </a:lnTo>
                  <a:lnTo>
                    <a:pt x="16472069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8016" r="0" b="-49801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472065" cy="6237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b="true" sz="1801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 STATEMENT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971" y="988324"/>
            <a:ext cx="16791899" cy="988324"/>
            <a:chOff x="0" y="0"/>
            <a:chExt cx="22389198" cy="13177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389201" cy="1317765"/>
            </a:xfrm>
            <a:custGeom>
              <a:avLst/>
              <a:gdLst/>
              <a:ahLst/>
              <a:cxnLst/>
              <a:rect r="r" b="b" t="t" l="l"/>
              <a:pathLst>
                <a:path h="1317765" w="22389201">
                  <a:moveTo>
                    <a:pt x="0" y="0"/>
                  </a:moveTo>
                  <a:lnTo>
                    <a:pt x="22389201" y="0"/>
                  </a:lnTo>
                  <a:lnTo>
                    <a:pt x="22389201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1056" r="0" b="-28105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389198" cy="1327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4"/>
                </a:lnSpc>
              </a:pPr>
              <a:r>
                <a:rPr lang="en-US" sz="4503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Why Existing Methods Fall Short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4971" y="9718519"/>
            <a:ext cx="10981382" cy="411804"/>
            <a:chOff x="0" y="0"/>
            <a:chExt cx="14641843" cy="5490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41840" cy="549069"/>
            </a:xfrm>
            <a:custGeom>
              <a:avLst/>
              <a:gdLst/>
              <a:ahLst/>
              <a:cxnLst/>
              <a:rect r="r" b="b" t="t" l="l"/>
              <a:pathLst>
                <a:path h="549069" w="14641840">
                  <a:moveTo>
                    <a:pt x="0" y="0"/>
                  </a:moveTo>
                  <a:lnTo>
                    <a:pt x="14641840" y="0"/>
                  </a:lnTo>
                  <a:lnTo>
                    <a:pt x="1464184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0" r="0" b="-46960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4641843" cy="5776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>
                  <a:solidFill>
                    <a:srgbClr val="5B6E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3D Reconstruction of Biomedical Tissues — B.Tech Project Proposal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899663" y="9718519"/>
            <a:ext cx="1647206" cy="411804"/>
            <a:chOff x="0" y="0"/>
            <a:chExt cx="2196274" cy="5490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6276" cy="549069"/>
            </a:xfrm>
            <a:custGeom>
              <a:avLst/>
              <a:gdLst/>
              <a:ahLst/>
              <a:cxnLst/>
              <a:rect r="r" b="b" t="t" l="l"/>
              <a:pathLst>
                <a:path h="549069" w="2196276">
                  <a:moveTo>
                    <a:pt x="0" y="0"/>
                  </a:moveTo>
                  <a:lnTo>
                    <a:pt x="2196276" y="0"/>
                  </a:lnTo>
                  <a:lnTo>
                    <a:pt x="219627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39" r="0" b="-2794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2196274" cy="5776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1"/>
                </a:lnSpc>
              </a:pPr>
              <a:r>
                <a:rPr lang="en-US" sz="1351">
                  <a:solidFill>
                    <a:srgbClr val="5B6E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03 / 12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45436" y="2667181"/>
            <a:ext cx="16810968" cy="2078069"/>
            <a:chOff x="0" y="0"/>
            <a:chExt cx="22414624" cy="277075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414610" cy="2770759"/>
            </a:xfrm>
            <a:custGeom>
              <a:avLst/>
              <a:gdLst/>
              <a:ahLst/>
              <a:cxnLst/>
              <a:rect r="r" b="b" t="t" l="l"/>
              <a:pathLst>
                <a:path h="2770759" w="22414610">
                  <a:moveTo>
                    <a:pt x="0" y="166243"/>
                  </a:moveTo>
                  <a:cubicBezTo>
                    <a:pt x="0" y="74422"/>
                    <a:pt x="74422" y="0"/>
                    <a:pt x="166243" y="0"/>
                  </a:cubicBezTo>
                  <a:lnTo>
                    <a:pt x="22248368" y="0"/>
                  </a:lnTo>
                  <a:cubicBezTo>
                    <a:pt x="22340188" y="0"/>
                    <a:pt x="22414610" y="74422"/>
                    <a:pt x="22414610" y="166243"/>
                  </a:cubicBezTo>
                  <a:lnTo>
                    <a:pt x="22414610" y="2604516"/>
                  </a:lnTo>
                  <a:cubicBezTo>
                    <a:pt x="22414610" y="2696337"/>
                    <a:pt x="22340188" y="2770759"/>
                    <a:pt x="22248368" y="2770759"/>
                  </a:cubicBezTo>
                  <a:lnTo>
                    <a:pt x="166243" y="2770759"/>
                  </a:lnTo>
                  <a:cubicBezTo>
                    <a:pt x="74422" y="2770759"/>
                    <a:pt x="0" y="2696337"/>
                    <a:pt x="0" y="2604516"/>
                  </a:cubicBezTo>
                  <a:close/>
                </a:path>
              </a:pathLst>
            </a:custGeom>
            <a:solidFill>
              <a:srgbClr val="F7FAFB"/>
            </a:solidFill>
            <a:ln w="19065" cap="sq">
              <a:solidFill>
                <a:srgbClr val="DCE6E9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194225" y="3157147"/>
            <a:ext cx="1098137" cy="1098137"/>
            <a:chOff x="0" y="0"/>
            <a:chExt cx="1464183" cy="146418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64310" cy="1464310"/>
            </a:xfrm>
            <a:custGeom>
              <a:avLst/>
              <a:gdLst/>
              <a:ahLst/>
              <a:cxnLst/>
              <a:rect r="r" b="b" t="t" l="l"/>
              <a:pathLst>
                <a:path h="1464310" w="1464310">
                  <a:moveTo>
                    <a:pt x="0" y="732155"/>
                  </a:moveTo>
                  <a:cubicBezTo>
                    <a:pt x="0" y="327787"/>
                    <a:pt x="327787" y="0"/>
                    <a:pt x="732155" y="0"/>
                  </a:cubicBezTo>
                  <a:cubicBezTo>
                    <a:pt x="1136523" y="0"/>
                    <a:pt x="1464310" y="327787"/>
                    <a:pt x="1464310" y="732155"/>
                  </a:cubicBezTo>
                  <a:cubicBezTo>
                    <a:pt x="1464310" y="1136523"/>
                    <a:pt x="1136523" y="1464310"/>
                    <a:pt x="732155" y="1464310"/>
                  </a:cubicBezTo>
                  <a:cubicBezTo>
                    <a:pt x="327787" y="1464310"/>
                    <a:pt x="0" y="1136396"/>
                    <a:pt x="0" y="732155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336986" y="3277938"/>
            <a:ext cx="812625" cy="812625"/>
            <a:chOff x="0" y="0"/>
            <a:chExt cx="1083500" cy="1083500"/>
          </a:xfrm>
        </p:grpSpPr>
        <p:sp>
          <p:nvSpPr>
            <p:cNvPr name="Freeform 19" id="19" descr="/home/claude/proj/icons/puzzle_white.png"/>
            <p:cNvSpPr/>
            <p:nvPr/>
          </p:nvSpPr>
          <p:spPr>
            <a:xfrm flipH="false" flipV="false" rot="0">
              <a:off x="0" y="0"/>
              <a:ext cx="1083437" cy="1083437"/>
            </a:xfrm>
            <a:custGeom>
              <a:avLst/>
              <a:gdLst/>
              <a:ahLst/>
              <a:cxnLst/>
              <a:rect r="r" b="b" t="t" l="l"/>
              <a:pathLst>
                <a:path h="1083437" w="1083437">
                  <a:moveTo>
                    <a:pt x="0" y="0"/>
                  </a:moveTo>
                  <a:lnTo>
                    <a:pt x="1083437" y="0"/>
                  </a:lnTo>
                  <a:lnTo>
                    <a:pt x="1083437" y="1083437"/>
                  </a:lnTo>
                  <a:lnTo>
                    <a:pt x="0" y="10834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5" b="-5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676716" y="2951245"/>
            <a:ext cx="14458359" cy="617706"/>
            <a:chOff x="0" y="0"/>
            <a:chExt cx="19277813" cy="82360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277811" cy="823603"/>
            </a:xfrm>
            <a:custGeom>
              <a:avLst/>
              <a:gdLst/>
              <a:ahLst/>
              <a:cxnLst/>
              <a:rect r="r" b="b" t="t" l="l"/>
              <a:pathLst>
                <a:path h="823603" w="19277811">
                  <a:moveTo>
                    <a:pt x="0" y="0"/>
                  </a:moveTo>
                  <a:lnTo>
                    <a:pt x="19277811" y="0"/>
                  </a:lnTo>
                  <a:lnTo>
                    <a:pt x="19277811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6079" r="0" b="-40608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19277813" cy="833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2"/>
                </a:lnSpc>
              </a:pPr>
              <a:r>
                <a:rPr lang="en-US" sz="2401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Missing slices reduce reconstruction quality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2676716" y="3572027"/>
            <a:ext cx="14321095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1"/>
              </a:lnSpc>
            </a:pPr>
            <a:r>
              <a:rPr lang="en-US" sz="2001">
                <a:solidFill>
                  <a:srgbClr val="5B6E76"/>
                </a:solidFill>
                <a:latin typeface="Calibri (MS)"/>
                <a:ea typeface="Calibri (MS)"/>
                <a:cs typeface="Calibri (MS)"/>
                <a:sym typeface="Calibri (MS)"/>
              </a:rPr>
              <a:t>Gaps between acquired slices leave the 3D volume incomplete, lowering resolution and diagnostic reliability.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745436" y="5028171"/>
            <a:ext cx="16810968" cy="2078069"/>
            <a:chOff x="0" y="0"/>
            <a:chExt cx="22414624" cy="277075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414610" cy="2770759"/>
            </a:xfrm>
            <a:custGeom>
              <a:avLst/>
              <a:gdLst/>
              <a:ahLst/>
              <a:cxnLst/>
              <a:rect r="r" b="b" t="t" l="l"/>
              <a:pathLst>
                <a:path h="2770759" w="22414610">
                  <a:moveTo>
                    <a:pt x="0" y="166243"/>
                  </a:moveTo>
                  <a:cubicBezTo>
                    <a:pt x="0" y="74422"/>
                    <a:pt x="74422" y="0"/>
                    <a:pt x="166243" y="0"/>
                  </a:cubicBezTo>
                  <a:lnTo>
                    <a:pt x="22248368" y="0"/>
                  </a:lnTo>
                  <a:cubicBezTo>
                    <a:pt x="22340188" y="0"/>
                    <a:pt x="22414610" y="74422"/>
                    <a:pt x="22414610" y="166243"/>
                  </a:cubicBezTo>
                  <a:lnTo>
                    <a:pt x="22414610" y="2604516"/>
                  </a:lnTo>
                  <a:cubicBezTo>
                    <a:pt x="22414610" y="2696337"/>
                    <a:pt x="22340188" y="2770759"/>
                    <a:pt x="22248368" y="2770759"/>
                  </a:cubicBezTo>
                  <a:lnTo>
                    <a:pt x="166243" y="2770759"/>
                  </a:lnTo>
                  <a:cubicBezTo>
                    <a:pt x="74422" y="2770759"/>
                    <a:pt x="0" y="2696337"/>
                    <a:pt x="0" y="2604516"/>
                  </a:cubicBezTo>
                  <a:close/>
                </a:path>
              </a:pathLst>
            </a:custGeom>
            <a:solidFill>
              <a:srgbClr val="F7FAFB"/>
            </a:solidFill>
            <a:ln w="19065" cap="sq">
              <a:solidFill>
                <a:srgbClr val="DCE6E9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194225" y="5518147"/>
            <a:ext cx="1098137" cy="1098137"/>
            <a:chOff x="0" y="0"/>
            <a:chExt cx="1464183" cy="146418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310" cy="1464310"/>
            </a:xfrm>
            <a:custGeom>
              <a:avLst/>
              <a:gdLst/>
              <a:ahLst/>
              <a:cxnLst/>
              <a:rect r="r" b="b" t="t" l="l"/>
              <a:pathLst>
                <a:path h="1464310" w="1464310">
                  <a:moveTo>
                    <a:pt x="0" y="732155"/>
                  </a:moveTo>
                  <a:cubicBezTo>
                    <a:pt x="0" y="327787"/>
                    <a:pt x="327787" y="0"/>
                    <a:pt x="732155" y="0"/>
                  </a:cubicBezTo>
                  <a:cubicBezTo>
                    <a:pt x="1136523" y="0"/>
                    <a:pt x="1464310" y="327787"/>
                    <a:pt x="1464310" y="732155"/>
                  </a:cubicBezTo>
                  <a:cubicBezTo>
                    <a:pt x="1464310" y="1136523"/>
                    <a:pt x="1136523" y="1464310"/>
                    <a:pt x="732155" y="1464310"/>
                  </a:cubicBezTo>
                  <a:cubicBezTo>
                    <a:pt x="327787" y="1464310"/>
                    <a:pt x="0" y="1136396"/>
                    <a:pt x="0" y="732155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336986" y="5660898"/>
            <a:ext cx="812625" cy="812625"/>
            <a:chOff x="0" y="0"/>
            <a:chExt cx="1083500" cy="1083500"/>
          </a:xfrm>
        </p:grpSpPr>
        <p:sp>
          <p:nvSpPr>
            <p:cNvPr name="Freeform 29" id="29" descr="/home/claude/proj/icons/warning_white.png"/>
            <p:cNvSpPr/>
            <p:nvPr/>
          </p:nvSpPr>
          <p:spPr>
            <a:xfrm flipH="false" flipV="false" rot="0">
              <a:off x="0" y="0"/>
              <a:ext cx="1083437" cy="1083437"/>
            </a:xfrm>
            <a:custGeom>
              <a:avLst/>
              <a:gdLst/>
              <a:ahLst/>
              <a:cxnLst/>
              <a:rect r="r" b="b" t="t" l="l"/>
              <a:pathLst>
                <a:path h="1083437" w="1083437">
                  <a:moveTo>
                    <a:pt x="0" y="0"/>
                  </a:moveTo>
                  <a:lnTo>
                    <a:pt x="1083437" y="0"/>
                  </a:lnTo>
                  <a:lnTo>
                    <a:pt x="1083437" y="1083437"/>
                  </a:lnTo>
                  <a:lnTo>
                    <a:pt x="0" y="10834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5" b="-5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2676716" y="5312245"/>
            <a:ext cx="14458359" cy="617706"/>
            <a:chOff x="0" y="0"/>
            <a:chExt cx="19277813" cy="82360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9277811" cy="823603"/>
            </a:xfrm>
            <a:custGeom>
              <a:avLst/>
              <a:gdLst/>
              <a:ahLst/>
              <a:cxnLst/>
              <a:rect r="r" b="b" t="t" l="l"/>
              <a:pathLst>
                <a:path h="823603" w="19277811">
                  <a:moveTo>
                    <a:pt x="0" y="0"/>
                  </a:moveTo>
                  <a:lnTo>
                    <a:pt x="19277811" y="0"/>
                  </a:lnTo>
                  <a:lnTo>
                    <a:pt x="19277811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6079" r="0" b="-40608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19277813" cy="833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2"/>
                </a:lnSpc>
              </a:pPr>
              <a:r>
                <a:rPr lang="en-US" sz="2401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Existing interpolation techniques are inaccurate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2676716" y="5933027"/>
            <a:ext cx="14321095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1"/>
              </a:lnSpc>
            </a:pPr>
            <a:r>
              <a:rPr lang="en-US" sz="2001">
                <a:solidFill>
                  <a:srgbClr val="5B6E76"/>
                </a:solidFill>
                <a:latin typeface="Calibri (MS)"/>
                <a:ea typeface="Calibri (MS)"/>
                <a:cs typeface="Calibri (MS)"/>
                <a:sym typeface="Calibri (MS)"/>
              </a:rPr>
              <a:t>Linear and cubic interpolation blur fine anatomical boundaries and cannot recover realistic tissue detail.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745436" y="7389171"/>
            <a:ext cx="16810968" cy="2078069"/>
            <a:chOff x="0" y="0"/>
            <a:chExt cx="22414624" cy="277075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2414610" cy="2770759"/>
            </a:xfrm>
            <a:custGeom>
              <a:avLst/>
              <a:gdLst/>
              <a:ahLst/>
              <a:cxnLst/>
              <a:rect r="r" b="b" t="t" l="l"/>
              <a:pathLst>
                <a:path h="2770759" w="22414610">
                  <a:moveTo>
                    <a:pt x="0" y="166243"/>
                  </a:moveTo>
                  <a:cubicBezTo>
                    <a:pt x="0" y="74422"/>
                    <a:pt x="74422" y="0"/>
                    <a:pt x="166243" y="0"/>
                  </a:cubicBezTo>
                  <a:lnTo>
                    <a:pt x="22248368" y="0"/>
                  </a:lnTo>
                  <a:cubicBezTo>
                    <a:pt x="22340188" y="0"/>
                    <a:pt x="22414610" y="74422"/>
                    <a:pt x="22414610" y="166243"/>
                  </a:cubicBezTo>
                  <a:lnTo>
                    <a:pt x="22414610" y="2604516"/>
                  </a:lnTo>
                  <a:cubicBezTo>
                    <a:pt x="22414610" y="2696337"/>
                    <a:pt x="22340188" y="2770759"/>
                    <a:pt x="22248368" y="2770759"/>
                  </a:cubicBezTo>
                  <a:lnTo>
                    <a:pt x="166243" y="2770759"/>
                  </a:lnTo>
                  <a:cubicBezTo>
                    <a:pt x="74422" y="2770759"/>
                    <a:pt x="0" y="2696337"/>
                    <a:pt x="0" y="2604516"/>
                  </a:cubicBezTo>
                  <a:close/>
                </a:path>
              </a:pathLst>
            </a:custGeom>
            <a:solidFill>
              <a:srgbClr val="F7FAFB"/>
            </a:solidFill>
            <a:ln w="19065" cap="sq">
              <a:solidFill>
                <a:srgbClr val="DCE6E9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194225" y="7879137"/>
            <a:ext cx="1098137" cy="1098137"/>
            <a:chOff x="0" y="0"/>
            <a:chExt cx="1464183" cy="146418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464310" cy="1464310"/>
            </a:xfrm>
            <a:custGeom>
              <a:avLst/>
              <a:gdLst/>
              <a:ahLst/>
              <a:cxnLst/>
              <a:rect r="r" b="b" t="t" l="l"/>
              <a:pathLst>
                <a:path h="1464310" w="1464310">
                  <a:moveTo>
                    <a:pt x="0" y="732155"/>
                  </a:moveTo>
                  <a:cubicBezTo>
                    <a:pt x="0" y="327787"/>
                    <a:pt x="327787" y="0"/>
                    <a:pt x="732155" y="0"/>
                  </a:cubicBezTo>
                  <a:cubicBezTo>
                    <a:pt x="1136523" y="0"/>
                    <a:pt x="1464310" y="327787"/>
                    <a:pt x="1464310" y="732155"/>
                  </a:cubicBezTo>
                  <a:cubicBezTo>
                    <a:pt x="1464310" y="1136523"/>
                    <a:pt x="1136523" y="1464310"/>
                    <a:pt x="732155" y="1464310"/>
                  </a:cubicBezTo>
                  <a:cubicBezTo>
                    <a:pt x="327787" y="1464310"/>
                    <a:pt x="0" y="1136396"/>
                    <a:pt x="0" y="732155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336986" y="8021898"/>
            <a:ext cx="812625" cy="812625"/>
            <a:chOff x="0" y="0"/>
            <a:chExt cx="1083500" cy="1083500"/>
          </a:xfrm>
        </p:grpSpPr>
        <p:sp>
          <p:nvSpPr>
            <p:cNvPr name="Freeform 39" id="39" descr="/home/claude/proj/icons/robot_white.png"/>
            <p:cNvSpPr/>
            <p:nvPr/>
          </p:nvSpPr>
          <p:spPr>
            <a:xfrm flipH="false" flipV="false" rot="0">
              <a:off x="0" y="0"/>
              <a:ext cx="1083437" cy="1083437"/>
            </a:xfrm>
            <a:custGeom>
              <a:avLst/>
              <a:gdLst/>
              <a:ahLst/>
              <a:cxnLst/>
              <a:rect r="r" b="b" t="t" l="l"/>
              <a:pathLst>
                <a:path h="1083437" w="1083437">
                  <a:moveTo>
                    <a:pt x="0" y="0"/>
                  </a:moveTo>
                  <a:lnTo>
                    <a:pt x="1083437" y="0"/>
                  </a:lnTo>
                  <a:lnTo>
                    <a:pt x="1083437" y="1083437"/>
                  </a:lnTo>
                  <a:lnTo>
                    <a:pt x="0" y="10834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5" b="-5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2676716" y="7673235"/>
            <a:ext cx="14458359" cy="617706"/>
            <a:chOff x="0" y="0"/>
            <a:chExt cx="19277813" cy="82360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9277811" cy="823603"/>
            </a:xfrm>
            <a:custGeom>
              <a:avLst/>
              <a:gdLst/>
              <a:ahLst/>
              <a:cxnLst/>
              <a:rect r="r" b="b" t="t" l="l"/>
              <a:pathLst>
                <a:path h="823603" w="19277811">
                  <a:moveTo>
                    <a:pt x="0" y="0"/>
                  </a:moveTo>
                  <a:lnTo>
                    <a:pt x="19277811" y="0"/>
                  </a:lnTo>
                  <a:lnTo>
                    <a:pt x="19277811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6079" r="0" b="-40608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19277813" cy="833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2"/>
                </a:lnSpc>
              </a:pPr>
              <a:r>
                <a:rPr lang="en-US" sz="2401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An AI-based reconstruction approach is needed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2676716" y="8294018"/>
            <a:ext cx="14321095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1"/>
              </a:lnSpc>
            </a:pPr>
            <a:r>
              <a:rPr lang="en-US" sz="2001">
                <a:solidFill>
                  <a:srgbClr val="5B6E76"/>
                </a:solidFill>
                <a:latin typeface="Calibri (MS)"/>
                <a:ea typeface="Calibri (MS)"/>
                <a:cs typeface="Calibri (MS)"/>
                <a:sym typeface="Calibri (MS)"/>
              </a:rPr>
              <a:t>A learning-based generative model can infer anatomically consistent structure that classical methods miss.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971" y="576520"/>
            <a:ext cx="12354049" cy="439255"/>
            <a:chOff x="0" y="0"/>
            <a:chExt cx="16472065" cy="5856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72069" cy="585674"/>
            </a:xfrm>
            <a:custGeom>
              <a:avLst/>
              <a:gdLst/>
              <a:ahLst/>
              <a:cxnLst/>
              <a:rect r="r" b="b" t="t" l="l"/>
              <a:pathLst>
                <a:path h="585674" w="16472069">
                  <a:moveTo>
                    <a:pt x="0" y="0"/>
                  </a:moveTo>
                  <a:lnTo>
                    <a:pt x="16472069" y="0"/>
                  </a:lnTo>
                  <a:lnTo>
                    <a:pt x="16472069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8016" r="0" b="-49801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472065" cy="6237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b="true" sz="1801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OBJECTIVES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971" y="988324"/>
            <a:ext cx="16791899" cy="988324"/>
            <a:chOff x="0" y="0"/>
            <a:chExt cx="22389198" cy="13177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389201" cy="1317765"/>
            </a:xfrm>
            <a:custGeom>
              <a:avLst/>
              <a:gdLst/>
              <a:ahLst/>
              <a:cxnLst/>
              <a:rect r="r" b="b" t="t" l="l"/>
              <a:pathLst>
                <a:path h="1317765" w="22389201">
                  <a:moveTo>
                    <a:pt x="0" y="0"/>
                  </a:moveTo>
                  <a:lnTo>
                    <a:pt x="22389201" y="0"/>
                  </a:lnTo>
                  <a:lnTo>
                    <a:pt x="22389201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1056" r="0" b="-28105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389198" cy="1327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4"/>
                </a:lnSpc>
              </a:pPr>
              <a:r>
                <a:rPr lang="en-US" sz="4503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What This Project Aims to Achieve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4971" y="9718519"/>
            <a:ext cx="10981382" cy="411804"/>
            <a:chOff x="0" y="0"/>
            <a:chExt cx="14641843" cy="5490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41840" cy="549069"/>
            </a:xfrm>
            <a:custGeom>
              <a:avLst/>
              <a:gdLst/>
              <a:ahLst/>
              <a:cxnLst/>
              <a:rect r="r" b="b" t="t" l="l"/>
              <a:pathLst>
                <a:path h="549069" w="14641840">
                  <a:moveTo>
                    <a:pt x="0" y="0"/>
                  </a:moveTo>
                  <a:lnTo>
                    <a:pt x="14641840" y="0"/>
                  </a:lnTo>
                  <a:lnTo>
                    <a:pt x="1464184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0" r="0" b="-46960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4641843" cy="5776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>
                  <a:solidFill>
                    <a:srgbClr val="5B6E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3D Reconstruction of Biomedical Tissues — B.Tech Project Proposal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899663" y="9718519"/>
            <a:ext cx="1647206" cy="411804"/>
            <a:chOff x="0" y="0"/>
            <a:chExt cx="2196274" cy="5490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6276" cy="549069"/>
            </a:xfrm>
            <a:custGeom>
              <a:avLst/>
              <a:gdLst/>
              <a:ahLst/>
              <a:cxnLst/>
              <a:rect r="r" b="b" t="t" l="l"/>
              <a:pathLst>
                <a:path h="549069" w="2196276">
                  <a:moveTo>
                    <a:pt x="0" y="0"/>
                  </a:moveTo>
                  <a:lnTo>
                    <a:pt x="2196276" y="0"/>
                  </a:lnTo>
                  <a:lnTo>
                    <a:pt x="219627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39" r="0" b="-2794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2196274" cy="5776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1"/>
                </a:lnSpc>
              </a:pPr>
              <a:r>
                <a:rPr lang="en-US" sz="1351">
                  <a:solidFill>
                    <a:srgbClr val="5B6E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04 / 12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45436" y="2735809"/>
            <a:ext cx="4011139" cy="4617520"/>
            <a:chOff x="0" y="0"/>
            <a:chExt cx="5348186" cy="615669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348097" cy="6156706"/>
            </a:xfrm>
            <a:custGeom>
              <a:avLst/>
              <a:gdLst/>
              <a:ahLst/>
              <a:cxnLst/>
              <a:rect r="r" b="b" t="t" l="l"/>
              <a:pathLst>
                <a:path h="6156706" w="5348097">
                  <a:moveTo>
                    <a:pt x="0" y="165481"/>
                  </a:moveTo>
                  <a:cubicBezTo>
                    <a:pt x="0" y="74168"/>
                    <a:pt x="74168" y="0"/>
                    <a:pt x="165481" y="0"/>
                  </a:cubicBezTo>
                  <a:lnTo>
                    <a:pt x="5182616" y="0"/>
                  </a:lnTo>
                  <a:cubicBezTo>
                    <a:pt x="5274056" y="0"/>
                    <a:pt x="5348097" y="74168"/>
                    <a:pt x="5348097" y="165481"/>
                  </a:cubicBezTo>
                  <a:lnTo>
                    <a:pt x="5348097" y="5991225"/>
                  </a:lnTo>
                  <a:cubicBezTo>
                    <a:pt x="5348097" y="6082665"/>
                    <a:pt x="5273929" y="6156706"/>
                    <a:pt x="5182616" y="6156706"/>
                  </a:cubicBezTo>
                  <a:lnTo>
                    <a:pt x="165481" y="6156706"/>
                  </a:lnTo>
                  <a:cubicBezTo>
                    <a:pt x="74168" y="6156706"/>
                    <a:pt x="0" y="6082538"/>
                    <a:pt x="0" y="5991225"/>
                  </a:cubicBezTo>
                  <a:close/>
                </a:path>
              </a:pathLst>
            </a:custGeom>
            <a:solidFill>
              <a:srgbClr val="F7FAFB"/>
            </a:solidFill>
            <a:ln w="19065" cap="sq">
              <a:solidFill>
                <a:srgbClr val="DCE6E9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2174481" y="3294412"/>
            <a:ext cx="1153049" cy="1153049"/>
            <a:chOff x="0" y="0"/>
            <a:chExt cx="1537398" cy="153739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37462" cy="1537462"/>
            </a:xfrm>
            <a:custGeom>
              <a:avLst/>
              <a:gdLst/>
              <a:ahLst/>
              <a:cxnLst/>
              <a:rect r="r" b="b" t="t" l="l"/>
              <a:pathLst>
                <a:path h="1537462" w="1537462">
                  <a:moveTo>
                    <a:pt x="0" y="768731"/>
                  </a:moveTo>
                  <a:cubicBezTo>
                    <a:pt x="0" y="344170"/>
                    <a:pt x="344170" y="0"/>
                    <a:pt x="768731" y="0"/>
                  </a:cubicBezTo>
                  <a:cubicBezTo>
                    <a:pt x="1193292" y="0"/>
                    <a:pt x="1537462" y="344170"/>
                    <a:pt x="1537462" y="768731"/>
                  </a:cubicBezTo>
                  <a:cubicBezTo>
                    <a:pt x="1537462" y="1193292"/>
                    <a:pt x="1193292" y="1537462"/>
                    <a:pt x="768731" y="1537462"/>
                  </a:cubicBezTo>
                  <a:cubicBezTo>
                    <a:pt x="344170" y="1537462"/>
                    <a:pt x="0" y="1193292"/>
                    <a:pt x="0" y="768731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2324376" y="3444307"/>
            <a:ext cx="853250" cy="853250"/>
            <a:chOff x="0" y="0"/>
            <a:chExt cx="1137666" cy="1137666"/>
          </a:xfrm>
        </p:grpSpPr>
        <p:sp>
          <p:nvSpPr>
            <p:cNvPr name="Freeform 19" id="19" descr="/home/claude/proj/icons/target_white.png"/>
            <p:cNvSpPr/>
            <p:nvPr/>
          </p:nvSpPr>
          <p:spPr>
            <a:xfrm flipH="false" flipV="false" rot="0">
              <a:off x="0" y="0"/>
              <a:ext cx="1137666" cy="1137666"/>
            </a:xfrm>
            <a:custGeom>
              <a:avLst/>
              <a:gdLst/>
              <a:ahLst/>
              <a:cxnLst/>
              <a:rect r="r" b="b" t="t" l="l"/>
              <a:pathLst>
                <a:path h="1137666" w="1137666">
                  <a:moveTo>
                    <a:pt x="0" y="0"/>
                  </a:moveTo>
                  <a:lnTo>
                    <a:pt x="1137666" y="0"/>
                  </a:lnTo>
                  <a:lnTo>
                    <a:pt x="1137666" y="1137666"/>
                  </a:lnTo>
                  <a:lnTo>
                    <a:pt x="0" y="1137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02049" y="4794828"/>
            <a:ext cx="3497913" cy="970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1"/>
              </a:lnSpc>
            </a:pPr>
            <a:r>
              <a:rPr lang="en-US" sz="2026" b="true">
                <a:solidFill>
                  <a:srgbClr val="21295C"/>
                </a:solidFill>
                <a:latin typeface="Cambria Bold"/>
                <a:ea typeface="Cambria Bold"/>
                <a:cs typeface="Cambria Bold"/>
                <a:sym typeface="Cambria Bold"/>
              </a:rPr>
              <a:t>Reconstruct Missing Slices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9500" y="5658488"/>
            <a:ext cx="3443002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1"/>
              </a:lnSpc>
            </a:pPr>
            <a:r>
              <a:rPr lang="en-US" sz="1876">
                <a:solidFill>
                  <a:srgbClr val="5B6E76"/>
                </a:solidFill>
                <a:latin typeface="Calibri (MS)"/>
                <a:ea typeface="Calibri (MS)"/>
                <a:cs typeface="Calibri (MS)"/>
                <a:sym typeface="Calibri (MS)"/>
              </a:rPr>
              <a:t>Generate anatomically plausible CT/MRI slices at unsampled positions between sparse inputs.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5012045" y="2735809"/>
            <a:ext cx="4011139" cy="4617520"/>
            <a:chOff x="0" y="0"/>
            <a:chExt cx="5348186" cy="615669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348097" cy="6156706"/>
            </a:xfrm>
            <a:custGeom>
              <a:avLst/>
              <a:gdLst/>
              <a:ahLst/>
              <a:cxnLst/>
              <a:rect r="r" b="b" t="t" l="l"/>
              <a:pathLst>
                <a:path h="6156706" w="5348097">
                  <a:moveTo>
                    <a:pt x="0" y="165481"/>
                  </a:moveTo>
                  <a:cubicBezTo>
                    <a:pt x="0" y="74168"/>
                    <a:pt x="74168" y="0"/>
                    <a:pt x="165481" y="0"/>
                  </a:cubicBezTo>
                  <a:lnTo>
                    <a:pt x="5182616" y="0"/>
                  </a:lnTo>
                  <a:cubicBezTo>
                    <a:pt x="5274056" y="0"/>
                    <a:pt x="5348097" y="74168"/>
                    <a:pt x="5348097" y="165481"/>
                  </a:cubicBezTo>
                  <a:lnTo>
                    <a:pt x="5348097" y="5991225"/>
                  </a:lnTo>
                  <a:cubicBezTo>
                    <a:pt x="5348097" y="6082665"/>
                    <a:pt x="5273929" y="6156706"/>
                    <a:pt x="5182616" y="6156706"/>
                  </a:cubicBezTo>
                  <a:lnTo>
                    <a:pt x="165481" y="6156706"/>
                  </a:lnTo>
                  <a:cubicBezTo>
                    <a:pt x="74168" y="6156706"/>
                    <a:pt x="0" y="6082538"/>
                    <a:pt x="0" y="5991225"/>
                  </a:cubicBezTo>
                  <a:close/>
                </a:path>
              </a:pathLst>
            </a:custGeom>
            <a:solidFill>
              <a:srgbClr val="F7FAFB"/>
            </a:solidFill>
            <a:ln w="19065" cap="sq">
              <a:solidFill>
                <a:srgbClr val="DCE6E9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6441091" y="3294412"/>
            <a:ext cx="1153049" cy="1153049"/>
            <a:chOff x="0" y="0"/>
            <a:chExt cx="1537398" cy="153739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537462" cy="1537462"/>
            </a:xfrm>
            <a:custGeom>
              <a:avLst/>
              <a:gdLst/>
              <a:ahLst/>
              <a:cxnLst/>
              <a:rect r="r" b="b" t="t" l="l"/>
              <a:pathLst>
                <a:path h="1537462" w="1537462">
                  <a:moveTo>
                    <a:pt x="0" y="768731"/>
                  </a:moveTo>
                  <a:cubicBezTo>
                    <a:pt x="0" y="344170"/>
                    <a:pt x="344170" y="0"/>
                    <a:pt x="768731" y="0"/>
                  </a:cubicBezTo>
                  <a:cubicBezTo>
                    <a:pt x="1193292" y="0"/>
                    <a:pt x="1537462" y="344170"/>
                    <a:pt x="1537462" y="768731"/>
                  </a:cubicBezTo>
                  <a:cubicBezTo>
                    <a:pt x="1537462" y="1193292"/>
                    <a:pt x="1193292" y="1537462"/>
                    <a:pt x="768731" y="1537462"/>
                  </a:cubicBezTo>
                  <a:cubicBezTo>
                    <a:pt x="344170" y="1537462"/>
                    <a:pt x="0" y="1193292"/>
                    <a:pt x="0" y="768731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590986" y="3444307"/>
            <a:ext cx="853250" cy="853250"/>
            <a:chOff x="0" y="0"/>
            <a:chExt cx="1137666" cy="1137666"/>
          </a:xfrm>
        </p:grpSpPr>
        <p:sp>
          <p:nvSpPr>
            <p:cNvPr name="Freeform 27" id="27" descr="/home/claude/proj/icons/restore_white.png"/>
            <p:cNvSpPr/>
            <p:nvPr/>
          </p:nvSpPr>
          <p:spPr>
            <a:xfrm flipH="false" flipV="false" rot="0">
              <a:off x="0" y="0"/>
              <a:ext cx="1137666" cy="1137666"/>
            </a:xfrm>
            <a:custGeom>
              <a:avLst/>
              <a:gdLst/>
              <a:ahLst/>
              <a:cxnLst/>
              <a:rect r="r" b="b" t="t" l="l"/>
              <a:pathLst>
                <a:path h="1137666" w="1137666">
                  <a:moveTo>
                    <a:pt x="0" y="0"/>
                  </a:moveTo>
                  <a:lnTo>
                    <a:pt x="1137666" y="0"/>
                  </a:lnTo>
                  <a:lnTo>
                    <a:pt x="1137666" y="1137666"/>
                  </a:lnTo>
                  <a:lnTo>
                    <a:pt x="0" y="1137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5268658" y="4794828"/>
            <a:ext cx="3497913" cy="970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1"/>
              </a:lnSpc>
            </a:pPr>
            <a:r>
              <a:rPr lang="en-US" sz="2026" b="true">
                <a:solidFill>
                  <a:srgbClr val="21295C"/>
                </a:solidFill>
                <a:latin typeface="Cambria Bold"/>
                <a:ea typeface="Cambria Bold"/>
                <a:cs typeface="Cambria Bold"/>
                <a:sym typeface="Cambria Bold"/>
              </a:rPr>
              <a:t>Recover Complete 3D Volume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296110" y="5658488"/>
            <a:ext cx="3443002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1"/>
              </a:lnSpc>
            </a:pPr>
            <a:r>
              <a:rPr lang="en-US" sz="1876">
                <a:solidFill>
                  <a:srgbClr val="5B6E76"/>
                </a:solidFill>
                <a:latin typeface="Calibri (MS)"/>
                <a:ea typeface="Calibri (MS)"/>
                <a:cs typeface="Calibri (MS)"/>
                <a:sym typeface="Calibri (MS)"/>
              </a:rPr>
              <a:t>Assemble the generated and acquired slices into a dense, continuous 3D anatomical volume.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278655" y="2735809"/>
            <a:ext cx="4011139" cy="4617520"/>
            <a:chOff x="0" y="0"/>
            <a:chExt cx="5348186" cy="615669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348097" cy="6156706"/>
            </a:xfrm>
            <a:custGeom>
              <a:avLst/>
              <a:gdLst/>
              <a:ahLst/>
              <a:cxnLst/>
              <a:rect r="r" b="b" t="t" l="l"/>
              <a:pathLst>
                <a:path h="6156706" w="5348097">
                  <a:moveTo>
                    <a:pt x="0" y="165481"/>
                  </a:moveTo>
                  <a:cubicBezTo>
                    <a:pt x="0" y="74168"/>
                    <a:pt x="74168" y="0"/>
                    <a:pt x="165481" y="0"/>
                  </a:cubicBezTo>
                  <a:lnTo>
                    <a:pt x="5182616" y="0"/>
                  </a:lnTo>
                  <a:cubicBezTo>
                    <a:pt x="5274056" y="0"/>
                    <a:pt x="5348097" y="74168"/>
                    <a:pt x="5348097" y="165481"/>
                  </a:cubicBezTo>
                  <a:lnTo>
                    <a:pt x="5348097" y="5991225"/>
                  </a:lnTo>
                  <a:cubicBezTo>
                    <a:pt x="5348097" y="6082665"/>
                    <a:pt x="5273929" y="6156706"/>
                    <a:pt x="5182616" y="6156706"/>
                  </a:cubicBezTo>
                  <a:lnTo>
                    <a:pt x="165481" y="6156706"/>
                  </a:lnTo>
                  <a:cubicBezTo>
                    <a:pt x="74168" y="6156706"/>
                    <a:pt x="0" y="6082538"/>
                    <a:pt x="0" y="5991225"/>
                  </a:cubicBezTo>
                  <a:close/>
                </a:path>
              </a:pathLst>
            </a:custGeom>
            <a:solidFill>
              <a:srgbClr val="F7FAFB"/>
            </a:solidFill>
            <a:ln w="19065" cap="sq">
              <a:solidFill>
                <a:srgbClr val="DCE6E9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0707700" y="3294412"/>
            <a:ext cx="1153049" cy="1153049"/>
            <a:chOff x="0" y="0"/>
            <a:chExt cx="1537398" cy="153739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537462" cy="1537462"/>
            </a:xfrm>
            <a:custGeom>
              <a:avLst/>
              <a:gdLst/>
              <a:ahLst/>
              <a:cxnLst/>
              <a:rect r="r" b="b" t="t" l="l"/>
              <a:pathLst>
                <a:path h="1537462" w="1537462">
                  <a:moveTo>
                    <a:pt x="0" y="768731"/>
                  </a:moveTo>
                  <a:cubicBezTo>
                    <a:pt x="0" y="344170"/>
                    <a:pt x="344170" y="0"/>
                    <a:pt x="768731" y="0"/>
                  </a:cubicBezTo>
                  <a:cubicBezTo>
                    <a:pt x="1193292" y="0"/>
                    <a:pt x="1537462" y="344170"/>
                    <a:pt x="1537462" y="768731"/>
                  </a:cubicBezTo>
                  <a:cubicBezTo>
                    <a:pt x="1537462" y="1193292"/>
                    <a:pt x="1193292" y="1537462"/>
                    <a:pt x="768731" y="1537462"/>
                  </a:cubicBezTo>
                  <a:cubicBezTo>
                    <a:pt x="344170" y="1537462"/>
                    <a:pt x="0" y="1193292"/>
                    <a:pt x="0" y="768731"/>
                  </a:cubicBezTo>
                  <a:close/>
                </a:path>
              </a:pathLst>
            </a:custGeom>
            <a:solidFill>
              <a:srgbClr val="50808E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0857595" y="3444307"/>
            <a:ext cx="853250" cy="853250"/>
            <a:chOff x="0" y="0"/>
            <a:chExt cx="1137666" cy="1137666"/>
          </a:xfrm>
        </p:grpSpPr>
        <p:sp>
          <p:nvSpPr>
            <p:cNvPr name="Freeform 35" id="35" descr="/home/claude/proj/icons/shield_white.png"/>
            <p:cNvSpPr/>
            <p:nvPr/>
          </p:nvSpPr>
          <p:spPr>
            <a:xfrm flipH="false" flipV="false" rot="0">
              <a:off x="0" y="0"/>
              <a:ext cx="1137666" cy="1137666"/>
            </a:xfrm>
            <a:custGeom>
              <a:avLst/>
              <a:gdLst/>
              <a:ahLst/>
              <a:cxnLst/>
              <a:rect r="r" b="b" t="t" l="l"/>
              <a:pathLst>
                <a:path h="1137666" w="1137666">
                  <a:moveTo>
                    <a:pt x="0" y="0"/>
                  </a:moveTo>
                  <a:lnTo>
                    <a:pt x="1137666" y="0"/>
                  </a:lnTo>
                  <a:lnTo>
                    <a:pt x="1137666" y="1137666"/>
                  </a:lnTo>
                  <a:lnTo>
                    <a:pt x="0" y="1137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9535268" y="4794828"/>
            <a:ext cx="3497913" cy="970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1"/>
              </a:lnSpc>
            </a:pPr>
            <a:r>
              <a:rPr lang="en-US" sz="2026" b="true">
                <a:solidFill>
                  <a:srgbClr val="21295C"/>
                </a:solidFill>
                <a:latin typeface="Cambria Bold"/>
                <a:ea typeface="Cambria Bold"/>
                <a:cs typeface="Cambria Bold"/>
                <a:sym typeface="Cambria Bold"/>
              </a:rPr>
              <a:t>Preserve Anatomical Consistency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562719" y="5658488"/>
            <a:ext cx="3443002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1"/>
              </a:lnSpc>
            </a:pPr>
            <a:r>
              <a:rPr lang="en-US" sz="1876">
                <a:solidFill>
                  <a:srgbClr val="5B6E76"/>
                </a:solidFill>
                <a:latin typeface="Calibri (MS)"/>
                <a:ea typeface="Calibri (MS)"/>
                <a:cs typeface="Calibri (MS)"/>
                <a:sym typeface="Calibri (MS)"/>
              </a:rPr>
              <a:t>Ensure structural and spatial coherence of organs and tissue boundaries across slices.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3545264" y="2735809"/>
            <a:ext cx="4011139" cy="4617520"/>
            <a:chOff x="0" y="0"/>
            <a:chExt cx="5348186" cy="615669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348097" cy="6156706"/>
            </a:xfrm>
            <a:custGeom>
              <a:avLst/>
              <a:gdLst/>
              <a:ahLst/>
              <a:cxnLst/>
              <a:rect r="r" b="b" t="t" l="l"/>
              <a:pathLst>
                <a:path h="6156706" w="5348097">
                  <a:moveTo>
                    <a:pt x="0" y="165481"/>
                  </a:moveTo>
                  <a:cubicBezTo>
                    <a:pt x="0" y="74168"/>
                    <a:pt x="74168" y="0"/>
                    <a:pt x="165481" y="0"/>
                  </a:cubicBezTo>
                  <a:lnTo>
                    <a:pt x="5182616" y="0"/>
                  </a:lnTo>
                  <a:cubicBezTo>
                    <a:pt x="5274056" y="0"/>
                    <a:pt x="5348097" y="74168"/>
                    <a:pt x="5348097" y="165481"/>
                  </a:cubicBezTo>
                  <a:lnTo>
                    <a:pt x="5348097" y="5991225"/>
                  </a:lnTo>
                  <a:cubicBezTo>
                    <a:pt x="5348097" y="6082665"/>
                    <a:pt x="5273929" y="6156706"/>
                    <a:pt x="5182616" y="6156706"/>
                  </a:cubicBezTo>
                  <a:lnTo>
                    <a:pt x="165481" y="6156706"/>
                  </a:lnTo>
                  <a:cubicBezTo>
                    <a:pt x="74168" y="6156706"/>
                    <a:pt x="0" y="6082538"/>
                    <a:pt x="0" y="5991225"/>
                  </a:cubicBezTo>
                  <a:close/>
                </a:path>
              </a:pathLst>
            </a:custGeom>
            <a:solidFill>
              <a:srgbClr val="F7FAFB"/>
            </a:solidFill>
            <a:ln w="19065" cap="sq">
              <a:solidFill>
                <a:srgbClr val="DCE6E9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4974310" y="3294412"/>
            <a:ext cx="1153049" cy="1153049"/>
            <a:chOff x="0" y="0"/>
            <a:chExt cx="1537398" cy="153739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537462" cy="1537462"/>
            </a:xfrm>
            <a:custGeom>
              <a:avLst/>
              <a:gdLst/>
              <a:ahLst/>
              <a:cxnLst/>
              <a:rect r="r" b="b" t="t" l="l"/>
              <a:pathLst>
                <a:path h="1537462" w="1537462">
                  <a:moveTo>
                    <a:pt x="0" y="768731"/>
                  </a:moveTo>
                  <a:cubicBezTo>
                    <a:pt x="0" y="344170"/>
                    <a:pt x="344170" y="0"/>
                    <a:pt x="768731" y="0"/>
                  </a:cubicBezTo>
                  <a:cubicBezTo>
                    <a:pt x="1193292" y="0"/>
                    <a:pt x="1537462" y="344170"/>
                    <a:pt x="1537462" y="768731"/>
                  </a:cubicBezTo>
                  <a:cubicBezTo>
                    <a:pt x="1537462" y="1193292"/>
                    <a:pt x="1193292" y="1537462"/>
                    <a:pt x="768731" y="1537462"/>
                  </a:cubicBezTo>
                  <a:cubicBezTo>
                    <a:pt x="344170" y="1537462"/>
                    <a:pt x="0" y="1193292"/>
                    <a:pt x="0" y="768731"/>
                  </a:cubicBezTo>
                  <a:close/>
                </a:path>
              </a:pathLst>
            </a:custGeom>
            <a:solidFill>
              <a:srgbClr val="21295C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5124205" y="3444307"/>
            <a:ext cx="853250" cy="853250"/>
            <a:chOff x="0" y="0"/>
            <a:chExt cx="1137666" cy="1137666"/>
          </a:xfrm>
        </p:grpSpPr>
        <p:sp>
          <p:nvSpPr>
            <p:cNvPr name="Freeform 43" id="43" descr="/home/claude/proj/icons/eye_white.png"/>
            <p:cNvSpPr/>
            <p:nvPr/>
          </p:nvSpPr>
          <p:spPr>
            <a:xfrm flipH="false" flipV="false" rot="0">
              <a:off x="0" y="0"/>
              <a:ext cx="1137666" cy="1137666"/>
            </a:xfrm>
            <a:custGeom>
              <a:avLst/>
              <a:gdLst/>
              <a:ahLst/>
              <a:cxnLst/>
              <a:rect r="r" b="b" t="t" l="l"/>
              <a:pathLst>
                <a:path h="1137666" w="1137666">
                  <a:moveTo>
                    <a:pt x="0" y="0"/>
                  </a:moveTo>
                  <a:lnTo>
                    <a:pt x="1137666" y="0"/>
                  </a:lnTo>
                  <a:lnTo>
                    <a:pt x="1137666" y="1137666"/>
                  </a:lnTo>
                  <a:lnTo>
                    <a:pt x="0" y="1137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13801877" y="4794828"/>
            <a:ext cx="3497913" cy="970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1"/>
              </a:lnSpc>
            </a:pPr>
            <a:r>
              <a:rPr lang="en-US" sz="2026" b="true">
                <a:solidFill>
                  <a:srgbClr val="21295C"/>
                </a:solidFill>
                <a:latin typeface="Cambria Bold"/>
                <a:ea typeface="Cambria Bold"/>
                <a:cs typeface="Cambria Bold"/>
                <a:sym typeface="Cambria Bold"/>
              </a:rPr>
              <a:t>Improve Visualization Quality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829328" y="5658488"/>
            <a:ext cx="3443002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1"/>
              </a:lnSpc>
            </a:pPr>
            <a:r>
              <a:rPr lang="en-US" sz="1876">
                <a:solidFill>
                  <a:srgbClr val="5B6E76"/>
                </a:solidFill>
                <a:latin typeface="Calibri (MS)"/>
                <a:ea typeface="Calibri (MS)"/>
                <a:cs typeface="Calibri (MS)"/>
                <a:sym typeface="Calibri (MS)"/>
              </a:rPr>
              <a:t>Deliver clearer, higher-fidelity volumes for downstream diagnostic and clinical visualization.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971" y="576520"/>
            <a:ext cx="12354049" cy="439255"/>
            <a:chOff x="0" y="0"/>
            <a:chExt cx="16472065" cy="5856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72069" cy="585674"/>
            </a:xfrm>
            <a:custGeom>
              <a:avLst/>
              <a:gdLst/>
              <a:ahLst/>
              <a:cxnLst/>
              <a:rect r="r" b="b" t="t" l="l"/>
              <a:pathLst>
                <a:path h="585674" w="16472069">
                  <a:moveTo>
                    <a:pt x="0" y="0"/>
                  </a:moveTo>
                  <a:lnTo>
                    <a:pt x="16472069" y="0"/>
                  </a:lnTo>
                  <a:lnTo>
                    <a:pt x="16472069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8016" r="0" b="-49801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472065" cy="6237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b="true" sz="1801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PROPOSED METHODOLOGY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971" y="988324"/>
            <a:ext cx="16791899" cy="988324"/>
            <a:chOff x="0" y="0"/>
            <a:chExt cx="22389198" cy="13177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389201" cy="1317765"/>
            </a:xfrm>
            <a:custGeom>
              <a:avLst/>
              <a:gdLst/>
              <a:ahLst/>
              <a:cxnLst/>
              <a:rect r="r" b="b" t="t" l="l"/>
              <a:pathLst>
                <a:path h="1317765" w="22389201">
                  <a:moveTo>
                    <a:pt x="0" y="0"/>
                  </a:moveTo>
                  <a:lnTo>
                    <a:pt x="22389201" y="0"/>
                  </a:lnTo>
                  <a:lnTo>
                    <a:pt x="22389201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1056" r="0" b="-28105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389198" cy="1327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4"/>
                </a:lnSpc>
              </a:pPr>
              <a:r>
                <a:rPr lang="en-US" sz="4503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End-to-End Reconstruction Pipeline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4971" y="9718519"/>
            <a:ext cx="10981382" cy="411804"/>
            <a:chOff x="0" y="0"/>
            <a:chExt cx="14641843" cy="5490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41840" cy="549069"/>
            </a:xfrm>
            <a:custGeom>
              <a:avLst/>
              <a:gdLst/>
              <a:ahLst/>
              <a:cxnLst/>
              <a:rect r="r" b="b" t="t" l="l"/>
              <a:pathLst>
                <a:path h="549069" w="14641840">
                  <a:moveTo>
                    <a:pt x="0" y="0"/>
                  </a:moveTo>
                  <a:lnTo>
                    <a:pt x="14641840" y="0"/>
                  </a:lnTo>
                  <a:lnTo>
                    <a:pt x="1464184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0" r="0" b="-46960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4641843" cy="5776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>
                  <a:solidFill>
                    <a:srgbClr val="5B6E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3D Reconstruction of Biomedical Tissues — B.Tech Project Proposal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899663" y="9718519"/>
            <a:ext cx="1647206" cy="411804"/>
            <a:chOff x="0" y="0"/>
            <a:chExt cx="2196274" cy="5490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6276" cy="549069"/>
            </a:xfrm>
            <a:custGeom>
              <a:avLst/>
              <a:gdLst/>
              <a:ahLst/>
              <a:cxnLst/>
              <a:rect r="r" b="b" t="t" l="l"/>
              <a:pathLst>
                <a:path h="549069" w="2196276">
                  <a:moveTo>
                    <a:pt x="0" y="0"/>
                  </a:moveTo>
                  <a:lnTo>
                    <a:pt x="2196276" y="0"/>
                  </a:lnTo>
                  <a:lnTo>
                    <a:pt x="219627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39" r="0" b="-2794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2196274" cy="5776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1"/>
                </a:lnSpc>
              </a:pPr>
              <a:r>
                <a:rPr lang="en-US" sz="1351">
                  <a:solidFill>
                    <a:srgbClr val="5B6E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05 / 12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17909" y="2469866"/>
            <a:ext cx="16417166" cy="2970314"/>
            <a:chOff x="0" y="0"/>
            <a:chExt cx="21889555" cy="3960419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78804" y="0"/>
              <a:ext cx="2624341" cy="3960419"/>
              <a:chOff x="0" y="0"/>
              <a:chExt cx="2624341" cy="3960419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2624328" cy="3960495"/>
              </a:xfrm>
              <a:custGeom>
                <a:avLst/>
                <a:gdLst/>
                <a:ahLst/>
                <a:cxnLst/>
                <a:rect r="r" b="b" t="t" l="l"/>
                <a:pathLst>
                  <a:path h="3960495" w="2624328">
                    <a:moveTo>
                      <a:pt x="0" y="166370"/>
                    </a:moveTo>
                    <a:cubicBezTo>
                      <a:pt x="0" y="74422"/>
                      <a:pt x="74422" y="0"/>
                      <a:pt x="166370" y="0"/>
                    </a:cubicBezTo>
                    <a:lnTo>
                      <a:pt x="2457958" y="0"/>
                    </a:lnTo>
                    <a:cubicBezTo>
                      <a:pt x="2549779" y="0"/>
                      <a:pt x="2624328" y="74422"/>
                      <a:pt x="2624328" y="166370"/>
                    </a:cubicBezTo>
                    <a:lnTo>
                      <a:pt x="2624328" y="3794125"/>
                    </a:lnTo>
                    <a:cubicBezTo>
                      <a:pt x="2624328" y="3885946"/>
                      <a:pt x="2549906" y="3960495"/>
                      <a:pt x="2457958" y="3960495"/>
                    </a:cubicBezTo>
                    <a:lnTo>
                      <a:pt x="166370" y="3960495"/>
                    </a:lnTo>
                    <a:cubicBezTo>
                      <a:pt x="74549" y="3960495"/>
                      <a:pt x="0" y="3886073"/>
                      <a:pt x="0" y="3794125"/>
                    </a:cubicBezTo>
                    <a:close/>
                  </a:path>
                </a:pathLst>
              </a:custGeom>
              <a:solidFill>
                <a:srgbClr val="F7FAFB"/>
              </a:solidFill>
              <a:ln w="19065" cap="sq">
                <a:solidFill>
                  <a:srgbClr val="DCE6E9"/>
                </a:solidFill>
                <a:prstDash val="solid"/>
                <a:miter/>
              </a:ln>
            </p:spPr>
          </p:sp>
        </p:grpSp>
        <p:grpSp>
          <p:nvGrpSpPr>
            <p:cNvPr name="Group 17" id="17"/>
            <p:cNvGrpSpPr/>
            <p:nvPr/>
          </p:nvGrpSpPr>
          <p:grpSpPr>
            <a:xfrm rot="0">
              <a:off x="750405" y="525170"/>
              <a:ext cx="1281163" cy="1281163"/>
              <a:chOff x="0" y="0"/>
              <a:chExt cx="1281163" cy="1281163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281176" cy="1281176"/>
              </a:xfrm>
              <a:custGeom>
                <a:avLst/>
                <a:gdLst/>
                <a:ahLst/>
                <a:cxnLst/>
                <a:rect r="r" b="b" t="t" l="l"/>
                <a:pathLst>
                  <a:path h="1281176" w="1281176">
                    <a:moveTo>
                      <a:pt x="0" y="640588"/>
                    </a:moveTo>
                    <a:cubicBezTo>
                      <a:pt x="0" y="286766"/>
                      <a:pt x="286766" y="0"/>
                      <a:pt x="640588" y="0"/>
                    </a:cubicBezTo>
                    <a:cubicBezTo>
                      <a:pt x="994410" y="0"/>
                      <a:pt x="1281176" y="286766"/>
                      <a:pt x="1281176" y="640588"/>
                    </a:cubicBezTo>
                    <a:cubicBezTo>
                      <a:pt x="1281176" y="994410"/>
                      <a:pt x="994410" y="1281176"/>
                      <a:pt x="640588" y="1281176"/>
                    </a:cubicBezTo>
                    <a:cubicBezTo>
                      <a:pt x="286766" y="1281176"/>
                      <a:pt x="0" y="994410"/>
                      <a:pt x="0" y="640588"/>
                    </a:cubicBezTo>
                    <a:close/>
                  </a:path>
                </a:pathLst>
              </a:custGeom>
              <a:solidFill>
                <a:srgbClr val="065A82"/>
              </a:solidFill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916953" y="691718"/>
              <a:ext cx="948055" cy="948055"/>
              <a:chOff x="0" y="0"/>
              <a:chExt cx="948055" cy="948055"/>
            </a:xfrm>
          </p:grpSpPr>
          <p:sp>
            <p:nvSpPr>
              <p:cNvPr name="Freeform 20" id="20" descr="/home/claude/proj/icons/database_white.png"/>
              <p:cNvSpPr/>
              <p:nvPr/>
            </p:nvSpPr>
            <p:spPr>
              <a:xfrm flipH="false" flipV="false" rot="0">
                <a:off x="0" y="0"/>
                <a:ext cx="948055" cy="948055"/>
              </a:xfrm>
              <a:custGeom>
                <a:avLst/>
                <a:gdLst/>
                <a:ahLst/>
                <a:cxnLst/>
                <a:rect r="r" b="b" t="t" l="l"/>
                <a:pathLst>
                  <a:path h="948055" w="948055">
                    <a:moveTo>
                      <a:pt x="0" y="0"/>
                    </a:moveTo>
                    <a:lnTo>
                      <a:pt x="948055" y="0"/>
                    </a:lnTo>
                    <a:lnTo>
                      <a:pt x="948055" y="948055"/>
                    </a:lnTo>
                    <a:lnTo>
                      <a:pt x="0" y="94805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0" t="0" r="0" b="0"/>
                </a:stretch>
              </a:blipFill>
            </p:spPr>
          </p:sp>
        </p:grpSp>
        <p:sp>
          <p:nvSpPr>
            <p:cNvPr name="TextBox 21" id="21"/>
            <p:cNvSpPr txBox="true"/>
            <p:nvPr/>
          </p:nvSpPr>
          <p:spPr>
            <a:xfrm rot="0">
              <a:off x="0" y="2098421"/>
              <a:ext cx="2781948" cy="15747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91"/>
                </a:lnSpc>
              </a:pPr>
              <a:r>
                <a:rPr lang="en-US" sz="1576" b="true">
                  <a:solidFill>
                    <a:srgbClr val="212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Dataset</a:t>
              </a:r>
            </a:p>
          </p:txBody>
        </p:sp>
        <p:grpSp>
          <p:nvGrpSpPr>
            <p:cNvPr name="Group 22" id="22"/>
            <p:cNvGrpSpPr/>
            <p:nvPr/>
          </p:nvGrpSpPr>
          <p:grpSpPr>
            <a:xfrm rot="0">
              <a:off x="2727046" y="1623314"/>
              <a:ext cx="512470" cy="439255"/>
              <a:chOff x="0" y="0"/>
              <a:chExt cx="512470" cy="439255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512445" cy="439293"/>
              </a:xfrm>
              <a:custGeom>
                <a:avLst/>
                <a:gdLst/>
                <a:ahLst/>
                <a:cxnLst/>
                <a:rect r="r" b="b" t="t" l="l"/>
                <a:pathLst>
                  <a:path h="439293" w="512445">
                    <a:moveTo>
                      <a:pt x="0" y="109855"/>
                    </a:moveTo>
                    <a:lnTo>
                      <a:pt x="292862" y="109855"/>
                    </a:lnTo>
                    <a:lnTo>
                      <a:pt x="292862" y="0"/>
                    </a:lnTo>
                    <a:lnTo>
                      <a:pt x="512445" y="219583"/>
                    </a:lnTo>
                    <a:lnTo>
                      <a:pt x="292862" y="439293"/>
                    </a:lnTo>
                    <a:lnTo>
                      <a:pt x="292862" y="329438"/>
                    </a:lnTo>
                    <a:lnTo>
                      <a:pt x="0" y="329438"/>
                    </a:lnTo>
                    <a:close/>
                  </a:path>
                </a:pathLst>
              </a:custGeom>
              <a:solidFill>
                <a:srgbClr val="50808E"/>
              </a:solidFill>
            </p:spPr>
          </p:sp>
        </p:grpSp>
        <p:grpSp>
          <p:nvGrpSpPr>
            <p:cNvPr name="Group 24" id="24"/>
            <p:cNvGrpSpPr/>
            <p:nvPr/>
          </p:nvGrpSpPr>
          <p:grpSpPr>
            <a:xfrm rot="0">
              <a:off x="3263405" y="0"/>
              <a:ext cx="2624341" cy="3960419"/>
              <a:chOff x="0" y="0"/>
              <a:chExt cx="2624341" cy="3960419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2624328" cy="3960495"/>
              </a:xfrm>
              <a:custGeom>
                <a:avLst/>
                <a:gdLst/>
                <a:ahLst/>
                <a:cxnLst/>
                <a:rect r="r" b="b" t="t" l="l"/>
                <a:pathLst>
                  <a:path h="3960495" w="2624328">
                    <a:moveTo>
                      <a:pt x="0" y="166370"/>
                    </a:moveTo>
                    <a:cubicBezTo>
                      <a:pt x="0" y="74422"/>
                      <a:pt x="74422" y="0"/>
                      <a:pt x="166370" y="0"/>
                    </a:cubicBezTo>
                    <a:lnTo>
                      <a:pt x="2457958" y="0"/>
                    </a:lnTo>
                    <a:cubicBezTo>
                      <a:pt x="2549779" y="0"/>
                      <a:pt x="2624328" y="74422"/>
                      <a:pt x="2624328" y="166370"/>
                    </a:cubicBezTo>
                    <a:lnTo>
                      <a:pt x="2624328" y="3794125"/>
                    </a:lnTo>
                    <a:cubicBezTo>
                      <a:pt x="2624328" y="3885946"/>
                      <a:pt x="2549906" y="3960495"/>
                      <a:pt x="2457958" y="3960495"/>
                    </a:cubicBezTo>
                    <a:lnTo>
                      <a:pt x="166370" y="3960495"/>
                    </a:lnTo>
                    <a:cubicBezTo>
                      <a:pt x="74549" y="3960495"/>
                      <a:pt x="0" y="3886073"/>
                      <a:pt x="0" y="3794125"/>
                    </a:cubicBezTo>
                    <a:close/>
                  </a:path>
                </a:pathLst>
              </a:custGeom>
              <a:solidFill>
                <a:srgbClr val="F7FAFB"/>
              </a:solidFill>
              <a:ln w="19065" cap="sq">
                <a:solidFill>
                  <a:srgbClr val="DCE6E9"/>
                </a:solidFill>
                <a:prstDash val="solid"/>
                <a:miter/>
              </a:ln>
            </p:spPr>
          </p:sp>
        </p:grpSp>
        <p:grpSp>
          <p:nvGrpSpPr>
            <p:cNvPr name="Group 26" id="26"/>
            <p:cNvGrpSpPr/>
            <p:nvPr/>
          </p:nvGrpSpPr>
          <p:grpSpPr>
            <a:xfrm rot="0">
              <a:off x="3934993" y="525170"/>
              <a:ext cx="1281163" cy="1281163"/>
              <a:chOff x="0" y="0"/>
              <a:chExt cx="1281163" cy="1281163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281176" cy="1281176"/>
              </a:xfrm>
              <a:custGeom>
                <a:avLst/>
                <a:gdLst/>
                <a:ahLst/>
                <a:cxnLst/>
                <a:rect r="r" b="b" t="t" l="l"/>
                <a:pathLst>
                  <a:path h="1281176" w="1281176">
                    <a:moveTo>
                      <a:pt x="0" y="640588"/>
                    </a:moveTo>
                    <a:cubicBezTo>
                      <a:pt x="0" y="286766"/>
                      <a:pt x="286766" y="0"/>
                      <a:pt x="640588" y="0"/>
                    </a:cubicBezTo>
                    <a:cubicBezTo>
                      <a:pt x="994410" y="0"/>
                      <a:pt x="1281176" y="286766"/>
                      <a:pt x="1281176" y="640588"/>
                    </a:cubicBezTo>
                    <a:cubicBezTo>
                      <a:pt x="1281176" y="994410"/>
                      <a:pt x="994410" y="1281176"/>
                      <a:pt x="640588" y="1281176"/>
                    </a:cubicBezTo>
                    <a:cubicBezTo>
                      <a:pt x="286766" y="1281176"/>
                      <a:pt x="0" y="994410"/>
                      <a:pt x="0" y="640588"/>
                    </a:cubicBezTo>
                    <a:close/>
                  </a:path>
                </a:pathLst>
              </a:custGeom>
              <a:solidFill>
                <a:srgbClr val="065A82"/>
              </a:solidFill>
            </p:spPr>
          </p:sp>
        </p:grpSp>
        <p:grpSp>
          <p:nvGrpSpPr>
            <p:cNvPr name="Group 28" id="28"/>
            <p:cNvGrpSpPr/>
            <p:nvPr/>
          </p:nvGrpSpPr>
          <p:grpSpPr>
            <a:xfrm rot="0">
              <a:off x="4101554" y="691718"/>
              <a:ext cx="948055" cy="948055"/>
              <a:chOff x="0" y="0"/>
              <a:chExt cx="948055" cy="948055"/>
            </a:xfrm>
          </p:grpSpPr>
          <p:sp>
            <p:nvSpPr>
              <p:cNvPr name="Freeform 29" id="29" descr="/home/claude/proj/icons/filter_white.png"/>
              <p:cNvSpPr/>
              <p:nvPr/>
            </p:nvSpPr>
            <p:spPr>
              <a:xfrm flipH="false" flipV="false" rot="0">
                <a:off x="0" y="0"/>
                <a:ext cx="948055" cy="948055"/>
              </a:xfrm>
              <a:custGeom>
                <a:avLst/>
                <a:gdLst/>
                <a:ahLst/>
                <a:cxnLst/>
                <a:rect r="r" b="b" t="t" l="l"/>
                <a:pathLst>
                  <a:path h="948055" w="948055">
                    <a:moveTo>
                      <a:pt x="0" y="0"/>
                    </a:moveTo>
                    <a:lnTo>
                      <a:pt x="948055" y="0"/>
                    </a:lnTo>
                    <a:lnTo>
                      <a:pt x="948055" y="948055"/>
                    </a:lnTo>
                    <a:lnTo>
                      <a:pt x="0" y="94805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0" t="0" r="0" b="0"/>
                </a:stretch>
              </a:blipFill>
            </p:spPr>
          </p:sp>
        </p:grpSp>
        <p:sp>
          <p:nvSpPr>
            <p:cNvPr name="TextBox 30" id="30"/>
            <p:cNvSpPr txBox="true"/>
            <p:nvPr/>
          </p:nvSpPr>
          <p:spPr>
            <a:xfrm rot="0">
              <a:off x="3184601" y="2098421"/>
              <a:ext cx="2781948" cy="15747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91"/>
                </a:lnSpc>
              </a:pPr>
              <a:r>
                <a:rPr lang="en-US" sz="1576" b="true">
                  <a:solidFill>
                    <a:srgbClr val="212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Preprocessing</a:t>
              </a:r>
            </a:p>
          </p:txBody>
        </p:sp>
        <p:grpSp>
          <p:nvGrpSpPr>
            <p:cNvPr name="Group 31" id="31"/>
            <p:cNvGrpSpPr/>
            <p:nvPr/>
          </p:nvGrpSpPr>
          <p:grpSpPr>
            <a:xfrm rot="0">
              <a:off x="5911647" y="1623314"/>
              <a:ext cx="512470" cy="439255"/>
              <a:chOff x="0" y="0"/>
              <a:chExt cx="512470" cy="439255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512445" cy="439293"/>
              </a:xfrm>
              <a:custGeom>
                <a:avLst/>
                <a:gdLst/>
                <a:ahLst/>
                <a:cxnLst/>
                <a:rect r="r" b="b" t="t" l="l"/>
                <a:pathLst>
                  <a:path h="439293" w="512445">
                    <a:moveTo>
                      <a:pt x="0" y="109855"/>
                    </a:moveTo>
                    <a:lnTo>
                      <a:pt x="292862" y="109855"/>
                    </a:lnTo>
                    <a:lnTo>
                      <a:pt x="292862" y="0"/>
                    </a:lnTo>
                    <a:lnTo>
                      <a:pt x="512445" y="219583"/>
                    </a:lnTo>
                    <a:lnTo>
                      <a:pt x="292862" y="439293"/>
                    </a:lnTo>
                    <a:lnTo>
                      <a:pt x="292862" y="329438"/>
                    </a:lnTo>
                    <a:lnTo>
                      <a:pt x="0" y="329438"/>
                    </a:lnTo>
                    <a:close/>
                  </a:path>
                </a:pathLst>
              </a:custGeom>
              <a:solidFill>
                <a:srgbClr val="50808E"/>
              </a:solidFill>
            </p:spPr>
          </p:sp>
        </p:grpSp>
        <p:grpSp>
          <p:nvGrpSpPr>
            <p:cNvPr name="Group 33" id="33"/>
            <p:cNvGrpSpPr/>
            <p:nvPr/>
          </p:nvGrpSpPr>
          <p:grpSpPr>
            <a:xfrm rot="0">
              <a:off x="6448006" y="0"/>
              <a:ext cx="2624341" cy="3960419"/>
              <a:chOff x="0" y="0"/>
              <a:chExt cx="2624341" cy="3960419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2624328" cy="3960495"/>
              </a:xfrm>
              <a:custGeom>
                <a:avLst/>
                <a:gdLst/>
                <a:ahLst/>
                <a:cxnLst/>
                <a:rect r="r" b="b" t="t" l="l"/>
                <a:pathLst>
                  <a:path h="3960495" w="2624328">
                    <a:moveTo>
                      <a:pt x="0" y="166370"/>
                    </a:moveTo>
                    <a:cubicBezTo>
                      <a:pt x="0" y="74422"/>
                      <a:pt x="74422" y="0"/>
                      <a:pt x="166370" y="0"/>
                    </a:cubicBezTo>
                    <a:lnTo>
                      <a:pt x="2457958" y="0"/>
                    </a:lnTo>
                    <a:cubicBezTo>
                      <a:pt x="2549779" y="0"/>
                      <a:pt x="2624328" y="74422"/>
                      <a:pt x="2624328" y="166370"/>
                    </a:cubicBezTo>
                    <a:lnTo>
                      <a:pt x="2624328" y="3794125"/>
                    </a:lnTo>
                    <a:cubicBezTo>
                      <a:pt x="2624328" y="3885946"/>
                      <a:pt x="2549906" y="3960495"/>
                      <a:pt x="2457958" y="3960495"/>
                    </a:cubicBezTo>
                    <a:lnTo>
                      <a:pt x="166370" y="3960495"/>
                    </a:lnTo>
                    <a:cubicBezTo>
                      <a:pt x="74549" y="3960495"/>
                      <a:pt x="0" y="3886073"/>
                      <a:pt x="0" y="3794125"/>
                    </a:cubicBezTo>
                    <a:close/>
                  </a:path>
                </a:pathLst>
              </a:custGeom>
              <a:solidFill>
                <a:srgbClr val="F7FAFB"/>
              </a:solidFill>
              <a:ln w="19065" cap="sq">
                <a:solidFill>
                  <a:srgbClr val="DCE6E9"/>
                </a:solidFill>
                <a:prstDash val="solid"/>
                <a:miter/>
              </a:ln>
            </p:spPr>
          </p:sp>
        </p:grpSp>
        <p:grpSp>
          <p:nvGrpSpPr>
            <p:cNvPr name="Group 35" id="35"/>
            <p:cNvGrpSpPr/>
            <p:nvPr/>
          </p:nvGrpSpPr>
          <p:grpSpPr>
            <a:xfrm rot="0">
              <a:off x="7119595" y="525170"/>
              <a:ext cx="1281163" cy="1281163"/>
              <a:chOff x="0" y="0"/>
              <a:chExt cx="1281163" cy="1281163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281176" cy="1281176"/>
              </a:xfrm>
              <a:custGeom>
                <a:avLst/>
                <a:gdLst/>
                <a:ahLst/>
                <a:cxnLst/>
                <a:rect r="r" b="b" t="t" l="l"/>
                <a:pathLst>
                  <a:path h="1281176" w="1281176">
                    <a:moveTo>
                      <a:pt x="0" y="640588"/>
                    </a:moveTo>
                    <a:cubicBezTo>
                      <a:pt x="0" y="286766"/>
                      <a:pt x="286766" y="0"/>
                      <a:pt x="640588" y="0"/>
                    </a:cubicBezTo>
                    <a:cubicBezTo>
                      <a:pt x="994410" y="0"/>
                      <a:pt x="1281176" y="286766"/>
                      <a:pt x="1281176" y="640588"/>
                    </a:cubicBezTo>
                    <a:cubicBezTo>
                      <a:pt x="1281176" y="994410"/>
                      <a:pt x="994410" y="1281176"/>
                      <a:pt x="640588" y="1281176"/>
                    </a:cubicBezTo>
                    <a:cubicBezTo>
                      <a:pt x="286766" y="1281176"/>
                      <a:pt x="0" y="994410"/>
                      <a:pt x="0" y="640588"/>
                    </a:cubicBezTo>
                    <a:close/>
                  </a:path>
                </a:pathLst>
              </a:custGeom>
              <a:solidFill>
                <a:srgbClr val="1C7293"/>
              </a:solidFill>
            </p:spPr>
          </p:sp>
        </p:grpSp>
        <p:grpSp>
          <p:nvGrpSpPr>
            <p:cNvPr name="Group 37" id="37"/>
            <p:cNvGrpSpPr/>
            <p:nvPr/>
          </p:nvGrpSpPr>
          <p:grpSpPr>
            <a:xfrm rot="0">
              <a:off x="7286155" y="691718"/>
              <a:ext cx="948055" cy="948055"/>
              <a:chOff x="0" y="0"/>
              <a:chExt cx="948055" cy="948055"/>
            </a:xfrm>
          </p:grpSpPr>
          <p:sp>
            <p:nvSpPr>
              <p:cNvPr name="Freeform 38" id="38" descr="/home/claude/proj/icons/sparse_white.png"/>
              <p:cNvSpPr/>
              <p:nvPr/>
            </p:nvSpPr>
            <p:spPr>
              <a:xfrm flipH="false" flipV="false" rot="0">
                <a:off x="0" y="0"/>
                <a:ext cx="948055" cy="948055"/>
              </a:xfrm>
              <a:custGeom>
                <a:avLst/>
                <a:gdLst/>
                <a:ahLst/>
                <a:cxnLst/>
                <a:rect r="r" b="b" t="t" l="l"/>
                <a:pathLst>
                  <a:path h="948055" w="948055">
                    <a:moveTo>
                      <a:pt x="0" y="0"/>
                    </a:moveTo>
                    <a:lnTo>
                      <a:pt x="948055" y="0"/>
                    </a:lnTo>
                    <a:lnTo>
                      <a:pt x="948055" y="948055"/>
                    </a:lnTo>
                    <a:lnTo>
                      <a:pt x="0" y="94805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l="0" t="0" r="0" b="0"/>
                </a:stretch>
              </a:blipFill>
            </p:spPr>
          </p:sp>
        </p:grpSp>
        <p:sp>
          <p:nvSpPr>
            <p:cNvPr name="TextBox 39" id="39"/>
            <p:cNvSpPr txBox="true"/>
            <p:nvPr/>
          </p:nvSpPr>
          <p:spPr>
            <a:xfrm rot="0">
              <a:off x="6369202" y="2098421"/>
              <a:ext cx="2781948" cy="15747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91"/>
                </a:lnSpc>
              </a:pPr>
              <a:r>
                <a:rPr lang="en-US" sz="1576" b="true">
                  <a:solidFill>
                    <a:srgbClr val="212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Sparse Slice</a:t>
              </a:r>
            </a:p>
            <a:p>
              <a:pPr algn="ctr">
                <a:lnSpc>
                  <a:spcPts val="1891"/>
                </a:lnSpc>
              </a:pPr>
              <a:r>
                <a:rPr lang="en-US" sz="1576" b="true">
                  <a:solidFill>
                    <a:srgbClr val="212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Generation</a:t>
              </a:r>
            </a:p>
          </p:txBody>
        </p:sp>
        <p:grpSp>
          <p:nvGrpSpPr>
            <p:cNvPr name="Group 40" id="40"/>
            <p:cNvGrpSpPr/>
            <p:nvPr/>
          </p:nvGrpSpPr>
          <p:grpSpPr>
            <a:xfrm rot="0">
              <a:off x="9096248" y="1623314"/>
              <a:ext cx="512470" cy="439255"/>
              <a:chOff x="0" y="0"/>
              <a:chExt cx="512470" cy="439255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512445" cy="439293"/>
              </a:xfrm>
              <a:custGeom>
                <a:avLst/>
                <a:gdLst/>
                <a:ahLst/>
                <a:cxnLst/>
                <a:rect r="r" b="b" t="t" l="l"/>
                <a:pathLst>
                  <a:path h="439293" w="512445">
                    <a:moveTo>
                      <a:pt x="0" y="109855"/>
                    </a:moveTo>
                    <a:lnTo>
                      <a:pt x="292862" y="109855"/>
                    </a:lnTo>
                    <a:lnTo>
                      <a:pt x="292862" y="0"/>
                    </a:lnTo>
                    <a:lnTo>
                      <a:pt x="512445" y="219583"/>
                    </a:lnTo>
                    <a:lnTo>
                      <a:pt x="292862" y="439293"/>
                    </a:lnTo>
                    <a:lnTo>
                      <a:pt x="292862" y="329438"/>
                    </a:lnTo>
                    <a:lnTo>
                      <a:pt x="0" y="329438"/>
                    </a:lnTo>
                    <a:close/>
                  </a:path>
                </a:pathLst>
              </a:custGeom>
              <a:solidFill>
                <a:srgbClr val="50808E"/>
              </a:solidFill>
            </p:spPr>
          </p:sp>
        </p:grpSp>
        <p:grpSp>
          <p:nvGrpSpPr>
            <p:cNvPr name="Group 42" id="42"/>
            <p:cNvGrpSpPr/>
            <p:nvPr/>
          </p:nvGrpSpPr>
          <p:grpSpPr>
            <a:xfrm rot="0">
              <a:off x="9632607" y="0"/>
              <a:ext cx="2624341" cy="3960419"/>
              <a:chOff x="0" y="0"/>
              <a:chExt cx="2624341" cy="3960419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2624328" cy="3960495"/>
              </a:xfrm>
              <a:custGeom>
                <a:avLst/>
                <a:gdLst/>
                <a:ahLst/>
                <a:cxnLst/>
                <a:rect r="r" b="b" t="t" l="l"/>
                <a:pathLst>
                  <a:path h="3960495" w="2624328">
                    <a:moveTo>
                      <a:pt x="0" y="166370"/>
                    </a:moveTo>
                    <a:cubicBezTo>
                      <a:pt x="0" y="74422"/>
                      <a:pt x="74422" y="0"/>
                      <a:pt x="166370" y="0"/>
                    </a:cubicBezTo>
                    <a:lnTo>
                      <a:pt x="2457958" y="0"/>
                    </a:lnTo>
                    <a:cubicBezTo>
                      <a:pt x="2549779" y="0"/>
                      <a:pt x="2624328" y="74422"/>
                      <a:pt x="2624328" y="166370"/>
                    </a:cubicBezTo>
                    <a:lnTo>
                      <a:pt x="2624328" y="3794125"/>
                    </a:lnTo>
                    <a:cubicBezTo>
                      <a:pt x="2624328" y="3885946"/>
                      <a:pt x="2549906" y="3960495"/>
                      <a:pt x="2457958" y="3960495"/>
                    </a:cubicBezTo>
                    <a:lnTo>
                      <a:pt x="166370" y="3960495"/>
                    </a:lnTo>
                    <a:cubicBezTo>
                      <a:pt x="74549" y="3960495"/>
                      <a:pt x="0" y="3886073"/>
                      <a:pt x="0" y="3794125"/>
                    </a:cubicBezTo>
                    <a:close/>
                  </a:path>
                </a:pathLst>
              </a:custGeom>
              <a:solidFill>
                <a:srgbClr val="F7FAFB"/>
              </a:solidFill>
              <a:ln w="19065" cap="sq">
                <a:solidFill>
                  <a:srgbClr val="DCE6E9"/>
                </a:solidFill>
                <a:prstDash val="solid"/>
                <a:miter/>
              </a:ln>
            </p:spPr>
          </p:sp>
        </p:grpSp>
        <p:grpSp>
          <p:nvGrpSpPr>
            <p:cNvPr name="Group 44" id="44"/>
            <p:cNvGrpSpPr/>
            <p:nvPr/>
          </p:nvGrpSpPr>
          <p:grpSpPr>
            <a:xfrm rot="0">
              <a:off x="10304196" y="525170"/>
              <a:ext cx="1281163" cy="1281163"/>
              <a:chOff x="0" y="0"/>
              <a:chExt cx="1281163" cy="1281163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1281176" cy="1281176"/>
              </a:xfrm>
              <a:custGeom>
                <a:avLst/>
                <a:gdLst/>
                <a:ahLst/>
                <a:cxnLst/>
                <a:rect r="r" b="b" t="t" l="l"/>
                <a:pathLst>
                  <a:path h="1281176" w="1281176">
                    <a:moveTo>
                      <a:pt x="0" y="640588"/>
                    </a:moveTo>
                    <a:cubicBezTo>
                      <a:pt x="0" y="286766"/>
                      <a:pt x="286766" y="0"/>
                      <a:pt x="640588" y="0"/>
                    </a:cubicBezTo>
                    <a:cubicBezTo>
                      <a:pt x="994410" y="0"/>
                      <a:pt x="1281176" y="286766"/>
                      <a:pt x="1281176" y="640588"/>
                    </a:cubicBezTo>
                    <a:cubicBezTo>
                      <a:pt x="1281176" y="994410"/>
                      <a:pt x="994410" y="1281176"/>
                      <a:pt x="640588" y="1281176"/>
                    </a:cubicBezTo>
                    <a:cubicBezTo>
                      <a:pt x="286766" y="1281176"/>
                      <a:pt x="0" y="994410"/>
                      <a:pt x="0" y="640588"/>
                    </a:cubicBezTo>
                    <a:close/>
                  </a:path>
                </a:pathLst>
              </a:custGeom>
              <a:solidFill>
                <a:srgbClr val="21295C"/>
              </a:solidFill>
            </p:spPr>
          </p:sp>
        </p:grpSp>
        <p:grpSp>
          <p:nvGrpSpPr>
            <p:cNvPr name="Group 46" id="46"/>
            <p:cNvGrpSpPr/>
            <p:nvPr/>
          </p:nvGrpSpPr>
          <p:grpSpPr>
            <a:xfrm rot="0">
              <a:off x="10470744" y="691718"/>
              <a:ext cx="948055" cy="948055"/>
              <a:chOff x="0" y="0"/>
              <a:chExt cx="948055" cy="948055"/>
            </a:xfrm>
          </p:grpSpPr>
          <p:sp>
            <p:nvSpPr>
              <p:cNvPr name="Freeform 47" id="47" descr="/home/claude/proj/icons/brain_white.png"/>
              <p:cNvSpPr/>
              <p:nvPr/>
            </p:nvSpPr>
            <p:spPr>
              <a:xfrm flipH="false" flipV="false" rot="0">
                <a:off x="0" y="0"/>
                <a:ext cx="948055" cy="948055"/>
              </a:xfrm>
              <a:custGeom>
                <a:avLst/>
                <a:gdLst/>
                <a:ahLst/>
                <a:cxnLst/>
                <a:rect r="r" b="b" t="t" l="l"/>
                <a:pathLst>
                  <a:path h="948055" w="948055">
                    <a:moveTo>
                      <a:pt x="0" y="0"/>
                    </a:moveTo>
                    <a:lnTo>
                      <a:pt x="948055" y="0"/>
                    </a:lnTo>
                    <a:lnTo>
                      <a:pt x="948055" y="948055"/>
                    </a:lnTo>
                    <a:lnTo>
                      <a:pt x="0" y="94805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 l="0" t="0" r="0" b="0"/>
                </a:stretch>
              </a:blipFill>
            </p:spPr>
          </p:sp>
        </p:grpSp>
        <p:sp>
          <p:nvSpPr>
            <p:cNvPr name="TextBox 48" id="48"/>
            <p:cNvSpPr txBox="true"/>
            <p:nvPr/>
          </p:nvSpPr>
          <p:spPr>
            <a:xfrm rot="0">
              <a:off x="9553804" y="2098421"/>
              <a:ext cx="2781948" cy="15747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91"/>
                </a:lnSpc>
              </a:pPr>
              <a:r>
                <a:rPr lang="en-US" sz="1576" b="true">
                  <a:solidFill>
                    <a:srgbClr val="212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Conditional</a:t>
              </a:r>
            </a:p>
            <a:p>
              <a:pPr algn="ctr">
                <a:lnSpc>
                  <a:spcPts val="1891"/>
                </a:lnSpc>
              </a:pPr>
              <a:r>
                <a:rPr lang="en-US" sz="1576" b="true">
                  <a:solidFill>
                    <a:srgbClr val="212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Diffusion Model</a:t>
              </a:r>
            </a:p>
          </p:txBody>
        </p:sp>
        <p:grpSp>
          <p:nvGrpSpPr>
            <p:cNvPr name="Group 49" id="49"/>
            <p:cNvGrpSpPr/>
            <p:nvPr/>
          </p:nvGrpSpPr>
          <p:grpSpPr>
            <a:xfrm rot="0">
              <a:off x="12280849" y="1623314"/>
              <a:ext cx="512470" cy="439255"/>
              <a:chOff x="0" y="0"/>
              <a:chExt cx="512470" cy="439255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512445" cy="439293"/>
              </a:xfrm>
              <a:custGeom>
                <a:avLst/>
                <a:gdLst/>
                <a:ahLst/>
                <a:cxnLst/>
                <a:rect r="r" b="b" t="t" l="l"/>
                <a:pathLst>
                  <a:path h="439293" w="512445">
                    <a:moveTo>
                      <a:pt x="0" y="109855"/>
                    </a:moveTo>
                    <a:lnTo>
                      <a:pt x="292862" y="109855"/>
                    </a:lnTo>
                    <a:lnTo>
                      <a:pt x="292862" y="0"/>
                    </a:lnTo>
                    <a:lnTo>
                      <a:pt x="512445" y="219583"/>
                    </a:lnTo>
                    <a:lnTo>
                      <a:pt x="292862" y="439293"/>
                    </a:lnTo>
                    <a:lnTo>
                      <a:pt x="292862" y="329438"/>
                    </a:lnTo>
                    <a:lnTo>
                      <a:pt x="0" y="329438"/>
                    </a:lnTo>
                    <a:close/>
                  </a:path>
                </a:pathLst>
              </a:custGeom>
              <a:solidFill>
                <a:srgbClr val="50808E"/>
              </a:solidFill>
            </p:spPr>
          </p:sp>
        </p:grpSp>
        <p:grpSp>
          <p:nvGrpSpPr>
            <p:cNvPr name="Group 51" id="51"/>
            <p:cNvGrpSpPr/>
            <p:nvPr/>
          </p:nvGrpSpPr>
          <p:grpSpPr>
            <a:xfrm rot="0">
              <a:off x="12817208" y="0"/>
              <a:ext cx="2624341" cy="3960419"/>
              <a:chOff x="0" y="0"/>
              <a:chExt cx="2624341" cy="3960419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2624328" cy="3960495"/>
              </a:xfrm>
              <a:custGeom>
                <a:avLst/>
                <a:gdLst/>
                <a:ahLst/>
                <a:cxnLst/>
                <a:rect r="r" b="b" t="t" l="l"/>
                <a:pathLst>
                  <a:path h="3960495" w="2624328">
                    <a:moveTo>
                      <a:pt x="0" y="166370"/>
                    </a:moveTo>
                    <a:cubicBezTo>
                      <a:pt x="0" y="74422"/>
                      <a:pt x="74422" y="0"/>
                      <a:pt x="166370" y="0"/>
                    </a:cubicBezTo>
                    <a:lnTo>
                      <a:pt x="2457958" y="0"/>
                    </a:lnTo>
                    <a:cubicBezTo>
                      <a:pt x="2549779" y="0"/>
                      <a:pt x="2624328" y="74422"/>
                      <a:pt x="2624328" y="166370"/>
                    </a:cubicBezTo>
                    <a:lnTo>
                      <a:pt x="2624328" y="3794125"/>
                    </a:lnTo>
                    <a:cubicBezTo>
                      <a:pt x="2624328" y="3885946"/>
                      <a:pt x="2549906" y="3960495"/>
                      <a:pt x="2457958" y="3960495"/>
                    </a:cubicBezTo>
                    <a:lnTo>
                      <a:pt x="166370" y="3960495"/>
                    </a:lnTo>
                    <a:cubicBezTo>
                      <a:pt x="74549" y="3960495"/>
                      <a:pt x="0" y="3886073"/>
                      <a:pt x="0" y="3794125"/>
                    </a:cubicBezTo>
                    <a:close/>
                  </a:path>
                </a:pathLst>
              </a:custGeom>
              <a:solidFill>
                <a:srgbClr val="F7FAFB"/>
              </a:solidFill>
              <a:ln w="19065" cap="sq">
                <a:solidFill>
                  <a:srgbClr val="DCE6E9"/>
                </a:solidFill>
                <a:prstDash val="solid"/>
                <a:miter/>
              </a:ln>
            </p:spPr>
          </p:sp>
        </p:grpSp>
        <p:grpSp>
          <p:nvGrpSpPr>
            <p:cNvPr name="Group 53" id="53"/>
            <p:cNvGrpSpPr/>
            <p:nvPr/>
          </p:nvGrpSpPr>
          <p:grpSpPr>
            <a:xfrm rot="0">
              <a:off x="13488797" y="525170"/>
              <a:ext cx="1281163" cy="1281163"/>
              <a:chOff x="0" y="0"/>
              <a:chExt cx="1281163" cy="1281163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1281176" cy="1281176"/>
              </a:xfrm>
              <a:custGeom>
                <a:avLst/>
                <a:gdLst/>
                <a:ahLst/>
                <a:cxnLst/>
                <a:rect r="r" b="b" t="t" l="l"/>
                <a:pathLst>
                  <a:path h="1281176" w="1281176">
                    <a:moveTo>
                      <a:pt x="0" y="640588"/>
                    </a:moveTo>
                    <a:cubicBezTo>
                      <a:pt x="0" y="286766"/>
                      <a:pt x="286766" y="0"/>
                      <a:pt x="640588" y="0"/>
                    </a:cubicBezTo>
                    <a:cubicBezTo>
                      <a:pt x="994410" y="0"/>
                      <a:pt x="1281176" y="286766"/>
                      <a:pt x="1281176" y="640588"/>
                    </a:cubicBezTo>
                    <a:cubicBezTo>
                      <a:pt x="1281176" y="994410"/>
                      <a:pt x="994410" y="1281176"/>
                      <a:pt x="640588" y="1281176"/>
                    </a:cubicBezTo>
                    <a:cubicBezTo>
                      <a:pt x="286766" y="1281176"/>
                      <a:pt x="0" y="994410"/>
                      <a:pt x="0" y="640588"/>
                    </a:cubicBezTo>
                    <a:close/>
                  </a:path>
                </a:pathLst>
              </a:custGeom>
              <a:solidFill>
                <a:srgbClr val="1C7293"/>
              </a:solidFill>
            </p:spPr>
          </p:sp>
        </p:grpSp>
        <p:grpSp>
          <p:nvGrpSpPr>
            <p:cNvPr name="Group 55" id="55"/>
            <p:cNvGrpSpPr/>
            <p:nvPr/>
          </p:nvGrpSpPr>
          <p:grpSpPr>
            <a:xfrm rot="0">
              <a:off x="13655345" y="691718"/>
              <a:ext cx="948055" cy="948055"/>
              <a:chOff x="0" y="0"/>
              <a:chExt cx="948055" cy="948055"/>
            </a:xfrm>
          </p:grpSpPr>
          <p:sp>
            <p:nvSpPr>
              <p:cNvPr name="Freeform 56" id="56" descr="/home/claude/proj/icons/wand_white.png"/>
              <p:cNvSpPr/>
              <p:nvPr/>
            </p:nvSpPr>
            <p:spPr>
              <a:xfrm flipH="false" flipV="false" rot="0">
                <a:off x="0" y="0"/>
                <a:ext cx="948055" cy="948055"/>
              </a:xfrm>
              <a:custGeom>
                <a:avLst/>
                <a:gdLst/>
                <a:ahLst/>
                <a:cxnLst/>
                <a:rect r="r" b="b" t="t" l="l"/>
                <a:pathLst>
                  <a:path h="948055" w="948055">
                    <a:moveTo>
                      <a:pt x="0" y="0"/>
                    </a:moveTo>
                    <a:lnTo>
                      <a:pt x="948055" y="0"/>
                    </a:lnTo>
                    <a:lnTo>
                      <a:pt x="948055" y="948055"/>
                    </a:lnTo>
                    <a:lnTo>
                      <a:pt x="0" y="94805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0" t="0" r="0" b="0"/>
                </a:stretch>
              </a:blipFill>
            </p:spPr>
          </p:sp>
        </p:grpSp>
        <p:sp>
          <p:nvSpPr>
            <p:cNvPr name="TextBox 57" id="57"/>
            <p:cNvSpPr txBox="true"/>
            <p:nvPr/>
          </p:nvSpPr>
          <p:spPr>
            <a:xfrm rot="0">
              <a:off x="12738405" y="2098421"/>
              <a:ext cx="2781948" cy="15747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91"/>
                </a:lnSpc>
              </a:pPr>
              <a:r>
                <a:rPr lang="en-US" sz="1576" b="true">
                  <a:solidFill>
                    <a:srgbClr val="212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Missing Slice</a:t>
              </a:r>
            </a:p>
            <a:p>
              <a:pPr algn="ctr">
                <a:lnSpc>
                  <a:spcPts val="1891"/>
                </a:lnSpc>
              </a:pPr>
              <a:r>
                <a:rPr lang="en-US" sz="1576" b="true">
                  <a:solidFill>
                    <a:srgbClr val="212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Prediction</a:t>
              </a:r>
            </a:p>
          </p:txBody>
        </p:sp>
        <p:grpSp>
          <p:nvGrpSpPr>
            <p:cNvPr name="Group 58" id="58"/>
            <p:cNvGrpSpPr/>
            <p:nvPr/>
          </p:nvGrpSpPr>
          <p:grpSpPr>
            <a:xfrm rot="0">
              <a:off x="15465450" y="1623314"/>
              <a:ext cx="512470" cy="439255"/>
              <a:chOff x="0" y="0"/>
              <a:chExt cx="512470" cy="439255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512445" cy="439293"/>
              </a:xfrm>
              <a:custGeom>
                <a:avLst/>
                <a:gdLst/>
                <a:ahLst/>
                <a:cxnLst/>
                <a:rect r="r" b="b" t="t" l="l"/>
                <a:pathLst>
                  <a:path h="439293" w="512445">
                    <a:moveTo>
                      <a:pt x="0" y="109855"/>
                    </a:moveTo>
                    <a:lnTo>
                      <a:pt x="292862" y="109855"/>
                    </a:lnTo>
                    <a:lnTo>
                      <a:pt x="292862" y="0"/>
                    </a:lnTo>
                    <a:lnTo>
                      <a:pt x="512445" y="219583"/>
                    </a:lnTo>
                    <a:lnTo>
                      <a:pt x="292862" y="439293"/>
                    </a:lnTo>
                    <a:lnTo>
                      <a:pt x="292862" y="329438"/>
                    </a:lnTo>
                    <a:lnTo>
                      <a:pt x="0" y="329438"/>
                    </a:lnTo>
                    <a:close/>
                  </a:path>
                </a:pathLst>
              </a:custGeom>
              <a:solidFill>
                <a:srgbClr val="50808E"/>
              </a:solidFill>
            </p:spPr>
          </p:sp>
        </p:grpSp>
        <p:grpSp>
          <p:nvGrpSpPr>
            <p:cNvPr name="Group 60" id="60"/>
            <p:cNvGrpSpPr/>
            <p:nvPr/>
          </p:nvGrpSpPr>
          <p:grpSpPr>
            <a:xfrm rot="0">
              <a:off x="16001809" y="0"/>
              <a:ext cx="2624341" cy="3960419"/>
              <a:chOff x="0" y="0"/>
              <a:chExt cx="2624341" cy="3960419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2624328" cy="3960495"/>
              </a:xfrm>
              <a:custGeom>
                <a:avLst/>
                <a:gdLst/>
                <a:ahLst/>
                <a:cxnLst/>
                <a:rect r="r" b="b" t="t" l="l"/>
                <a:pathLst>
                  <a:path h="3960495" w="2624328">
                    <a:moveTo>
                      <a:pt x="0" y="166370"/>
                    </a:moveTo>
                    <a:cubicBezTo>
                      <a:pt x="0" y="74422"/>
                      <a:pt x="74422" y="0"/>
                      <a:pt x="166370" y="0"/>
                    </a:cubicBezTo>
                    <a:lnTo>
                      <a:pt x="2457958" y="0"/>
                    </a:lnTo>
                    <a:cubicBezTo>
                      <a:pt x="2549779" y="0"/>
                      <a:pt x="2624328" y="74422"/>
                      <a:pt x="2624328" y="166370"/>
                    </a:cubicBezTo>
                    <a:lnTo>
                      <a:pt x="2624328" y="3794125"/>
                    </a:lnTo>
                    <a:cubicBezTo>
                      <a:pt x="2624328" y="3885946"/>
                      <a:pt x="2549906" y="3960495"/>
                      <a:pt x="2457958" y="3960495"/>
                    </a:cubicBezTo>
                    <a:lnTo>
                      <a:pt x="166370" y="3960495"/>
                    </a:lnTo>
                    <a:cubicBezTo>
                      <a:pt x="74549" y="3960495"/>
                      <a:pt x="0" y="3886073"/>
                      <a:pt x="0" y="3794125"/>
                    </a:cubicBezTo>
                    <a:close/>
                  </a:path>
                </a:pathLst>
              </a:custGeom>
              <a:solidFill>
                <a:srgbClr val="F7FAFB"/>
              </a:solidFill>
              <a:ln w="19065" cap="sq">
                <a:solidFill>
                  <a:srgbClr val="DCE6E9"/>
                </a:solidFill>
                <a:prstDash val="solid"/>
                <a:miter/>
              </a:ln>
            </p:spPr>
          </p:sp>
        </p:grpSp>
        <p:grpSp>
          <p:nvGrpSpPr>
            <p:cNvPr name="Group 62" id="62"/>
            <p:cNvGrpSpPr/>
            <p:nvPr/>
          </p:nvGrpSpPr>
          <p:grpSpPr>
            <a:xfrm rot="0">
              <a:off x="16673398" y="525170"/>
              <a:ext cx="1281163" cy="1281163"/>
              <a:chOff x="0" y="0"/>
              <a:chExt cx="1281163" cy="1281163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1281176" cy="1281176"/>
              </a:xfrm>
              <a:custGeom>
                <a:avLst/>
                <a:gdLst/>
                <a:ahLst/>
                <a:cxnLst/>
                <a:rect r="r" b="b" t="t" l="l"/>
                <a:pathLst>
                  <a:path h="1281176" w="1281176">
                    <a:moveTo>
                      <a:pt x="0" y="640588"/>
                    </a:moveTo>
                    <a:cubicBezTo>
                      <a:pt x="0" y="286766"/>
                      <a:pt x="286766" y="0"/>
                      <a:pt x="640588" y="0"/>
                    </a:cubicBezTo>
                    <a:cubicBezTo>
                      <a:pt x="994410" y="0"/>
                      <a:pt x="1281176" y="286766"/>
                      <a:pt x="1281176" y="640588"/>
                    </a:cubicBezTo>
                    <a:cubicBezTo>
                      <a:pt x="1281176" y="994410"/>
                      <a:pt x="994410" y="1281176"/>
                      <a:pt x="640588" y="1281176"/>
                    </a:cubicBezTo>
                    <a:cubicBezTo>
                      <a:pt x="286766" y="1281176"/>
                      <a:pt x="0" y="994410"/>
                      <a:pt x="0" y="640588"/>
                    </a:cubicBezTo>
                    <a:close/>
                  </a:path>
                </a:pathLst>
              </a:custGeom>
              <a:solidFill>
                <a:srgbClr val="065A82"/>
              </a:solidFill>
            </p:spPr>
          </p:sp>
        </p:grpSp>
        <p:grpSp>
          <p:nvGrpSpPr>
            <p:cNvPr name="Group 64" id="64"/>
            <p:cNvGrpSpPr/>
            <p:nvPr/>
          </p:nvGrpSpPr>
          <p:grpSpPr>
            <a:xfrm rot="0">
              <a:off x="16839946" y="691718"/>
              <a:ext cx="948055" cy="948055"/>
              <a:chOff x="0" y="0"/>
              <a:chExt cx="948055" cy="948055"/>
            </a:xfrm>
          </p:grpSpPr>
          <p:sp>
            <p:nvSpPr>
              <p:cNvPr name="Freeform 65" id="65" descr="/home/claude/proj/icons/cube_white.png"/>
              <p:cNvSpPr/>
              <p:nvPr/>
            </p:nvSpPr>
            <p:spPr>
              <a:xfrm flipH="false" flipV="false" rot="0">
                <a:off x="0" y="0"/>
                <a:ext cx="948055" cy="948055"/>
              </a:xfrm>
              <a:custGeom>
                <a:avLst/>
                <a:gdLst/>
                <a:ahLst/>
                <a:cxnLst/>
                <a:rect r="r" b="b" t="t" l="l"/>
                <a:pathLst>
                  <a:path h="948055" w="948055">
                    <a:moveTo>
                      <a:pt x="0" y="0"/>
                    </a:moveTo>
                    <a:lnTo>
                      <a:pt x="948055" y="0"/>
                    </a:lnTo>
                    <a:lnTo>
                      <a:pt x="948055" y="948055"/>
                    </a:lnTo>
                    <a:lnTo>
                      <a:pt x="0" y="94805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0" t="0" r="0" b="0"/>
                </a:stretch>
              </a:blipFill>
            </p:spPr>
          </p:sp>
        </p:grpSp>
        <p:sp>
          <p:nvSpPr>
            <p:cNvPr name="TextBox 66" id="66"/>
            <p:cNvSpPr txBox="true"/>
            <p:nvPr/>
          </p:nvSpPr>
          <p:spPr>
            <a:xfrm rot="0">
              <a:off x="15923006" y="2098421"/>
              <a:ext cx="2781948" cy="15747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91"/>
                </a:lnSpc>
              </a:pPr>
              <a:r>
                <a:rPr lang="en-US" sz="1576" b="true">
                  <a:solidFill>
                    <a:srgbClr val="212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3D</a:t>
              </a:r>
            </a:p>
            <a:p>
              <a:pPr algn="ctr">
                <a:lnSpc>
                  <a:spcPts val="1891"/>
                </a:lnSpc>
              </a:pPr>
              <a:r>
                <a:rPr lang="en-US" sz="1576" b="true">
                  <a:solidFill>
                    <a:srgbClr val="212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Reconstruction</a:t>
              </a:r>
            </a:p>
          </p:txBody>
        </p:sp>
        <p:grpSp>
          <p:nvGrpSpPr>
            <p:cNvPr name="Group 67" id="67"/>
            <p:cNvGrpSpPr/>
            <p:nvPr/>
          </p:nvGrpSpPr>
          <p:grpSpPr>
            <a:xfrm rot="0">
              <a:off x="18650052" y="1623314"/>
              <a:ext cx="512470" cy="439255"/>
              <a:chOff x="0" y="0"/>
              <a:chExt cx="512470" cy="439255"/>
            </a:xfrm>
          </p:grpSpPr>
          <p:sp>
            <p:nvSpPr>
              <p:cNvPr name="Freeform 68" id="68"/>
              <p:cNvSpPr/>
              <p:nvPr/>
            </p:nvSpPr>
            <p:spPr>
              <a:xfrm flipH="false" flipV="false" rot="0">
                <a:off x="0" y="0"/>
                <a:ext cx="512445" cy="439293"/>
              </a:xfrm>
              <a:custGeom>
                <a:avLst/>
                <a:gdLst/>
                <a:ahLst/>
                <a:cxnLst/>
                <a:rect r="r" b="b" t="t" l="l"/>
                <a:pathLst>
                  <a:path h="439293" w="512445">
                    <a:moveTo>
                      <a:pt x="0" y="109855"/>
                    </a:moveTo>
                    <a:lnTo>
                      <a:pt x="292862" y="109855"/>
                    </a:lnTo>
                    <a:lnTo>
                      <a:pt x="292862" y="0"/>
                    </a:lnTo>
                    <a:lnTo>
                      <a:pt x="512445" y="219583"/>
                    </a:lnTo>
                    <a:lnTo>
                      <a:pt x="292862" y="439293"/>
                    </a:lnTo>
                    <a:lnTo>
                      <a:pt x="292862" y="329438"/>
                    </a:lnTo>
                    <a:lnTo>
                      <a:pt x="0" y="329438"/>
                    </a:lnTo>
                    <a:close/>
                  </a:path>
                </a:pathLst>
              </a:custGeom>
              <a:solidFill>
                <a:srgbClr val="50808E"/>
              </a:solidFill>
            </p:spPr>
          </p:sp>
        </p:grpSp>
        <p:grpSp>
          <p:nvGrpSpPr>
            <p:cNvPr name="Group 69" id="69"/>
            <p:cNvGrpSpPr/>
            <p:nvPr/>
          </p:nvGrpSpPr>
          <p:grpSpPr>
            <a:xfrm rot="0">
              <a:off x="19186411" y="0"/>
              <a:ext cx="2624341" cy="3960419"/>
              <a:chOff x="0" y="0"/>
              <a:chExt cx="2624341" cy="3960419"/>
            </a:xfrm>
          </p:grpSpPr>
          <p:sp>
            <p:nvSpPr>
              <p:cNvPr name="Freeform 70" id="70"/>
              <p:cNvSpPr/>
              <p:nvPr/>
            </p:nvSpPr>
            <p:spPr>
              <a:xfrm flipH="false" flipV="false" rot="0">
                <a:off x="0" y="0"/>
                <a:ext cx="2624328" cy="3960495"/>
              </a:xfrm>
              <a:custGeom>
                <a:avLst/>
                <a:gdLst/>
                <a:ahLst/>
                <a:cxnLst/>
                <a:rect r="r" b="b" t="t" l="l"/>
                <a:pathLst>
                  <a:path h="3960495" w="2624328">
                    <a:moveTo>
                      <a:pt x="0" y="166370"/>
                    </a:moveTo>
                    <a:cubicBezTo>
                      <a:pt x="0" y="74422"/>
                      <a:pt x="74422" y="0"/>
                      <a:pt x="166370" y="0"/>
                    </a:cubicBezTo>
                    <a:lnTo>
                      <a:pt x="2457958" y="0"/>
                    </a:lnTo>
                    <a:cubicBezTo>
                      <a:pt x="2549779" y="0"/>
                      <a:pt x="2624328" y="74422"/>
                      <a:pt x="2624328" y="166370"/>
                    </a:cubicBezTo>
                    <a:lnTo>
                      <a:pt x="2624328" y="3794125"/>
                    </a:lnTo>
                    <a:cubicBezTo>
                      <a:pt x="2624328" y="3885946"/>
                      <a:pt x="2549906" y="3960495"/>
                      <a:pt x="2457958" y="3960495"/>
                    </a:cubicBezTo>
                    <a:lnTo>
                      <a:pt x="166370" y="3960495"/>
                    </a:lnTo>
                    <a:cubicBezTo>
                      <a:pt x="74549" y="3960495"/>
                      <a:pt x="0" y="3886073"/>
                      <a:pt x="0" y="3794125"/>
                    </a:cubicBezTo>
                    <a:close/>
                  </a:path>
                </a:pathLst>
              </a:custGeom>
              <a:solidFill>
                <a:srgbClr val="F7FAFB"/>
              </a:solidFill>
              <a:ln w="19065" cap="sq">
                <a:solidFill>
                  <a:srgbClr val="DCE6E9"/>
                </a:solidFill>
                <a:prstDash val="solid"/>
                <a:miter/>
              </a:ln>
            </p:spPr>
          </p:sp>
        </p:grpSp>
        <p:grpSp>
          <p:nvGrpSpPr>
            <p:cNvPr name="Group 71" id="71"/>
            <p:cNvGrpSpPr/>
            <p:nvPr/>
          </p:nvGrpSpPr>
          <p:grpSpPr>
            <a:xfrm rot="0">
              <a:off x="19857999" y="525170"/>
              <a:ext cx="1281163" cy="1281163"/>
              <a:chOff x="0" y="0"/>
              <a:chExt cx="1281163" cy="1281163"/>
            </a:xfrm>
          </p:grpSpPr>
          <p:sp>
            <p:nvSpPr>
              <p:cNvPr name="Freeform 72" id="72"/>
              <p:cNvSpPr/>
              <p:nvPr/>
            </p:nvSpPr>
            <p:spPr>
              <a:xfrm flipH="false" flipV="false" rot="0">
                <a:off x="0" y="0"/>
                <a:ext cx="1281176" cy="1281176"/>
              </a:xfrm>
              <a:custGeom>
                <a:avLst/>
                <a:gdLst/>
                <a:ahLst/>
                <a:cxnLst/>
                <a:rect r="r" b="b" t="t" l="l"/>
                <a:pathLst>
                  <a:path h="1281176" w="1281176">
                    <a:moveTo>
                      <a:pt x="0" y="640588"/>
                    </a:moveTo>
                    <a:cubicBezTo>
                      <a:pt x="0" y="286766"/>
                      <a:pt x="286766" y="0"/>
                      <a:pt x="640588" y="0"/>
                    </a:cubicBezTo>
                    <a:cubicBezTo>
                      <a:pt x="994410" y="0"/>
                      <a:pt x="1281176" y="286766"/>
                      <a:pt x="1281176" y="640588"/>
                    </a:cubicBezTo>
                    <a:cubicBezTo>
                      <a:pt x="1281176" y="994410"/>
                      <a:pt x="994410" y="1281176"/>
                      <a:pt x="640588" y="1281176"/>
                    </a:cubicBezTo>
                    <a:cubicBezTo>
                      <a:pt x="286766" y="1281176"/>
                      <a:pt x="0" y="994410"/>
                      <a:pt x="0" y="640588"/>
                    </a:cubicBezTo>
                    <a:close/>
                  </a:path>
                </a:pathLst>
              </a:custGeom>
              <a:solidFill>
                <a:srgbClr val="50808E"/>
              </a:solidFill>
            </p:spPr>
          </p:sp>
        </p:grpSp>
        <p:grpSp>
          <p:nvGrpSpPr>
            <p:cNvPr name="Group 73" id="73"/>
            <p:cNvGrpSpPr/>
            <p:nvPr/>
          </p:nvGrpSpPr>
          <p:grpSpPr>
            <a:xfrm rot="0">
              <a:off x="20024547" y="691718"/>
              <a:ext cx="948055" cy="948055"/>
              <a:chOff x="0" y="0"/>
              <a:chExt cx="948055" cy="948055"/>
            </a:xfrm>
          </p:grpSpPr>
          <p:sp>
            <p:nvSpPr>
              <p:cNvPr name="Freeform 74" id="74" descr="/home/claude/proj/icons/check_white.png"/>
              <p:cNvSpPr/>
              <p:nvPr/>
            </p:nvSpPr>
            <p:spPr>
              <a:xfrm flipH="false" flipV="false" rot="0">
                <a:off x="0" y="0"/>
                <a:ext cx="948055" cy="948055"/>
              </a:xfrm>
              <a:custGeom>
                <a:avLst/>
                <a:gdLst/>
                <a:ahLst/>
                <a:cxnLst/>
                <a:rect r="r" b="b" t="t" l="l"/>
                <a:pathLst>
                  <a:path h="948055" w="948055">
                    <a:moveTo>
                      <a:pt x="0" y="0"/>
                    </a:moveTo>
                    <a:lnTo>
                      <a:pt x="948055" y="0"/>
                    </a:lnTo>
                    <a:lnTo>
                      <a:pt x="948055" y="948055"/>
                    </a:lnTo>
                    <a:lnTo>
                      <a:pt x="0" y="94805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l="0" t="0" r="0" b="0"/>
                </a:stretch>
              </a:blipFill>
            </p:spPr>
          </p:sp>
        </p:grpSp>
        <p:sp>
          <p:nvSpPr>
            <p:cNvPr name="TextBox 75" id="75"/>
            <p:cNvSpPr txBox="true"/>
            <p:nvPr/>
          </p:nvSpPr>
          <p:spPr>
            <a:xfrm rot="0">
              <a:off x="19107607" y="2098421"/>
              <a:ext cx="2781948" cy="15747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91"/>
                </a:lnSpc>
              </a:pPr>
              <a:r>
                <a:rPr lang="en-US" sz="1576" b="true">
                  <a:solidFill>
                    <a:srgbClr val="212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Evaluation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717909" y="6097147"/>
            <a:ext cx="16791899" cy="823603"/>
            <a:chOff x="0" y="0"/>
            <a:chExt cx="22389198" cy="1098138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2389201" cy="1098132"/>
            </a:xfrm>
            <a:custGeom>
              <a:avLst/>
              <a:gdLst/>
              <a:ahLst/>
              <a:cxnLst/>
              <a:rect r="r" b="b" t="t" l="l"/>
              <a:pathLst>
                <a:path h="1098132" w="22389201">
                  <a:moveTo>
                    <a:pt x="0" y="0"/>
                  </a:moveTo>
                  <a:lnTo>
                    <a:pt x="22389201" y="0"/>
                  </a:lnTo>
                  <a:lnTo>
                    <a:pt x="22389201" y="1098132"/>
                  </a:lnTo>
                  <a:lnTo>
                    <a:pt x="0" y="10981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7268" r="0" b="-347269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22389198" cy="11362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1"/>
                </a:lnSpc>
              </a:pPr>
              <a:r>
                <a:rPr lang="en-US" sz="2001" i="true">
                  <a:solidFill>
                    <a:srgbClr val="5B6E7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 modular pipeline: raw scans are preprocessed and artificially sparsified, then a conditional diffusion model predicts missing slices to reconstruct and evaluate the full 3D volume.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698840" y="7416050"/>
            <a:ext cx="16810968" cy="1185831"/>
            <a:chOff x="0" y="0"/>
            <a:chExt cx="22414624" cy="1581108"/>
          </a:xfrm>
        </p:grpSpPr>
        <p:grpSp>
          <p:nvGrpSpPr>
            <p:cNvPr name="Group 80" id="80"/>
            <p:cNvGrpSpPr/>
            <p:nvPr/>
          </p:nvGrpSpPr>
          <p:grpSpPr>
            <a:xfrm rot="0">
              <a:off x="0" y="0"/>
              <a:ext cx="22414624" cy="1581108"/>
              <a:chOff x="0" y="0"/>
              <a:chExt cx="22414624" cy="1581108"/>
            </a:xfrm>
          </p:grpSpPr>
          <p:sp>
            <p:nvSpPr>
              <p:cNvPr name="Freeform 81" id="81"/>
              <p:cNvSpPr/>
              <p:nvPr/>
            </p:nvSpPr>
            <p:spPr>
              <a:xfrm flipH="false" flipV="false" rot="0">
                <a:off x="0" y="0"/>
                <a:ext cx="22414612" cy="1581019"/>
              </a:xfrm>
              <a:custGeom>
                <a:avLst/>
                <a:gdLst/>
                <a:ahLst/>
                <a:cxnLst/>
                <a:rect r="r" b="b" t="t" l="l"/>
                <a:pathLst>
                  <a:path h="1581019" w="22414612">
                    <a:moveTo>
                      <a:pt x="0" y="167386"/>
                    </a:moveTo>
                    <a:cubicBezTo>
                      <a:pt x="0" y="74930"/>
                      <a:pt x="74930" y="0"/>
                      <a:pt x="167386" y="0"/>
                    </a:cubicBezTo>
                    <a:lnTo>
                      <a:pt x="22247225" y="0"/>
                    </a:lnTo>
                    <a:cubicBezTo>
                      <a:pt x="22339681" y="0"/>
                      <a:pt x="22414612" y="74930"/>
                      <a:pt x="22414612" y="167386"/>
                    </a:cubicBezTo>
                    <a:lnTo>
                      <a:pt x="22414612" y="1413634"/>
                    </a:lnTo>
                    <a:cubicBezTo>
                      <a:pt x="22414612" y="1506089"/>
                      <a:pt x="22339681" y="1581019"/>
                      <a:pt x="22247225" y="1581019"/>
                    </a:cubicBezTo>
                    <a:lnTo>
                      <a:pt x="167386" y="1581019"/>
                    </a:lnTo>
                    <a:cubicBezTo>
                      <a:pt x="74930" y="1581146"/>
                      <a:pt x="0" y="1506216"/>
                      <a:pt x="0" y="1413761"/>
                    </a:cubicBezTo>
                    <a:close/>
                  </a:path>
                </a:pathLst>
              </a:custGeom>
              <a:solidFill>
                <a:srgbClr val="EFF5F7"/>
              </a:solidFill>
              <a:ln w="19065" cap="sq">
                <a:solidFill>
                  <a:srgbClr val="DCE6E9"/>
                </a:solidFill>
                <a:prstDash val="solid"/>
                <a:miter/>
              </a:ln>
            </p:spPr>
          </p:sp>
        </p:grpSp>
        <p:grpSp>
          <p:nvGrpSpPr>
            <p:cNvPr name="Group 82" id="82"/>
            <p:cNvGrpSpPr/>
            <p:nvPr/>
          </p:nvGrpSpPr>
          <p:grpSpPr>
            <a:xfrm rot="0">
              <a:off x="561785" y="12713"/>
              <a:ext cx="21291067" cy="1555695"/>
              <a:chOff x="0" y="0"/>
              <a:chExt cx="21291067" cy="1555695"/>
            </a:xfrm>
          </p:grpSpPr>
          <p:sp>
            <p:nvSpPr>
              <p:cNvPr name="Freeform 83" id="83"/>
              <p:cNvSpPr/>
              <p:nvPr/>
            </p:nvSpPr>
            <p:spPr>
              <a:xfrm flipH="false" flipV="false" rot="0">
                <a:off x="0" y="0"/>
                <a:ext cx="21291063" cy="1555692"/>
              </a:xfrm>
              <a:custGeom>
                <a:avLst/>
                <a:gdLst/>
                <a:ahLst/>
                <a:cxnLst/>
                <a:rect r="r" b="b" t="t" l="l"/>
                <a:pathLst>
                  <a:path h="1555692" w="21291063">
                    <a:moveTo>
                      <a:pt x="0" y="0"/>
                    </a:moveTo>
                    <a:lnTo>
                      <a:pt x="21291063" y="0"/>
                    </a:lnTo>
                    <a:lnTo>
                      <a:pt x="21291063" y="1555692"/>
                    </a:lnTo>
                    <a:lnTo>
                      <a:pt x="0" y="155569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6670" r="0" b="-216670"/>
                </a:stretch>
              </a:blipFill>
            </p:spPr>
          </p:sp>
          <p:sp>
            <p:nvSpPr>
              <p:cNvPr name="TextBox 84" id="84"/>
              <p:cNvSpPr txBox="true"/>
              <p:nvPr/>
            </p:nvSpPr>
            <p:spPr>
              <a:xfrm>
                <a:off x="0" y="-38100"/>
                <a:ext cx="21291067" cy="15937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491"/>
                  </a:lnSpc>
                </a:pPr>
                <a:r>
                  <a:rPr lang="en-US" sz="2076" b="true">
                    <a:solidFill>
                      <a:srgbClr val="065A82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Key idea: reframe missing-slice recovery as a conditional generative modeling problem, not simple interpolation.</a:t>
                </a: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971" y="576520"/>
            <a:ext cx="12354049" cy="439255"/>
            <a:chOff x="0" y="0"/>
            <a:chExt cx="16472065" cy="5856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72069" cy="585674"/>
            </a:xfrm>
            <a:custGeom>
              <a:avLst/>
              <a:gdLst/>
              <a:ahLst/>
              <a:cxnLst/>
              <a:rect r="r" b="b" t="t" l="l"/>
              <a:pathLst>
                <a:path h="585674" w="16472069">
                  <a:moveTo>
                    <a:pt x="0" y="0"/>
                  </a:moveTo>
                  <a:lnTo>
                    <a:pt x="16472069" y="0"/>
                  </a:lnTo>
                  <a:lnTo>
                    <a:pt x="16472069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8016" r="0" b="-49801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472065" cy="6237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b="true" sz="1801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CORE TECHNIQUE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971" y="988324"/>
            <a:ext cx="16791899" cy="988324"/>
            <a:chOff x="0" y="0"/>
            <a:chExt cx="22389198" cy="13177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389201" cy="1317765"/>
            </a:xfrm>
            <a:custGeom>
              <a:avLst/>
              <a:gdLst/>
              <a:ahLst/>
              <a:cxnLst/>
              <a:rect r="r" b="b" t="t" l="l"/>
              <a:pathLst>
                <a:path h="1317765" w="22389201">
                  <a:moveTo>
                    <a:pt x="0" y="0"/>
                  </a:moveTo>
                  <a:lnTo>
                    <a:pt x="22389201" y="0"/>
                  </a:lnTo>
                  <a:lnTo>
                    <a:pt x="22389201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1056" r="0" b="-28105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389198" cy="1327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4"/>
                </a:lnSpc>
              </a:pPr>
              <a:r>
                <a:rPr lang="en-US" sz="4503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Conditional Diffusion Model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4971" y="9718519"/>
            <a:ext cx="10981382" cy="411804"/>
            <a:chOff x="0" y="0"/>
            <a:chExt cx="14641843" cy="5490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41840" cy="549069"/>
            </a:xfrm>
            <a:custGeom>
              <a:avLst/>
              <a:gdLst/>
              <a:ahLst/>
              <a:cxnLst/>
              <a:rect r="r" b="b" t="t" l="l"/>
              <a:pathLst>
                <a:path h="549069" w="14641840">
                  <a:moveTo>
                    <a:pt x="0" y="0"/>
                  </a:moveTo>
                  <a:lnTo>
                    <a:pt x="14641840" y="0"/>
                  </a:lnTo>
                  <a:lnTo>
                    <a:pt x="1464184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0" r="0" b="-46960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4641843" cy="5776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>
                  <a:solidFill>
                    <a:srgbClr val="5B6E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3D Reconstruction of Biomedical Tissues — B.Tech Project Proposal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899663" y="9718519"/>
            <a:ext cx="1647206" cy="411804"/>
            <a:chOff x="0" y="0"/>
            <a:chExt cx="2196274" cy="5490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6276" cy="549069"/>
            </a:xfrm>
            <a:custGeom>
              <a:avLst/>
              <a:gdLst/>
              <a:ahLst/>
              <a:cxnLst/>
              <a:rect r="r" b="b" t="t" l="l"/>
              <a:pathLst>
                <a:path h="549069" w="2196276">
                  <a:moveTo>
                    <a:pt x="0" y="0"/>
                  </a:moveTo>
                  <a:lnTo>
                    <a:pt x="2196276" y="0"/>
                  </a:lnTo>
                  <a:lnTo>
                    <a:pt x="219627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39" r="0" b="-2794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2196274" cy="5776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1"/>
                </a:lnSpc>
              </a:pPr>
              <a:r>
                <a:rPr lang="en-US" sz="1351">
                  <a:solidFill>
                    <a:srgbClr val="5B6E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06 / 12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54971" y="2676716"/>
            <a:ext cx="851059" cy="851059"/>
            <a:chOff x="0" y="0"/>
            <a:chExt cx="1134745" cy="113474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34745" cy="1134618"/>
            </a:xfrm>
            <a:custGeom>
              <a:avLst/>
              <a:gdLst/>
              <a:ahLst/>
              <a:cxnLst/>
              <a:rect r="r" b="b" t="t" l="l"/>
              <a:pathLst>
                <a:path h="1134618" w="1134745">
                  <a:moveTo>
                    <a:pt x="0" y="567309"/>
                  </a:moveTo>
                  <a:cubicBezTo>
                    <a:pt x="0" y="254000"/>
                    <a:pt x="254000" y="0"/>
                    <a:pt x="567309" y="0"/>
                  </a:cubicBezTo>
                  <a:cubicBezTo>
                    <a:pt x="880618" y="0"/>
                    <a:pt x="1134745" y="254000"/>
                    <a:pt x="1134745" y="567309"/>
                  </a:cubicBezTo>
                  <a:cubicBezTo>
                    <a:pt x="1134745" y="880618"/>
                    <a:pt x="880745" y="1134618"/>
                    <a:pt x="567436" y="1134618"/>
                  </a:cubicBezTo>
                  <a:cubicBezTo>
                    <a:pt x="254127" y="1134618"/>
                    <a:pt x="0" y="880745"/>
                    <a:pt x="0" y="567309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65603" y="2787348"/>
            <a:ext cx="629783" cy="629783"/>
            <a:chOff x="0" y="0"/>
            <a:chExt cx="839711" cy="839711"/>
          </a:xfrm>
        </p:grpSpPr>
        <p:sp>
          <p:nvSpPr>
            <p:cNvPr name="Freeform 17" id="17" descr="/home/claude/proj/icons/noise_white.png"/>
            <p:cNvSpPr/>
            <p:nvPr/>
          </p:nvSpPr>
          <p:spPr>
            <a:xfrm flipH="false" flipV="false" rot="0">
              <a:off x="0" y="0"/>
              <a:ext cx="839724" cy="839724"/>
            </a:xfrm>
            <a:custGeom>
              <a:avLst/>
              <a:gdLst/>
              <a:ahLst/>
              <a:cxnLst/>
              <a:rect r="r" b="b" t="t" l="l"/>
              <a:pathLst>
                <a:path h="839724" w="839724">
                  <a:moveTo>
                    <a:pt x="0" y="0"/>
                  </a:moveTo>
                  <a:lnTo>
                    <a:pt x="839724" y="0"/>
                  </a:lnTo>
                  <a:lnTo>
                    <a:pt x="839724" y="839724"/>
                  </a:lnTo>
                  <a:lnTo>
                    <a:pt x="0" y="839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1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853108" y="2635529"/>
            <a:ext cx="6588824" cy="439255"/>
            <a:chOff x="0" y="0"/>
            <a:chExt cx="8785098" cy="58567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785103" cy="585674"/>
            </a:xfrm>
            <a:custGeom>
              <a:avLst/>
              <a:gdLst/>
              <a:ahLst/>
              <a:cxnLst/>
              <a:rect r="r" b="b" t="t" l="l"/>
              <a:pathLst>
                <a:path h="585674" w="8785103">
                  <a:moveTo>
                    <a:pt x="0" y="0"/>
                  </a:moveTo>
                  <a:lnTo>
                    <a:pt x="8785103" y="0"/>
                  </a:lnTo>
                  <a:lnTo>
                    <a:pt x="8785103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8785098" cy="595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Gaussian Noise Addition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853108" y="3077870"/>
            <a:ext cx="6657461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5B6E76"/>
                </a:solidFill>
                <a:latin typeface="Calibri (MS)"/>
                <a:ea typeface="Calibri (MS)"/>
                <a:cs typeface="Calibri (MS)"/>
                <a:sym typeface="Calibri (MS)"/>
              </a:rPr>
              <a:t>A forward process gradually corrupts a clean slice with Gaussian noise over many steps.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754971" y="4255284"/>
            <a:ext cx="851059" cy="851059"/>
            <a:chOff x="0" y="0"/>
            <a:chExt cx="1134745" cy="113474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34745" cy="1134618"/>
            </a:xfrm>
            <a:custGeom>
              <a:avLst/>
              <a:gdLst/>
              <a:ahLst/>
              <a:cxnLst/>
              <a:rect r="r" b="b" t="t" l="l"/>
              <a:pathLst>
                <a:path h="1134618" w="1134745">
                  <a:moveTo>
                    <a:pt x="0" y="567309"/>
                  </a:moveTo>
                  <a:cubicBezTo>
                    <a:pt x="0" y="254000"/>
                    <a:pt x="254000" y="0"/>
                    <a:pt x="567309" y="0"/>
                  </a:cubicBezTo>
                  <a:cubicBezTo>
                    <a:pt x="880618" y="0"/>
                    <a:pt x="1134745" y="254000"/>
                    <a:pt x="1134745" y="567309"/>
                  </a:cubicBezTo>
                  <a:cubicBezTo>
                    <a:pt x="1134745" y="880618"/>
                    <a:pt x="880745" y="1134618"/>
                    <a:pt x="567436" y="1134618"/>
                  </a:cubicBezTo>
                  <a:cubicBezTo>
                    <a:pt x="254127" y="1134618"/>
                    <a:pt x="0" y="880745"/>
                    <a:pt x="0" y="567309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65603" y="4365927"/>
            <a:ext cx="629783" cy="629783"/>
            <a:chOff x="0" y="0"/>
            <a:chExt cx="839711" cy="839711"/>
          </a:xfrm>
        </p:grpSpPr>
        <p:sp>
          <p:nvSpPr>
            <p:cNvPr name="Freeform 25" id="25" descr="/home/claude/proj/icons/denoise_white.png"/>
            <p:cNvSpPr/>
            <p:nvPr/>
          </p:nvSpPr>
          <p:spPr>
            <a:xfrm flipH="false" flipV="false" rot="0">
              <a:off x="0" y="0"/>
              <a:ext cx="839724" cy="839724"/>
            </a:xfrm>
            <a:custGeom>
              <a:avLst/>
              <a:gdLst/>
              <a:ahLst/>
              <a:cxnLst/>
              <a:rect r="r" b="b" t="t" l="l"/>
              <a:pathLst>
                <a:path h="839724" w="839724">
                  <a:moveTo>
                    <a:pt x="0" y="0"/>
                  </a:moveTo>
                  <a:lnTo>
                    <a:pt x="839724" y="0"/>
                  </a:lnTo>
                  <a:lnTo>
                    <a:pt x="839724" y="839724"/>
                  </a:lnTo>
                  <a:lnTo>
                    <a:pt x="0" y="839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1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853108" y="4214108"/>
            <a:ext cx="6588824" cy="439255"/>
            <a:chOff x="0" y="0"/>
            <a:chExt cx="8785098" cy="58567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785103" cy="585674"/>
            </a:xfrm>
            <a:custGeom>
              <a:avLst/>
              <a:gdLst/>
              <a:ahLst/>
              <a:cxnLst/>
              <a:rect r="r" b="b" t="t" l="l"/>
              <a:pathLst>
                <a:path h="585674" w="8785103">
                  <a:moveTo>
                    <a:pt x="0" y="0"/>
                  </a:moveTo>
                  <a:lnTo>
                    <a:pt x="8785103" y="0"/>
                  </a:lnTo>
                  <a:lnTo>
                    <a:pt x="8785103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8785098" cy="595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Progressive Denoising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853108" y="4656439"/>
            <a:ext cx="6657461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5B6E76"/>
                </a:solidFill>
                <a:latin typeface="Calibri (MS)"/>
                <a:ea typeface="Calibri (MS)"/>
                <a:cs typeface="Calibri (MS)"/>
                <a:sym typeface="Calibri (MS)"/>
              </a:rPr>
              <a:t>A learned reverse process removes noise step-by-step to recover a realistic slice.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754971" y="5833853"/>
            <a:ext cx="851059" cy="851059"/>
            <a:chOff x="0" y="0"/>
            <a:chExt cx="1134745" cy="113474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34745" cy="1134618"/>
            </a:xfrm>
            <a:custGeom>
              <a:avLst/>
              <a:gdLst/>
              <a:ahLst/>
              <a:cxnLst/>
              <a:rect r="r" b="b" t="t" l="l"/>
              <a:pathLst>
                <a:path h="1134618" w="1134745">
                  <a:moveTo>
                    <a:pt x="0" y="567309"/>
                  </a:moveTo>
                  <a:cubicBezTo>
                    <a:pt x="0" y="254000"/>
                    <a:pt x="254000" y="0"/>
                    <a:pt x="567309" y="0"/>
                  </a:cubicBezTo>
                  <a:cubicBezTo>
                    <a:pt x="880618" y="0"/>
                    <a:pt x="1134745" y="254000"/>
                    <a:pt x="1134745" y="567309"/>
                  </a:cubicBezTo>
                  <a:cubicBezTo>
                    <a:pt x="1134745" y="880618"/>
                    <a:pt x="880745" y="1134618"/>
                    <a:pt x="567436" y="1134618"/>
                  </a:cubicBezTo>
                  <a:cubicBezTo>
                    <a:pt x="254127" y="1134618"/>
                    <a:pt x="0" y="880745"/>
                    <a:pt x="0" y="567309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865603" y="5944495"/>
            <a:ext cx="629783" cy="629783"/>
            <a:chOff x="0" y="0"/>
            <a:chExt cx="839711" cy="839711"/>
          </a:xfrm>
        </p:grpSpPr>
        <p:sp>
          <p:nvSpPr>
            <p:cNvPr name="Freeform 33" id="33" descr="/home/claude/proj/icons/neighbor_white.png"/>
            <p:cNvSpPr/>
            <p:nvPr/>
          </p:nvSpPr>
          <p:spPr>
            <a:xfrm flipH="false" flipV="false" rot="0">
              <a:off x="0" y="0"/>
              <a:ext cx="839724" cy="839724"/>
            </a:xfrm>
            <a:custGeom>
              <a:avLst/>
              <a:gdLst/>
              <a:ahLst/>
              <a:cxnLst/>
              <a:rect r="r" b="b" t="t" l="l"/>
              <a:pathLst>
                <a:path h="839724" w="839724">
                  <a:moveTo>
                    <a:pt x="0" y="0"/>
                  </a:moveTo>
                  <a:lnTo>
                    <a:pt x="839724" y="0"/>
                  </a:lnTo>
                  <a:lnTo>
                    <a:pt x="839724" y="839724"/>
                  </a:lnTo>
                  <a:lnTo>
                    <a:pt x="0" y="839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1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853108" y="5792676"/>
            <a:ext cx="6588824" cy="439255"/>
            <a:chOff x="0" y="0"/>
            <a:chExt cx="8785098" cy="58567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785103" cy="585674"/>
            </a:xfrm>
            <a:custGeom>
              <a:avLst/>
              <a:gdLst/>
              <a:ahLst/>
              <a:cxnLst/>
              <a:rect r="r" b="b" t="t" l="l"/>
              <a:pathLst>
                <a:path h="585674" w="8785103">
                  <a:moveTo>
                    <a:pt x="0" y="0"/>
                  </a:moveTo>
                  <a:lnTo>
                    <a:pt x="8785103" y="0"/>
                  </a:lnTo>
                  <a:lnTo>
                    <a:pt x="8785103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8785098" cy="595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Conditioning on Neighboring Slices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853108" y="6235017"/>
            <a:ext cx="6657461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5B6E76"/>
                </a:solidFill>
                <a:latin typeface="Calibri (MS)"/>
                <a:ea typeface="Calibri (MS)"/>
                <a:cs typeface="Calibri (MS)"/>
                <a:sym typeface="Calibri (MS)"/>
              </a:rPr>
              <a:t>Adjacent acquired slices guide generation to stay anatomically consistent.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754971" y="7412431"/>
            <a:ext cx="851059" cy="851059"/>
            <a:chOff x="0" y="0"/>
            <a:chExt cx="1134745" cy="113474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34745" cy="1134618"/>
            </a:xfrm>
            <a:custGeom>
              <a:avLst/>
              <a:gdLst/>
              <a:ahLst/>
              <a:cxnLst/>
              <a:rect r="r" b="b" t="t" l="l"/>
              <a:pathLst>
                <a:path h="1134618" w="1134745">
                  <a:moveTo>
                    <a:pt x="0" y="567309"/>
                  </a:moveTo>
                  <a:cubicBezTo>
                    <a:pt x="0" y="254000"/>
                    <a:pt x="254000" y="0"/>
                    <a:pt x="567309" y="0"/>
                  </a:cubicBezTo>
                  <a:cubicBezTo>
                    <a:pt x="880618" y="0"/>
                    <a:pt x="1134745" y="254000"/>
                    <a:pt x="1134745" y="567309"/>
                  </a:cubicBezTo>
                  <a:cubicBezTo>
                    <a:pt x="1134745" y="880618"/>
                    <a:pt x="880745" y="1134618"/>
                    <a:pt x="567436" y="1134618"/>
                  </a:cubicBezTo>
                  <a:cubicBezTo>
                    <a:pt x="254127" y="1134618"/>
                    <a:pt x="0" y="880745"/>
                    <a:pt x="0" y="567309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865603" y="7523074"/>
            <a:ext cx="629783" cy="629783"/>
            <a:chOff x="0" y="0"/>
            <a:chExt cx="839711" cy="839711"/>
          </a:xfrm>
        </p:grpSpPr>
        <p:sp>
          <p:nvSpPr>
            <p:cNvPr name="Freeform 41" id="41" descr="/home/claude/proj/icons/unet_white.png"/>
            <p:cNvSpPr/>
            <p:nvPr/>
          </p:nvSpPr>
          <p:spPr>
            <a:xfrm flipH="false" flipV="false" rot="0">
              <a:off x="0" y="0"/>
              <a:ext cx="839724" cy="839724"/>
            </a:xfrm>
            <a:custGeom>
              <a:avLst/>
              <a:gdLst/>
              <a:ahLst/>
              <a:cxnLst/>
              <a:rect r="r" b="b" t="t" l="l"/>
              <a:pathLst>
                <a:path h="839724" w="839724">
                  <a:moveTo>
                    <a:pt x="0" y="0"/>
                  </a:moveTo>
                  <a:lnTo>
                    <a:pt x="839724" y="0"/>
                  </a:lnTo>
                  <a:lnTo>
                    <a:pt x="839724" y="839724"/>
                  </a:lnTo>
                  <a:lnTo>
                    <a:pt x="0" y="839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1" b="1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853108" y="7371255"/>
            <a:ext cx="6588824" cy="439255"/>
            <a:chOff x="0" y="0"/>
            <a:chExt cx="8785098" cy="58567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785103" cy="585674"/>
            </a:xfrm>
            <a:custGeom>
              <a:avLst/>
              <a:gdLst/>
              <a:ahLst/>
              <a:cxnLst/>
              <a:rect r="r" b="b" t="t" l="l"/>
              <a:pathLst>
                <a:path h="585674" w="8785103">
                  <a:moveTo>
                    <a:pt x="0" y="0"/>
                  </a:moveTo>
                  <a:lnTo>
                    <a:pt x="8785103" y="0"/>
                  </a:lnTo>
                  <a:lnTo>
                    <a:pt x="8785103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8785098" cy="595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U-Net Backbone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853108" y="7813586"/>
            <a:ext cx="6657461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5B6E76"/>
                </a:solidFill>
                <a:latin typeface="Calibri (MS)"/>
                <a:ea typeface="Calibri (MS)"/>
                <a:cs typeface="Calibri (MS)"/>
                <a:sym typeface="Calibri (MS)"/>
              </a:rPr>
              <a:t>A U-Net with skip connections predicts noise at every denoising step.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9118740" y="2529916"/>
            <a:ext cx="8437664" cy="6676530"/>
            <a:chOff x="0" y="0"/>
            <a:chExt cx="11250219" cy="89020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1250168" cy="8902065"/>
            </a:xfrm>
            <a:custGeom>
              <a:avLst/>
              <a:gdLst/>
              <a:ahLst/>
              <a:cxnLst/>
              <a:rect r="r" b="b" t="t" l="l"/>
              <a:pathLst>
                <a:path h="8902065" w="11250168">
                  <a:moveTo>
                    <a:pt x="0" y="165227"/>
                  </a:moveTo>
                  <a:cubicBezTo>
                    <a:pt x="0" y="73914"/>
                    <a:pt x="73914" y="0"/>
                    <a:pt x="165227" y="0"/>
                  </a:cubicBezTo>
                  <a:lnTo>
                    <a:pt x="11084941" y="0"/>
                  </a:lnTo>
                  <a:cubicBezTo>
                    <a:pt x="11176127" y="0"/>
                    <a:pt x="11250168" y="73914"/>
                    <a:pt x="11250168" y="165227"/>
                  </a:cubicBezTo>
                  <a:lnTo>
                    <a:pt x="11250168" y="8736838"/>
                  </a:lnTo>
                  <a:cubicBezTo>
                    <a:pt x="11250168" y="8828024"/>
                    <a:pt x="11176254" y="8902065"/>
                    <a:pt x="11084941" y="8902065"/>
                  </a:cubicBezTo>
                  <a:lnTo>
                    <a:pt x="165227" y="8902065"/>
                  </a:lnTo>
                  <a:cubicBezTo>
                    <a:pt x="73914" y="8902065"/>
                    <a:pt x="0" y="8828024"/>
                    <a:pt x="0" y="8736838"/>
                  </a:cubicBezTo>
                  <a:close/>
                </a:path>
              </a:pathLst>
            </a:custGeom>
            <a:solidFill>
              <a:srgbClr val="EFF5F7"/>
            </a:solidFill>
            <a:ln w="19065" cap="sq">
              <a:solidFill>
                <a:srgbClr val="DCE6E9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9540069" y="2882608"/>
            <a:ext cx="7594997" cy="411804"/>
            <a:chOff x="0" y="0"/>
            <a:chExt cx="10126662" cy="54907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126662" cy="549069"/>
            </a:xfrm>
            <a:custGeom>
              <a:avLst/>
              <a:gdLst/>
              <a:ahLst/>
              <a:cxnLst/>
              <a:rect r="r" b="b" t="t" l="l"/>
              <a:pathLst>
                <a:path h="549069" w="10126662">
                  <a:moveTo>
                    <a:pt x="0" y="0"/>
                  </a:moveTo>
                  <a:lnTo>
                    <a:pt x="10126662" y="0"/>
                  </a:lnTo>
                  <a:lnTo>
                    <a:pt x="10126662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9368" r="0" b="-309369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28575"/>
              <a:ext cx="10126662" cy="5776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1"/>
                </a:lnSpc>
              </a:pPr>
              <a:r>
                <a:rPr lang="en-US" b="true" sz="1651" spc="225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DENOISING PROCESS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530544" y="3902583"/>
            <a:ext cx="1007393" cy="1007393"/>
            <a:chOff x="0" y="0"/>
            <a:chExt cx="1343190" cy="134319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343152" cy="1343152"/>
            </a:xfrm>
            <a:custGeom>
              <a:avLst/>
              <a:gdLst/>
              <a:ahLst/>
              <a:cxnLst/>
              <a:rect r="r" b="b" t="t" l="l"/>
              <a:pathLst>
                <a:path h="1343152" w="1343152">
                  <a:moveTo>
                    <a:pt x="0" y="111887"/>
                  </a:moveTo>
                  <a:cubicBezTo>
                    <a:pt x="0" y="50165"/>
                    <a:pt x="50165" y="0"/>
                    <a:pt x="111887" y="0"/>
                  </a:cubicBezTo>
                  <a:lnTo>
                    <a:pt x="1231265" y="0"/>
                  </a:lnTo>
                  <a:cubicBezTo>
                    <a:pt x="1293114" y="0"/>
                    <a:pt x="1343152" y="50165"/>
                    <a:pt x="1343152" y="111887"/>
                  </a:cubicBezTo>
                  <a:lnTo>
                    <a:pt x="1343152" y="1231265"/>
                  </a:lnTo>
                  <a:cubicBezTo>
                    <a:pt x="1343152" y="1293114"/>
                    <a:pt x="1292987" y="1343152"/>
                    <a:pt x="1231265" y="1343152"/>
                  </a:cubicBezTo>
                  <a:lnTo>
                    <a:pt x="111887" y="1343152"/>
                  </a:lnTo>
                  <a:cubicBezTo>
                    <a:pt x="50038" y="1343152"/>
                    <a:pt x="0" y="1292987"/>
                    <a:pt x="0" y="1231265"/>
                  </a:cubicBezTo>
                  <a:close/>
                </a:path>
              </a:pathLst>
            </a:custGeom>
            <a:solidFill>
              <a:srgbClr val="C7D8DE"/>
            </a:solidFill>
            <a:ln w="19065" cap="sq">
              <a:solidFill>
                <a:srgbClr val="50808E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9757505" y="4129545"/>
            <a:ext cx="553460" cy="553460"/>
            <a:chOff x="0" y="0"/>
            <a:chExt cx="737946" cy="73794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37997" cy="737997"/>
            </a:xfrm>
            <a:custGeom>
              <a:avLst/>
              <a:gdLst/>
              <a:ahLst/>
              <a:cxnLst/>
              <a:rect r="r" b="b" t="t" l="l"/>
              <a:pathLst>
                <a:path h="737997" w="737997">
                  <a:moveTo>
                    <a:pt x="0" y="368935"/>
                  </a:moveTo>
                  <a:cubicBezTo>
                    <a:pt x="0" y="165227"/>
                    <a:pt x="165227" y="0"/>
                    <a:pt x="368935" y="0"/>
                  </a:cubicBezTo>
                  <a:cubicBezTo>
                    <a:pt x="572643" y="0"/>
                    <a:pt x="737997" y="165227"/>
                    <a:pt x="737997" y="368935"/>
                  </a:cubicBezTo>
                  <a:cubicBezTo>
                    <a:pt x="737997" y="572643"/>
                    <a:pt x="572770" y="737997"/>
                    <a:pt x="368935" y="737997"/>
                  </a:cubicBezTo>
                  <a:cubicBezTo>
                    <a:pt x="165100" y="737997"/>
                    <a:pt x="0" y="572770"/>
                    <a:pt x="0" y="368935"/>
                  </a:cubicBezTo>
                  <a:close/>
                </a:path>
              </a:pathLst>
            </a:custGeom>
            <a:solidFill>
              <a:srgbClr val="1C7293">
                <a:alpha val="3922"/>
              </a:srgbClr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9622431" y="3994480"/>
            <a:ext cx="61770" cy="61770"/>
            <a:chOff x="0" y="0"/>
            <a:chExt cx="82360" cy="823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2423" cy="82423"/>
            </a:xfrm>
            <a:custGeom>
              <a:avLst/>
              <a:gdLst/>
              <a:ahLst/>
              <a:cxnLst/>
              <a:rect r="r" b="b" t="t" l="l"/>
              <a:pathLst>
                <a:path h="82423" w="82423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423" y="18415"/>
                    <a:pt x="82423" y="41148"/>
                  </a:cubicBezTo>
                  <a:cubicBezTo>
                    <a:pt x="82423" y="63881"/>
                    <a:pt x="63881" y="82423"/>
                    <a:pt x="41148" y="82423"/>
                  </a:cubicBezTo>
                  <a:cubicBezTo>
                    <a:pt x="18415" y="82423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5B6E76">
                <a:alpha val="63922"/>
              </a:srgbClr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9927165" y="4430982"/>
            <a:ext cx="61770" cy="61770"/>
            <a:chOff x="0" y="0"/>
            <a:chExt cx="82360" cy="8236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2423" cy="82423"/>
            </a:xfrm>
            <a:custGeom>
              <a:avLst/>
              <a:gdLst/>
              <a:ahLst/>
              <a:cxnLst/>
              <a:rect r="r" b="b" t="t" l="l"/>
              <a:pathLst>
                <a:path h="82423" w="82423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423" y="18415"/>
                    <a:pt x="82423" y="41148"/>
                  </a:cubicBezTo>
                  <a:cubicBezTo>
                    <a:pt x="82423" y="63881"/>
                    <a:pt x="63881" y="82423"/>
                    <a:pt x="41148" y="82423"/>
                  </a:cubicBezTo>
                  <a:cubicBezTo>
                    <a:pt x="18415" y="82423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5B6E76">
                <a:alpha val="63922"/>
              </a:srgbClr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0231898" y="4043896"/>
            <a:ext cx="61770" cy="61770"/>
            <a:chOff x="0" y="0"/>
            <a:chExt cx="82360" cy="8236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2423" cy="82423"/>
            </a:xfrm>
            <a:custGeom>
              <a:avLst/>
              <a:gdLst/>
              <a:ahLst/>
              <a:cxnLst/>
              <a:rect r="r" b="b" t="t" l="l"/>
              <a:pathLst>
                <a:path h="82423" w="82423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423" y="18415"/>
                    <a:pt x="82423" y="41148"/>
                  </a:cubicBezTo>
                  <a:cubicBezTo>
                    <a:pt x="82423" y="63881"/>
                    <a:pt x="63881" y="82423"/>
                    <a:pt x="41148" y="82423"/>
                  </a:cubicBezTo>
                  <a:cubicBezTo>
                    <a:pt x="18415" y="82423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5B6E76">
                <a:alpha val="63922"/>
              </a:srgbClr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9713033" y="4480408"/>
            <a:ext cx="61770" cy="61770"/>
            <a:chOff x="0" y="0"/>
            <a:chExt cx="82360" cy="8236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2423" cy="82423"/>
            </a:xfrm>
            <a:custGeom>
              <a:avLst/>
              <a:gdLst/>
              <a:ahLst/>
              <a:cxnLst/>
              <a:rect r="r" b="b" t="t" l="l"/>
              <a:pathLst>
                <a:path h="82423" w="82423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423" y="18415"/>
                    <a:pt x="82423" y="41148"/>
                  </a:cubicBezTo>
                  <a:cubicBezTo>
                    <a:pt x="82423" y="63881"/>
                    <a:pt x="63881" y="82423"/>
                    <a:pt x="41148" y="82423"/>
                  </a:cubicBezTo>
                  <a:cubicBezTo>
                    <a:pt x="18415" y="82423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5B6E76">
                <a:alpha val="63922"/>
              </a:srgbClr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0017766" y="4093312"/>
            <a:ext cx="61770" cy="61770"/>
            <a:chOff x="0" y="0"/>
            <a:chExt cx="82360" cy="8236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82423" cy="82423"/>
            </a:xfrm>
            <a:custGeom>
              <a:avLst/>
              <a:gdLst/>
              <a:ahLst/>
              <a:cxnLst/>
              <a:rect r="r" b="b" t="t" l="l"/>
              <a:pathLst>
                <a:path h="82423" w="82423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423" y="18415"/>
                    <a:pt x="82423" y="41148"/>
                  </a:cubicBezTo>
                  <a:cubicBezTo>
                    <a:pt x="82423" y="63881"/>
                    <a:pt x="63881" y="82423"/>
                    <a:pt x="41148" y="82423"/>
                  </a:cubicBezTo>
                  <a:cubicBezTo>
                    <a:pt x="18415" y="82423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5B6E76">
                <a:alpha val="63922"/>
              </a:srgbClr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0322500" y="4529823"/>
            <a:ext cx="61770" cy="61770"/>
            <a:chOff x="0" y="0"/>
            <a:chExt cx="82360" cy="8236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2423" cy="82423"/>
            </a:xfrm>
            <a:custGeom>
              <a:avLst/>
              <a:gdLst/>
              <a:ahLst/>
              <a:cxnLst/>
              <a:rect r="r" b="b" t="t" l="l"/>
              <a:pathLst>
                <a:path h="82423" w="82423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423" y="18415"/>
                    <a:pt x="82423" y="41148"/>
                  </a:cubicBezTo>
                  <a:cubicBezTo>
                    <a:pt x="82423" y="63881"/>
                    <a:pt x="63881" y="82423"/>
                    <a:pt x="41148" y="82423"/>
                  </a:cubicBezTo>
                  <a:cubicBezTo>
                    <a:pt x="18415" y="82423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5B6E76">
                <a:alpha val="63922"/>
              </a:srgbClr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9803625" y="4142727"/>
            <a:ext cx="61770" cy="61770"/>
            <a:chOff x="0" y="0"/>
            <a:chExt cx="82360" cy="8236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2423" cy="82423"/>
            </a:xfrm>
            <a:custGeom>
              <a:avLst/>
              <a:gdLst/>
              <a:ahLst/>
              <a:cxnLst/>
              <a:rect r="r" b="b" t="t" l="l"/>
              <a:pathLst>
                <a:path h="82423" w="82423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423" y="18415"/>
                    <a:pt x="82423" y="41148"/>
                  </a:cubicBezTo>
                  <a:cubicBezTo>
                    <a:pt x="82423" y="63881"/>
                    <a:pt x="63881" y="82423"/>
                    <a:pt x="41148" y="82423"/>
                  </a:cubicBezTo>
                  <a:cubicBezTo>
                    <a:pt x="18415" y="82423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5B6E76">
                <a:alpha val="63922"/>
              </a:srgbClr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0108359" y="4579239"/>
            <a:ext cx="61770" cy="61770"/>
            <a:chOff x="0" y="0"/>
            <a:chExt cx="82360" cy="8236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2423" cy="82423"/>
            </a:xfrm>
            <a:custGeom>
              <a:avLst/>
              <a:gdLst/>
              <a:ahLst/>
              <a:cxnLst/>
              <a:rect r="r" b="b" t="t" l="l"/>
              <a:pathLst>
                <a:path h="82423" w="82423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423" y="18415"/>
                    <a:pt x="82423" y="41148"/>
                  </a:cubicBezTo>
                  <a:cubicBezTo>
                    <a:pt x="82423" y="63881"/>
                    <a:pt x="63881" y="82423"/>
                    <a:pt x="41148" y="82423"/>
                  </a:cubicBezTo>
                  <a:cubicBezTo>
                    <a:pt x="18415" y="82423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5B6E76">
                <a:alpha val="63922"/>
              </a:srgbClr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0413092" y="4192143"/>
            <a:ext cx="61770" cy="61770"/>
            <a:chOff x="0" y="0"/>
            <a:chExt cx="82360" cy="8236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82423" cy="82423"/>
            </a:xfrm>
            <a:custGeom>
              <a:avLst/>
              <a:gdLst/>
              <a:ahLst/>
              <a:cxnLst/>
              <a:rect r="r" b="b" t="t" l="l"/>
              <a:pathLst>
                <a:path h="82423" w="82423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423" y="18415"/>
                    <a:pt x="82423" y="41148"/>
                  </a:cubicBezTo>
                  <a:cubicBezTo>
                    <a:pt x="82423" y="63881"/>
                    <a:pt x="63881" y="82423"/>
                    <a:pt x="41148" y="82423"/>
                  </a:cubicBezTo>
                  <a:cubicBezTo>
                    <a:pt x="18415" y="82423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5B6E76">
                <a:alpha val="63922"/>
              </a:srgbClr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9894227" y="4628655"/>
            <a:ext cx="61770" cy="61770"/>
            <a:chOff x="0" y="0"/>
            <a:chExt cx="82360" cy="8236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82423" cy="82423"/>
            </a:xfrm>
            <a:custGeom>
              <a:avLst/>
              <a:gdLst/>
              <a:ahLst/>
              <a:cxnLst/>
              <a:rect r="r" b="b" t="t" l="l"/>
              <a:pathLst>
                <a:path h="82423" w="82423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423" y="18415"/>
                    <a:pt x="82423" y="41148"/>
                  </a:cubicBezTo>
                  <a:cubicBezTo>
                    <a:pt x="82423" y="63881"/>
                    <a:pt x="63881" y="82423"/>
                    <a:pt x="41148" y="82423"/>
                  </a:cubicBezTo>
                  <a:cubicBezTo>
                    <a:pt x="18415" y="82423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5B6E76">
                <a:alpha val="63922"/>
              </a:srgbClr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0647797" y="4296461"/>
            <a:ext cx="424539" cy="219627"/>
            <a:chOff x="0" y="0"/>
            <a:chExt cx="566052" cy="292837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66039" cy="292862"/>
            </a:xfrm>
            <a:custGeom>
              <a:avLst/>
              <a:gdLst/>
              <a:ahLst/>
              <a:cxnLst/>
              <a:rect r="r" b="b" t="t" l="l"/>
              <a:pathLst>
                <a:path h="292862" w="566039">
                  <a:moveTo>
                    <a:pt x="0" y="73152"/>
                  </a:moveTo>
                  <a:lnTo>
                    <a:pt x="419608" y="73152"/>
                  </a:lnTo>
                  <a:lnTo>
                    <a:pt x="419608" y="0"/>
                  </a:lnTo>
                  <a:lnTo>
                    <a:pt x="566039" y="146431"/>
                  </a:lnTo>
                  <a:lnTo>
                    <a:pt x="419608" y="292862"/>
                  </a:lnTo>
                  <a:lnTo>
                    <a:pt x="419608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50808E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1182207" y="3902583"/>
            <a:ext cx="1007393" cy="1007393"/>
            <a:chOff x="0" y="0"/>
            <a:chExt cx="1343190" cy="134319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343152" cy="1343152"/>
            </a:xfrm>
            <a:custGeom>
              <a:avLst/>
              <a:gdLst/>
              <a:ahLst/>
              <a:cxnLst/>
              <a:rect r="r" b="b" t="t" l="l"/>
              <a:pathLst>
                <a:path h="1343152" w="1343152">
                  <a:moveTo>
                    <a:pt x="0" y="111887"/>
                  </a:moveTo>
                  <a:cubicBezTo>
                    <a:pt x="0" y="50165"/>
                    <a:pt x="50165" y="0"/>
                    <a:pt x="111887" y="0"/>
                  </a:cubicBezTo>
                  <a:lnTo>
                    <a:pt x="1231265" y="0"/>
                  </a:lnTo>
                  <a:cubicBezTo>
                    <a:pt x="1293114" y="0"/>
                    <a:pt x="1343152" y="50165"/>
                    <a:pt x="1343152" y="111887"/>
                  </a:cubicBezTo>
                  <a:lnTo>
                    <a:pt x="1343152" y="1231265"/>
                  </a:lnTo>
                  <a:cubicBezTo>
                    <a:pt x="1343152" y="1293114"/>
                    <a:pt x="1292987" y="1343152"/>
                    <a:pt x="1231265" y="1343152"/>
                  </a:cubicBezTo>
                  <a:lnTo>
                    <a:pt x="111887" y="1343152"/>
                  </a:lnTo>
                  <a:cubicBezTo>
                    <a:pt x="50038" y="1343152"/>
                    <a:pt x="0" y="1292987"/>
                    <a:pt x="0" y="1231265"/>
                  </a:cubicBezTo>
                  <a:close/>
                </a:path>
              </a:pathLst>
            </a:custGeom>
            <a:solidFill>
              <a:srgbClr val="C7D8DE"/>
            </a:solidFill>
            <a:ln w="19065" cap="sq">
              <a:solidFill>
                <a:srgbClr val="50808E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11409169" y="4129545"/>
            <a:ext cx="553460" cy="553460"/>
            <a:chOff x="0" y="0"/>
            <a:chExt cx="737946" cy="737946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737997" cy="737997"/>
            </a:xfrm>
            <a:custGeom>
              <a:avLst/>
              <a:gdLst/>
              <a:ahLst/>
              <a:cxnLst/>
              <a:rect r="r" b="b" t="t" l="l"/>
              <a:pathLst>
                <a:path h="737997" w="737997">
                  <a:moveTo>
                    <a:pt x="0" y="368935"/>
                  </a:moveTo>
                  <a:cubicBezTo>
                    <a:pt x="0" y="165227"/>
                    <a:pt x="165227" y="0"/>
                    <a:pt x="368935" y="0"/>
                  </a:cubicBezTo>
                  <a:cubicBezTo>
                    <a:pt x="572643" y="0"/>
                    <a:pt x="737997" y="165227"/>
                    <a:pt x="737997" y="368935"/>
                  </a:cubicBezTo>
                  <a:cubicBezTo>
                    <a:pt x="737997" y="572643"/>
                    <a:pt x="572770" y="737997"/>
                    <a:pt x="368935" y="737997"/>
                  </a:cubicBezTo>
                  <a:cubicBezTo>
                    <a:pt x="165100" y="737997"/>
                    <a:pt x="0" y="572770"/>
                    <a:pt x="0" y="368935"/>
                  </a:cubicBezTo>
                  <a:close/>
                </a:path>
              </a:pathLst>
            </a:custGeom>
            <a:solidFill>
              <a:srgbClr val="1C7293">
                <a:alpha val="15686"/>
              </a:srgbClr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1274104" y="3994480"/>
            <a:ext cx="61770" cy="61770"/>
            <a:chOff x="0" y="0"/>
            <a:chExt cx="82360" cy="8236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82423" cy="82423"/>
            </a:xfrm>
            <a:custGeom>
              <a:avLst/>
              <a:gdLst/>
              <a:ahLst/>
              <a:cxnLst/>
              <a:rect r="r" b="b" t="t" l="l"/>
              <a:pathLst>
                <a:path h="82423" w="82423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423" y="18415"/>
                    <a:pt x="82423" y="41148"/>
                  </a:cubicBezTo>
                  <a:cubicBezTo>
                    <a:pt x="82423" y="63881"/>
                    <a:pt x="63881" y="82423"/>
                    <a:pt x="41148" y="82423"/>
                  </a:cubicBezTo>
                  <a:cubicBezTo>
                    <a:pt x="18415" y="82423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5B6E76">
                <a:alpha val="63922"/>
              </a:srgbClr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1578838" y="4430982"/>
            <a:ext cx="61770" cy="61770"/>
            <a:chOff x="0" y="0"/>
            <a:chExt cx="82360" cy="8236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82423" cy="82423"/>
            </a:xfrm>
            <a:custGeom>
              <a:avLst/>
              <a:gdLst/>
              <a:ahLst/>
              <a:cxnLst/>
              <a:rect r="r" b="b" t="t" l="l"/>
              <a:pathLst>
                <a:path h="82423" w="82423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423" y="18415"/>
                    <a:pt x="82423" y="41148"/>
                  </a:cubicBezTo>
                  <a:cubicBezTo>
                    <a:pt x="82423" y="63881"/>
                    <a:pt x="63881" y="82423"/>
                    <a:pt x="41148" y="82423"/>
                  </a:cubicBezTo>
                  <a:cubicBezTo>
                    <a:pt x="18415" y="82423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5B6E76">
                <a:alpha val="63922"/>
              </a:srgbClr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1883571" y="4043896"/>
            <a:ext cx="61770" cy="61770"/>
            <a:chOff x="0" y="0"/>
            <a:chExt cx="82360" cy="8236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82423" cy="82423"/>
            </a:xfrm>
            <a:custGeom>
              <a:avLst/>
              <a:gdLst/>
              <a:ahLst/>
              <a:cxnLst/>
              <a:rect r="r" b="b" t="t" l="l"/>
              <a:pathLst>
                <a:path h="82423" w="82423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423" y="18415"/>
                    <a:pt x="82423" y="41148"/>
                  </a:cubicBezTo>
                  <a:cubicBezTo>
                    <a:pt x="82423" y="63881"/>
                    <a:pt x="63881" y="82423"/>
                    <a:pt x="41148" y="82423"/>
                  </a:cubicBezTo>
                  <a:cubicBezTo>
                    <a:pt x="18415" y="82423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5B6E76">
                <a:alpha val="63922"/>
              </a:srgbClr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1364697" y="4480408"/>
            <a:ext cx="61770" cy="61770"/>
            <a:chOff x="0" y="0"/>
            <a:chExt cx="82360" cy="8236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82423" cy="82423"/>
            </a:xfrm>
            <a:custGeom>
              <a:avLst/>
              <a:gdLst/>
              <a:ahLst/>
              <a:cxnLst/>
              <a:rect r="r" b="b" t="t" l="l"/>
              <a:pathLst>
                <a:path h="82423" w="82423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423" y="18415"/>
                    <a:pt x="82423" y="41148"/>
                  </a:cubicBezTo>
                  <a:cubicBezTo>
                    <a:pt x="82423" y="63881"/>
                    <a:pt x="63881" y="82423"/>
                    <a:pt x="41148" y="82423"/>
                  </a:cubicBezTo>
                  <a:cubicBezTo>
                    <a:pt x="18415" y="82423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5B6E76">
                <a:alpha val="63922"/>
              </a:srgbClr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1669430" y="4093312"/>
            <a:ext cx="61770" cy="61770"/>
            <a:chOff x="0" y="0"/>
            <a:chExt cx="82360" cy="8236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82423" cy="82423"/>
            </a:xfrm>
            <a:custGeom>
              <a:avLst/>
              <a:gdLst/>
              <a:ahLst/>
              <a:cxnLst/>
              <a:rect r="r" b="b" t="t" l="l"/>
              <a:pathLst>
                <a:path h="82423" w="82423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423" y="18415"/>
                    <a:pt x="82423" y="41148"/>
                  </a:cubicBezTo>
                  <a:cubicBezTo>
                    <a:pt x="82423" y="63881"/>
                    <a:pt x="63881" y="82423"/>
                    <a:pt x="41148" y="82423"/>
                  </a:cubicBezTo>
                  <a:cubicBezTo>
                    <a:pt x="18415" y="82423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5B6E76">
                <a:alpha val="63922"/>
              </a:srgbClr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1974163" y="4529823"/>
            <a:ext cx="61770" cy="61770"/>
            <a:chOff x="0" y="0"/>
            <a:chExt cx="82360" cy="8236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82423" cy="82423"/>
            </a:xfrm>
            <a:custGeom>
              <a:avLst/>
              <a:gdLst/>
              <a:ahLst/>
              <a:cxnLst/>
              <a:rect r="r" b="b" t="t" l="l"/>
              <a:pathLst>
                <a:path h="82423" w="82423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423" y="18415"/>
                    <a:pt x="82423" y="41148"/>
                  </a:cubicBezTo>
                  <a:cubicBezTo>
                    <a:pt x="82423" y="63881"/>
                    <a:pt x="63881" y="82423"/>
                    <a:pt x="41148" y="82423"/>
                  </a:cubicBezTo>
                  <a:cubicBezTo>
                    <a:pt x="18415" y="82423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5B6E76">
                <a:alpha val="63922"/>
              </a:srgbClr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11455298" y="4142727"/>
            <a:ext cx="61770" cy="61770"/>
            <a:chOff x="0" y="0"/>
            <a:chExt cx="82360" cy="8236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82423" cy="82423"/>
            </a:xfrm>
            <a:custGeom>
              <a:avLst/>
              <a:gdLst/>
              <a:ahLst/>
              <a:cxnLst/>
              <a:rect r="r" b="b" t="t" l="l"/>
              <a:pathLst>
                <a:path h="82423" w="82423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423" y="18415"/>
                    <a:pt x="82423" y="41148"/>
                  </a:cubicBezTo>
                  <a:cubicBezTo>
                    <a:pt x="82423" y="63881"/>
                    <a:pt x="63881" y="82423"/>
                    <a:pt x="41148" y="82423"/>
                  </a:cubicBezTo>
                  <a:cubicBezTo>
                    <a:pt x="18415" y="82423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5B6E76">
                <a:alpha val="63922"/>
              </a:srgbClr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1760032" y="4579239"/>
            <a:ext cx="61770" cy="61770"/>
            <a:chOff x="0" y="0"/>
            <a:chExt cx="82360" cy="8236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82423" cy="82423"/>
            </a:xfrm>
            <a:custGeom>
              <a:avLst/>
              <a:gdLst/>
              <a:ahLst/>
              <a:cxnLst/>
              <a:rect r="r" b="b" t="t" l="l"/>
              <a:pathLst>
                <a:path h="82423" w="82423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423" y="18415"/>
                    <a:pt x="82423" y="41148"/>
                  </a:cubicBezTo>
                  <a:cubicBezTo>
                    <a:pt x="82423" y="63881"/>
                    <a:pt x="63881" y="82423"/>
                    <a:pt x="41148" y="82423"/>
                  </a:cubicBezTo>
                  <a:cubicBezTo>
                    <a:pt x="18415" y="82423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5B6E76">
                <a:alpha val="63922"/>
              </a:srgbClr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2299471" y="4296461"/>
            <a:ext cx="424539" cy="219627"/>
            <a:chOff x="0" y="0"/>
            <a:chExt cx="566052" cy="292837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66039" cy="292862"/>
            </a:xfrm>
            <a:custGeom>
              <a:avLst/>
              <a:gdLst/>
              <a:ahLst/>
              <a:cxnLst/>
              <a:rect r="r" b="b" t="t" l="l"/>
              <a:pathLst>
                <a:path h="292862" w="566039">
                  <a:moveTo>
                    <a:pt x="0" y="73152"/>
                  </a:moveTo>
                  <a:lnTo>
                    <a:pt x="419608" y="73152"/>
                  </a:lnTo>
                  <a:lnTo>
                    <a:pt x="419608" y="0"/>
                  </a:lnTo>
                  <a:lnTo>
                    <a:pt x="566039" y="146431"/>
                  </a:lnTo>
                  <a:lnTo>
                    <a:pt x="419608" y="292862"/>
                  </a:lnTo>
                  <a:lnTo>
                    <a:pt x="419608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50808E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2833880" y="3902583"/>
            <a:ext cx="1007393" cy="1007393"/>
            <a:chOff x="0" y="0"/>
            <a:chExt cx="1343190" cy="134319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343152" cy="1343152"/>
            </a:xfrm>
            <a:custGeom>
              <a:avLst/>
              <a:gdLst/>
              <a:ahLst/>
              <a:cxnLst/>
              <a:rect r="r" b="b" t="t" l="l"/>
              <a:pathLst>
                <a:path h="1343152" w="1343152">
                  <a:moveTo>
                    <a:pt x="0" y="111887"/>
                  </a:moveTo>
                  <a:cubicBezTo>
                    <a:pt x="0" y="50165"/>
                    <a:pt x="50165" y="0"/>
                    <a:pt x="111887" y="0"/>
                  </a:cubicBezTo>
                  <a:lnTo>
                    <a:pt x="1231265" y="0"/>
                  </a:lnTo>
                  <a:cubicBezTo>
                    <a:pt x="1293114" y="0"/>
                    <a:pt x="1343152" y="50165"/>
                    <a:pt x="1343152" y="111887"/>
                  </a:cubicBezTo>
                  <a:lnTo>
                    <a:pt x="1343152" y="1231265"/>
                  </a:lnTo>
                  <a:cubicBezTo>
                    <a:pt x="1343152" y="1293114"/>
                    <a:pt x="1292987" y="1343152"/>
                    <a:pt x="1231265" y="1343152"/>
                  </a:cubicBezTo>
                  <a:lnTo>
                    <a:pt x="111887" y="1343152"/>
                  </a:lnTo>
                  <a:cubicBezTo>
                    <a:pt x="50038" y="1343152"/>
                    <a:pt x="0" y="1292987"/>
                    <a:pt x="0" y="1231265"/>
                  </a:cubicBezTo>
                  <a:close/>
                </a:path>
              </a:pathLst>
            </a:custGeom>
            <a:solidFill>
              <a:srgbClr val="C7D8DE"/>
            </a:solidFill>
            <a:ln w="19065" cap="sq">
              <a:solidFill>
                <a:srgbClr val="50808E"/>
              </a:solidFill>
              <a:prstDash val="solid"/>
              <a:miter/>
            </a:ln>
          </p:spPr>
        </p:sp>
      </p:grpSp>
      <p:grpSp>
        <p:nvGrpSpPr>
          <p:cNvPr name="Group 101" id="101"/>
          <p:cNvGrpSpPr/>
          <p:nvPr/>
        </p:nvGrpSpPr>
        <p:grpSpPr>
          <a:xfrm rot="0">
            <a:off x="13060842" y="4129545"/>
            <a:ext cx="553460" cy="553460"/>
            <a:chOff x="0" y="0"/>
            <a:chExt cx="737946" cy="737946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737997" cy="737997"/>
            </a:xfrm>
            <a:custGeom>
              <a:avLst/>
              <a:gdLst/>
              <a:ahLst/>
              <a:cxnLst/>
              <a:rect r="r" b="b" t="t" l="l"/>
              <a:pathLst>
                <a:path h="737997" w="737997">
                  <a:moveTo>
                    <a:pt x="0" y="368935"/>
                  </a:moveTo>
                  <a:cubicBezTo>
                    <a:pt x="0" y="165227"/>
                    <a:pt x="165227" y="0"/>
                    <a:pt x="368935" y="0"/>
                  </a:cubicBezTo>
                  <a:cubicBezTo>
                    <a:pt x="572643" y="0"/>
                    <a:pt x="737997" y="165227"/>
                    <a:pt x="737997" y="368935"/>
                  </a:cubicBezTo>
                  <a:cubicBezTo>
                    <a:pt x="737997" y="572643"/>
                    <a:pt x="572770" y="737997"/>
                    <a:pt x="368935" y="737997"/>
                  </a:cubicBezTo>
                  <a:cubicBezTo>
                    <a:pt x="165100" y="737997"/>
                    <a:pt x="0" y="572770"/>
                    <a:pt x="0" y="368935"/>
                  </a:cubicBezTo>
                  <a:close/>
                </a:path>
              </a:pathLst>
            </a:custGeom>
            <a:solidFill>
              <a:srgbClr val="1C7293">
                <a:alpha val="35686"/>
              </a:srgbClr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12925768" y="3994480"/>
            <a:ext cx="61770" cy="61770"/>
            <a:chOff x="0" y="0"/>
            <a:chExt cx="82360" cy="8236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82423" cy="82423"/>
            </a:xfrm>
            <a:custGeom>
              <a:avLst/>
              <a:gdLst/>
              <a:ahLst/>
              <a:cxnLst/>
              <a:rect r="r" b="b" t="t" l="l"/>
              <a:pathLst>
                <a:path h="82423" w="82423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423" y="18415"/>
                    <a:pt x="82423" y="41148"/>
                  </a:cubicBezTo>
                  <a:cubicBezTo>
                    <a:pt x="82423" y="63881"/>
                    <a:pt x="63881" y="82423"/>
                    <a:pt x="41148" y="82423"/>
                  </a:cubicBezTo>
                  <a:cubicBezTo>
                    <a:pt x="18415" y="82423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5B6E76">
                <a:alpha val="63922"/>
              </a:srgbClr>
            </a:solid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13230501" y="4430982"/>
            <a:ext cx="61770" cy="61770"/>
            <a:chOff x="0" y="0"/>
            <a:chExt cx="82360" cy="8236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82423" cy="82423"/>
            </a:xfrm>
            <a:custGeom>
              <a:avLst/>
              <a:gdLst/>
              <a:ahLst/>
              <a:cxnLst/>
              <a:rect r="r" b="b" t="t" l="l"/>
              <a:pathLst>
                <a:path h="82423" w="82423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423" y="18415"/>
                    <a:pt x="82423" y="41148"/>
                  </a:cubicBezTo>
                  <a:cubicBezTo>
                    <a:pt x="82423" y="63881"/>
                    <a:pt x="63881" y="82423"/>
                    <a:pt x="41148" y="82423"/>
                  </a:cubicBezTo>
                  <a:cubicBezTo>
                    <a:pt x="18415" y="82423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5B6E76">
                <a:alpha val="63922"/>
              </a:srgbClr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3535235" y="4043896"/>
            <a:ext cx="61770" cy="61770"/>
            <a:chOff x="0" y="0"/>
            <a:chExt cx="82360" cy="8236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82423" cy="82423"/>
            </a:xfrm>
            <a:custGeom>
              <a:avLst/>
              <a:gdLst/>
              <a:ahLst/>
              <a:cxnLst/>
              <a:rect r="r" b="b" t="t" l="l"/>
              <a:pathLst>
                <a:path h="82423" w="82423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423" y="18415"/>
                    <a:pt x="82423" y="41148"/>
                  </a:cubicBezTo>
                  <a:cubicBezTo>
                    <a:pt x="82423" y="63881"/>
                    <a:pt x="63881" y="82423"/>
                    <a:pt x="41148" y="82423"/>
                  </a:cubicBezTo>
                  <a:cubicBezTo>
                    <a:pt x="18415" y="82423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5B6E76">
                <a:alpha val="63922"/>
              </a:srgbClr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13016370" y="4480408"/>
            <a:ext cx="61770" cy="61770"/>
            <a:chOff x="0" y="0"/>
            <a:chExt cx="82360" cy="8236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82423" cy="82423"/>
            </a:xfrm>
            <a:custGeom>
              <a:avLst/>
              <a:gdLst/>
              <a:ahLst/>
              <a:cxnLst/>
              <a:rect r="r" b="b" t="t" l="l"/>
              <a:pathLst>
                <a:path h="82423" w="82423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423" y="18415"/>
                    <a:pt x="82423" y="41148"/>
                  </a:cubicBezTo>
                  <a:cubicBezTo>
                    <a:pt x="82423" y="63881"/>
                    <a:pt x="63881" y="82423"/>
                    <a:pt x="41148" y="82423"/>
                  </a:cubicBezTo>
                  <a:cubicBezTo>
                    <a:pt x="18415" y="82423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5B6E76">
                <a:alpha val="63922"/>
              </a:srgbClr>
            </a:solid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13321103" y="4093312"/>
            <a:ext cx="61770" cy="61770"/>
            <a:chOff x="0" y="0"/>
            <a:chExt cx="82360" cy="8236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82423" cy="82423"/>
            </a:xfrm>
            <a:custGeom>
              <a:avLst/>
              <a:gdLst/>
              <a:ahLst/>
              <a:cxnLst/>
              <a:rect r="r" b="b" t="t" l="l"/>
              <a:pathLst>
                <a:path h="82423" w="82423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423" y="18415"/>
                    <a:pt x="82423" y="41148"/>
                  </a:cubicBezTo>
                  <a:cubicBezTo>
                    <a:pt x="82423" y="63881"/>
                    <a:pt x="63881" y="82423"/>
                    <a:pt x="41148" y="82423"/>
                  </a:cubicBezTo>
                  <a:cubicBezTo>
                    <a:pt x="18415" y="82423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5B6E76">
                <a:alpha val="63922"/>
              </a:srgbClr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13951134" y="4296461"/>
            <a:ext cx="424539" cy="219627"/>
            <a:chOff x="0" y="0"/>
            <a:chExt cx="566052" cy="292837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566039" cy="292862"/>
            </a:xfrm>
            <a:custGeom>
              <a:avLst/>
              <a:gdLst/>
              <a:ahLst/>
              <a:cxnLst/>
              <a:rect r="r" b="b" t="t" l="l"/>
              <a:pathLst>
                <a:path h="292862" w="566039">
                  <a:moveTo>
                    <a:pt x="0" y="73152"/>
                  </a:moveTo>
                  <a:lnTo>
                    <a:pt x="419608" y="73152"/>
                  </a:lnTo>
                  <a:lnTo>
                    <a:pt x="419608" y="0"/>
                  </a:lnTo>
                  <a:lnTo>
                    <a:pt x="566039" y="146431"/>
                  </a:lnTo>
                  <a:lnTo>
                    <a:pt x="419608" y="292862"/>
                  </a:lnTo>
                  <a:lnTo>
                    <a:pt x="419608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50808E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14485544" y="3902583"/>
            <a:ext cx="1007393" cy="1007393"/>
            <a:chOff x="0" y="0"/>
            <a:chExt cx="1343190" cy="134319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1343152" cy="1343152"/>
            </a:xfrm>
            <a:custGeom>
              <a:avLst/>
              <a:gdLst/>
              <a:ahLst/>
              <a:cxnLst/>
              <a:rect r="r" b="b" t="t" l="l"/>
              <a:pathLst>
                <a:path h="1343152" w="1343152">
                  <a:moveTo>
                    <a:pt x="0" y="111887"/>
                  </a:moveTo>
                  <a:cubicBezTo>
                    <a:pt x="0" y="50165"/>
                    <a:pt x="50165" y="0"/>
                    <a:pt x="111887" y="0"/>
                  </a:cubicBezTo>
                  <a:lnTo>
                    <a:pt x="1231265" y="0"/>
                  </a:lnTo>
                  <a:cubicBezTo>
                    <a:pt x="1293114" y="0"/>
                    <a:pt x="1343152" y="50165"/>
                    <a:pt x="1343152" y="111887"/>
                  </a:cubicBezTo>
                  <a:lnTo>
                    <a:pt x="1343152" y="1231265"/>
                  </a:lnTo>
                  <a:cubicBezTo>
                    <a:pt x="1343152" y="1293114"/>
                    <a:pt x="1292987" y="1343152"/>
                    <a:pt x="1231265" y="1343152"/>
                  </a:cubicBezTo>
                  <a:lnTo>
                    <a:pt x="111887" y="1343152"/>
                  </a:lnTo>
                  <a:cubicBezTo>
                    <a:pt x="50038" y="1343152"/>
                    <a:pt x="0" y="1292987"/>
                    <a:pt x="0" y="1231265"/>
                  </a:cubicBezTo>
                  <a:close/>
                </a:path>
              </a:pathLst>
            </a:custGeom>
            <a:solidFill>
              <a:srgbClr val="C7D8DE"/>
            </a:solidFill>
            <a:ln w="19065" cap="sq">
              <a:solidFill>
                <a:srgbClr val="50808E"/>
              </a:solidFill>
              <a:prstDash val="solid"/>
              <a:miter/>
            </a:ln>
          </p:spPr>
        </p:sp>
      </p:grpSp>
      <p:grpSp>
        <p:nvGrpSpPr>
          <p:cNvPr name="Group 117" id="117"/>
          <p:cNvGrpSpPr/>
          <p:nvPr/>
        </p:nvGrpSpPr>
        <p:grpSpPr>
          <a:xfrm rot="0">
            <a:off x="14712505" y="4129545"/>
            <a:ext cx="553460" cy="553460"/>
            <a:chOff x="0" y="0"/>
            <a:chExt cx="737946" cy="737946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737997" cy="737997"/>
            </a:xfrm>
            <a:custGeom>
              <a:avLst/>
              <a:gdLst/>
              <a:ahLst/>
              <a:cxnLst/>
              <a:rect r="r" b="b" t="t" l="l"/>
              <a:pathLst>
                <a:path h="737997" w="737997">
                  <a:moveTo>
                    <a:pt x="0" y="368935"/>
                  </a:moveTo>
                  <a:cubicBezTo>
                    <a:pt x="0" y="165227"/>
                    <a:pt x="165227" y="0"/>
                    <a:pt x="368935" y="0"/>
                  </a:cubicBezTo>
                  <a:cubicBezTo>
                    <a:pt x="572643" y="0"/>
                    <a:pt x="737997" y="165227"/>
                    <a:pt x="737997" y="368935"/>
                  </a:cubicBezTo>
                  <a:cubicBezTo>
                    <a:pt x="737997" y="572643"/>
                    <a:pt x="572770" y="737997"/>
                    <a:pt x="368935" y="737997"/>
                  </a:cubicBezTo>
                  <a:cubicBezTo>
                    <a:pt x="165100" y="737997"/>
                    <a:pt x="0" y="572770"/>
                    <a:pt x="0" y="368935"/>
                  </a:cubicBezTo>
                  <a:close/>
                </a:path>
              </a:pathLst>
            </a:custGeom>
            <a:solidFill>
              <a:srgbClr val="1C7293">
                <a:alpha val="63922"/>
              </a:srgbClr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14577441" y="3994480"/>
            <a:ext cx="61770" cy="61770"/>
            <a:chOff x="0" y="0"/>
            <a:chExt cx="82360" cy="8236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82423" cy="82423"/>
            </a:xfrm>
            <a:custGeom>
              <a:avLst/>
              <a:gdLst/>
              <a:ahLst/>
              <a:cxnLst/>
              <a:rect r="r" b="b" t="t" l="l"/>
              <a:pathLst>
                <a:path h="82423" w="82423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423" y="18415"/>
                    <a:pt x="82423" y="41148"/>
                  </a:cubicBezTo>
                  <a:cubicBezTo>
                    <a:pt x="82423" y="63881"/>
                    <a:pt x="63881" y="82423"/>
                    <a:pt x="41148" y="82423"/>
                  </a:cubicBezTo>
                  <a:cubicBezTo>
                    <a:pt x="18415" y="82423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5B6E76">
                <a:alpha val="63922"/>
              </a:srgbClr>
            </a:solid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14882174" y="4430982"/>
            <a:ext cx="61770" cy="61770"/>
            <a:chOff x="0" y="0"/>
            <a:chExt cx="82360" cy="8236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82423" cy="82423"/>
            </a:xfrm>
            <a:custGeom>
              <a:avLst/>
              <a:gdLst/>
              <a:ahLst/>
              <a:cxnLst/>
              <a:rect r="r" b="b" t="t" l="l"/>
              <a:pathLst>
                <a:path h="82423" w="82423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423" y="18415"/>
                    <a:pt x="82423" y="41148"/>
                  </a:cubicBezTo>
                  <a:cubicBezTo>
                    <a:pt x="82423" y="63881"/>
                    <a:pt x="63881" y="82423"/>
                    <a:pt x="41148" y="82423"/>
                  </a:cubicBezTo>
                  <a:cubicBezTo>
                    <a:pt x="18415" y="82423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5B6E76">
                <a:alpha val="63922"/>
              </a:srgbClr>
            </a:solidFill>
          </p:spPr>
        </p:sp>
      </p:grpSp>
      <p:grpSp>
        <p:nvGrpSpPr>
          <p:cNvPr name="Group 123" id="123"/>
          <p:cNvGrpSpPr/>
          <p:nvPr/>
        </p:nvGrpSpPr>
        <p:grpSpPr>
          <a:xfrm rot="0">
            <a:off x="15186908" y="4043896"/>
            <a:ext cx="61770" cy="61770"/>
            <a:chOff x="0" y="0"/>
            <a:chExt cx="82360" cy="8236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82423" cy="82423"/>
            </a:xfrm>
            <a:custGeom>
              <a:avLst/>
              <a:gdLst/>
              <a:ahLst/>
              <a:cxnLst/>
              <a:rect r="r" b="b" t="t" l="l"/>
              <a:pathLst>
                <a:path h="82423" w="82423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423" y="18415"/>
                    <a:pt x="82423" y="41148"/>
                  </a:cubicBezTo>
                  <a:cubicBezTo>
                    <a:pt x="82423" y="63881"/>
                    <a:pt x="63881" y="82423"/>
                    <a:pt x="41148" y="82423"/>
                  </a:cubicBezTo>
                  <a:cubicBezTo>
                    <a:pt x="18415" y="82423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5B6E76">
                <a:alpha val="63922"/>
              </a:srgbClr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15602807" y="4296461"/>
            <a:ext cx="424539" cy="219627"/>
            <a:chOff x="0" y="0"/>
            <a:chExt cx="566052" cy="292837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566039" cy="292862"/>
            </a:xfrm>
            <a:custGeom>
              <a:avLst/>
              <a:gdLst/>
              <a:ahLst/>
              <a:cxnLst/>
              <a:rect r="r" b="b" t="t" l="l"/>
              <a:pathLst>
                <a:path h="292862" w="566039">
                  <a:moveTo>
                    <a:pt x="0" y="73152"/>
                  </a:moveTo>
                  <a:lnTo>
                    <a:pt x="419608" y="73152"/>
                  </a:lnTo>
                  <a:lnTo>
                    <a:pt x="419608" y="0"/>
                  </a:lnTo>
                  <a:lnTo>
                    <a:pt x="566039" y="146431"/>
                  </a:lnTo>
                  <a:lnTo>
                    <a:pt x="419608" y="292862"/>
                  </a:lnTo>
                  <a:lnTo>
                    <a:pt x="419608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50808E"/>
            </a:solid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16137217" y="3902583"/>
            <a:ext cx="1007393" cy="1007393"/>
            <a:chOff x="0" y="0"/>
            <a:chExt cx="1343190" cy="1343190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1343152" cy="1343152"/>
            </a:xfrm>
            <a:custGeom>
              <a:avLst/>
              <a:gdLst/>
              <a:ahLst/>
              <a:cxnLst/>
              <a:rect r="r" b="b" t="t" l="l"/>
              <a:pathLst>
                <a:path h="1343152" w="1343152">
                  <a:moveTo>
                    <a:pt x="0" y="111887"/>
                  </a:moveTo>
                  <a:cubicBezTo>
                    <a:pt x="0" y="50165"/>
                    <a:pt x="50165" y="0"/>
                    <a:pt x="111887" y="0"/>
                  </a:cubicBezTo>
                  <a:lnTo>
                    <a:pt x="1231265" y="0"/>
                  </a:lnTo>
                  <a:cubicBezTo>
                    <a:pt x="1293114" y="0"/>
                    <a:pt x="1343152" y="50165"/>
                    <a:pt x="1343152" y="111887"/>
                  </a:cubicBezTo>
                  <a:lnTo>
                    <a:pt x="1343152" y="1231265"/>
                  </a:lnTo>
                  <a:cubicBezTo>
                    <a:pt x="1343152" y="1293114"/>
                    <a:pt x="1292987" y="1343152"/>
                    <a:pt x="1231265" y="1343152"/>
                  </a:cubicBezTo>
                  <a:lnTo>
                    <a:pt x="111887" y="1343152"/>
                  </a:lnTo>
                  <a:cubicBezTo>
                    <a:pt x="50038" y="1343152"/>
                    <a:pt x="0" y="1292987"/>
                    <a:pt x="0" y="1231265"/>
                  </a:cubicBezTo>
                  <a:close/>
                </a:path>
              </a:pathLst>
            </a:custGeom>
            <a:solidFill>
              <a:srgbClr val="C7D8DE"/>
            </a:solidFill>
            <a:ln w="19065" cap="sq">
              <a:solidFill>
                <a:srgbClr val="50808E"/>
              </a:solidFill>
              <a:prstDash val="solid"/>
              <a:miter/>
            </a:ln>
          </p:spPr>
        </p:sp>
      </p:grpSp>
      <p:grpSp>
        <p:nvGrpSpPr>
          <p:cNvPr name="Group 129" id="129"/>
          <p:cNvGrpSpPr/>
          <p:nvPr/>
        </p:nvGrpSpPr>
        <p:grpSpPr>
          <a:xfrm rot="0">
            <a:off x="16364179" y="4129545"/>
            <a:ext cx="553460" cy="553460"/>
            <a:chOff x="0" y="0"/>
            <a:chExt cx="737946" cy="737946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737997" cy="737997"/>
            </a:xfrm>
            <a:custGeom>
              <a:avLst/>
              <a:gdLst/>
              <a:ahLst/>
              <a:cxnLst/>
              <a:rect r="r" b="b" t="t" l="l"/>
              <a:pathLst>
                <a:path h="737997" w="737997">
                  <a:moveTo>
                    <a:pt x="0" y="368935"/>
                  </a:moveTo>
                  <a:cubicBezTo>
                    <a:pt x="0" y="165227"/>
                    <a:pt x="165227" y="0"/>
                    <a:pt x="368935" y="0"/>
                  </a:cubicBezTo>
                  <a:cubicBezTo>
                    <a:pt x="572643" y="0"/>
                    <a:pt x="737997" y="165227"/>
                    <a:pt x="737997" y="368935"/>
                  </a:cubicBezTo>
                  <a:cubicBezTo>
                    <a:pt x="737997" y="572643"/>
                    <a:pt x="572770" y="737997"/>
                    <a:pt x="368935" y="737997"/>
                  </a:cubicBezTo>
                  <a:cubicBezTo>
                    <a:pt x="165100" y="737997"/>
                    <a:pt x="0" y="572770"/>
                    <a:pt x="0" y="368935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9540069" y="5243608"/>
            <a:ext cx="7594997" cy="480431"/>
            <a:chOff x="0" y="0"/>
            <a:chExt cx="10126662" cy="640575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10126662" cy="640580"/>
            </a:xfrm>
            <a:custGeom>
              <a:avLst/>
              <a:gdLst/>
              <a:ahLst/>
              <a:cxnLst/>
              <a:rect r="r" b="b" t="t" l="l"/>
              <a:pathLst>
                <a:path h="640580" w="10126662">
                  <a:moveTo>
                    <a:pt x="0" y="0"/>
                  </a:moveTo>
                  <a:lnTo>
                    <a:pt x="10126662" y="0"/>
                  </a:lnTo>
                  <a:lnTo>
                    <a:pt x="10126662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8031" r="0" b="-258030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28575"/>
              <a:ext cx="10126662" cy="669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1"/>
                </a:lnSpc>
              </a:pPr>
              <a:r>
                <a:rPr lang="en-US" sz="1651" i="true">
                  <a:solidFill>
                    <a:srgbClr val="5B6E7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Noisy → Denoising → Clean Slice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9530544" y="6057681"/>
            <a:ext cx="7614056" cy="2146706"/>
            <a:chOff x="0" y="0"/>
            <a:chExt cx="10152075" cy="2862275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10152126" cy="2862326"/>
            </a:xfrm>
            <a:custGeom>
              <a:avLst/>
              <a:gdLst/>
              <a:ahLst/>
              <a:cxnLst/>
              <a:rect r="r" b="b" t="t" l="l"/>
              <a:pathLst>
                <a:path h="2862326" w="10152126">
                  <a:moveTo>
                    <a:pt x="0" y="166243"/>
                  </a:moveTo>
                  <a:cubicBezTo>
                    <a:pt x="0" y="74422"/>
                    <a:pt x="74422" y="0"/>
                    <a:pt x="166243" y="0"/>
                  </a:cubicBezTo>
                  <a:lnTo>
                    <a:pt x="9985883" y="0"/>
                  </a:lnTo>
                  <a:cubicBezTo>
                    <a:pt x="10077703" y="0"/>
                    <a:pt x="10152126" y="74422"/>
                    <a:pt x="10152126" y="166243"/>
                  </a:cubicBezTo>
                  <a:lnTo>
                    <a:pt x="10152126" y="2696083"/>
                  </a:lnTo>
                  <a:cubicBezTo>
                    <a:pt x="10152126" y="2787904"/>
                    <a:pt x="10077703" y="2862326"/>
                    <a:pt x="9985883" y="2862326"/>
                  </a:cubicBezTo>
                  <a:lnTo>
                    <a:pt x="166243" y="2862326"/>
                  </a:lnTo>
                  <a:cubicBezTo>
                    <a:pt x="74422" y="2862326"/>
                    <a:pt x="0" y="2787904"/>
                    <a:pt x="0" y="2696083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CE6E9"/>
              </a:solidFill>
              <a:prstDash val="solid"/>
              <a:miter/>
            </a:ln>
          </p:spPr>
        </p:sp>
      </p:grpSp>
      <p:sp>
        <p:nvSpPr>
          <p:cNvPr name="TextBox 136" id="136"/>
          <p:cNvSpPr txBox="true"/>
          <p:nvPr/>
        </p:nvSpPr>
        <p:spPr>
          <a:xfrm rot="0">
            <a:off x="9814608" y="6177867"/>
            <a:ext cx="7045928" cy="1514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9"/>
              </a:lnSpc>
            </a:pPr>
            <a:r>
              <a:rPr lang="en-US" sz="2026" b="true">
                <a:solidFill>
                  <a:srgbClr val="21295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Reverse process:</a:t>
            </a:r>
          </a:p>
          <a:p>
            <a:pPr algn="l">
              <a:lnSpc>
                <a:spcPts val="2926"/>
              </a:lnSpc>
            </a:pPr>
          </a:p>
          <a:p>
            <a:pPr algn="l">
              <a:lnSpc>
                <a:spcPts val="2926"/>
              </a:lnSpc>
            </a:pPr>
            <a:r>
              <a:rPr lang="en-US" sz="1951" i="true">
                <a:solidFill>
                  <a:srgbClr val="1B2A3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xT (noise) → xT-1 → … → x₀</a:t>
            </a:r>
            <a:r>
              <a:rPr lang="en-US" sz="1951">
                <a:solidFill>
                  <a:srgbClr val="5B6E76"/>
                </a:solidFill>
                <a:latin typeface="Calibri (MS)"/>
                <a:ea typeface="Calibri (MS)"/>
                <a:cs typeface="Calibri (MS)"/>
                <a:sym typeface="Calibri (MS)"/>
              </a:rPr>
              <a:t> (predicted slice), conditioned on neighboring slice context at every step.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971" y="576520"/>
            <a:ext cx="12354049" cy="439255"/>
            <a:chOff x="0" y="0"/>
            <a:chExt cx="16472065" cy="5856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72069" cy="585674"/>
            </a:xfrm>
            <a:custGeom>
              <a:avLst/>
              <a:gdLst/>
              <a:ahLst/>
              <a:cxnLst/>
              <a:rect r="r" b="b" t="t" l="l"/>
              <a:pathLst>
                <a:path h="585674" w="16472069">
                  <a:moveTo>
                    <a:pt x="0" y="0"/>
                  </a:moveTo>
                  <a:lnTo>
                    <a:pt x="16472069" y="0"/>
                  </a:lnTo>
                  <a:lnTo>
                    <a:pt x="16472069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8016" r="0" b="-49801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472065" cy="6237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b="true" sz="1801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DATASET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971" y="988324"/>
            <a:ext cx="16791899" cy="988324"/>
            <a:chOff x="0" y="0"/>
            <a:chExt cx="22389198" cy="13177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389201" cy="1317765"/>
            </a:xfrm>
            <a:custGeom>
              <a:avLst/>
              <a:gdLst/>
              <a:ahLst/>
              <a:cxnLst/>
              <a:rect r="r" b="b" t="t" l="l"/>
              <a:pathLst>
                <a:path h="1317765" w="22389201">
                  <a:moveTo>
                    <a:pt x="0" y="0"/>
                  </a:moveTo>
                  <a:lnTo>
                    <a:pt x="22389201" y="0"/>
                  </a:lnTo>
                  <a:lnTo>
                    <a:pt x="22389201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1056" r="0" b="-28105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389198" cy="1327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4"/>
                </a:lnSpc>
              </a:pPr>
              <a:r>
                <a:rPr lang="en-US" sz="4503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Candidate Public Medical Imaging Datasets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4971" y="9718519"/>
            <a:ext cx="10981382" cy="411804"/>
            <a:chOff x="0" y="0"/>
            <a:chExt cx="14641843" cy="5490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41840" cy="549069"/>
            </a:xfrm>
            <a:custGeom>
              <a:avLst/>
              <a:gdLst/>
              <a:ahLst/>
              <a:cxnLst/>
              <a:rect r="r" b="b" t="t" l="l"/>
              <a:pathLst>
                <a:path h="549069" w="14641840">
                  <a:moveTo>
                    <a:pt x="0" y="0"/>
                  </a:moveTo>
                  <a:lnTo>
                    <a:pt x="14641840" y="0"/>
                  </a:lnTo>
                  <a:lnTo>
                    <a:pt x="1464184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0" r="0" b="-46960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4641843" cy="5776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>
                  <a:solidFill>
                    <a:srgbClr val="5B6E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3D Reconstruction of Biomedical Tissues — B.Tech Project Proposal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899663" y="9718519"/>
            <a:ext cx="1647206" cy="411804"/>
            <a:chOff x="0" y="0"/>
            <a:chExt cx="2196274" cy="5490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6276" cy="549069"/>
            </a:xfrm>
            <a:custGeom>
              <a:avLst/>
              <a:gdLst/>
              <a:ahLst/>
              <a:cxnLst/>
              <a:rect r="r" b="b" t="t" l="l"/>
              <a:pathLst>
                <a:path h="549069" w="2196276">
                  <a:moveTo>
                    <a:pt x="0" y="0"/>
                  </a:moveTo>
                  <a:lnTo>
                    <a:pt x="2196276" y="0"/>
                  </a:lnTo>
                  <a:lnTo>
                    <a:pt x="219627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39" r="0" b="-2794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2196274" cy="5776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1"/>
                </a:lnSpc>
              </a:pPr>
              <a:r>
                <a:rPr lang="en-US" sz="1351">
                  <a:solidFill>
                    <a:srgbClr val="5B6E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07 / 12</a:t>
              </a:r>
            </a:p>
          </p:txBody>
        </p:sp>
      </p:grpSp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754970" y="2676711"/>
          <a:ext cx="16758042" cy="4232407"/>
        </p:xfrm>
        <a:graphic>
          <a:graphicData uri="http://schemas.openxmlformats.org/drawingml/2006/table">
            <a:tbl>
              <a:tblPr/>
              <a:tblGrid>
                <a:gridCol w="2340320"/>
                <a:gridCol w="2949856"/>
                <a:gridCol w="3762572"/>
                <a:gridCol w="2543498"/>
                <a:gridCol w="5161796"/>
              </a:tblGrid>
              <a:tr h="76154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sz="1876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Dataset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sz="1876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Organ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sz="1876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Modality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sz="1876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Volumes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sz="1876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Purpose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115695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 b="true">
                          <a:solidFill>
                            <a:srgbClr val="21295C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BraTS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2129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Brain (Tumor)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2129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MRI (T1, T1c, T2, FLAIR)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2129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~2,000 volumes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2129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Primary dataset — tumor segmentation &amp; reconstruction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3"/>
                    </a:solidFill>
                  </a:tcPr>
                </a:tc>
              </a:tr>
              <a:tr h="115695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B2A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LIDC-IDRI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B2A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Lung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B2A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CT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B2A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1,018 volumes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B2A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Nodule detection &amp; sparse-CT benchmarking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5695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B2A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ACDC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B2A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Heart (Cardiac)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B2A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MRI (Cine-MRI)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B2A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150 volumes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B2A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Cardiac structure segmentation &amp; motion analysis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</a:tr>
            </a:tbl>
          </a:graphicData>
        </a:graphic>
      </p:graphicFrame>
      <p:grpSp>
        <p:nvGrpSpPr>
          <p:cNvPr name="Group 15" id="15"/>
          <p:cNvGrpSpPr/>
          <p:nvPr/>
        </p:nvGrpSpPr>
        <p:grpSpPr>
          <a:xfrm rot="0">
            <a:off x="745436" y="7059730"/>
            <a:ext cx="16810968" cy="2146706"/>
            <a:chOff x="0" y="0"/>
            <a:chExt cx="22414624" cy="286227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414737" cy="2862326"/>
            </a:xfrm>
            <a:custGeom>
              <a:avLst/>
              <a:gdLst/>
              <a:ahLst/>
              <a:cxnLst/>
              <a:rect r="r" b="b" t="t" l="l"/>
              <a:pathLst>
                <a:path h="2862326" w="22414737">
                  <a:moveTo>
                    <a:pt x="0" y="166243"/>
                  </a:moveTo>
                  <a:cubicBezTo>
                    <a:pt x="0" y="74422"/>
                    <a:pt x="74422" y="0"/>
                    <a:pt x="166243" y="0"/>
                  </a:cubicBezTo>
                  <a:lnTo>
                    <a:pt x="22248495" y="0"/>
                  </a:lnTo>
                  <a:cubicBezTo>
                    <a:pt x="22340315" y="0"/>
                    <a:pt x="22414737" y="74422"/>
                    <a:pt x="22414737" y="166243"/>
                  </a:cubicBezTo>
                  <a:lnTo>
                    <a:pt x="22414737" y="2696083"/>
                  </a:lnTo>
                  <a:cubicBezTo>
                    <a:pt x="22414737" y="2787904"/>
                    <a:pt x="22340315" y="2862326"/>
                    <a:pt x="22248495" y="2862326"/>
                  </a:cubicBezTo>
                  <a:lnTo>
                    <a:pt x="166243" y="2862326"/>
                  </a:lnTo>
                  <a:cubicBezTo>
                    <a:pt x="74422" y="2862326"/>
                    <a:pt x="0" y="2787904"/>
                    <a:pt x="0" y="2696083"/>
                  </a:cubicBezTo>
                  <a:close/>
                </a:path>
              </a:pathLst>
            </a:custGeom>
            <a:solidFill>
              <a:srgbClr val="EFF5F7"/>
            </a:solidFill>
            <a:ln w="19065" cap="sq">
              <a:solidFill>
                <a:srgbClr val="DCE6E9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194225" y="7439882"/>
            <a:ext cx="988324" cy="988324"/>
            <a:chOff x="0" y="0"/>
            <a:chExt cx="1317765" cy="131776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17752" cy="1317752"/>
            </a:xfrm>
            <a:custGeom>
              <a:avLst/>
              <a:gdLst/>
              <a:ahLst/>
              <a:cxnLst/>
              <a:rect r="r" b="b" t="t" l="l"/>
              <a:pathLst>
                <a:path h="1317752" w="1317752">
                  <a:moveTo>
                    <a:pt x="0" y="658876"/>
                  </a:moveTo>
                  <a:cubicBezTo>
                    <a:pt x="0" y="295021"/>
                    <a:pt x="295021" y="0"/>
                    <a:pt x="658876" y="0"/>
                  </a:cubicBezTo>
                  <a:cubicBezTo>
                    <a:pt x="1022731" y="0"/>
                    <a:pt x="1317752" y="295021"/>
                    <a:pt x="1317752" y="658876"/>
                  </a:cubicBezTo>
                  <a:cubicBezTo>
                    <a:pt x="1317752" y="1022731"/>
                    <a:pt x="1022731" y="1317752"/>
                    <a:pt x="658876" y="1317752"/>
                  </a:cubicBezTo>
                  <a:cubicBezTo>
                    <a:pt x="295021" y="1317752"/>
                    <a:pt x="0" y="1022731"/>
                    <a:pt x="0" y="658876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22708" y="7568365"/>
            <a:ext cx="731358" cy="731358"/>
            <a:chOff x="0" y="0"/>
            <a:chExt cx="975144" cy="975144"/>
          </a:xfrm>
        </p:grpSpPr>
        <p:sp>
          <p:nvSpPr>
            <p:cNvPr name="Freeform 20" id="20" descr="/home/claude/proj/icons/check_white.png"/>
            <p:cNvSpPr/>
            <p:nvPr/>
          </p:nvSpPr>
          <p:spPr>
            <a:xfrm flipH="false" flipV="false" rot="0">
              <a:off x="0" y="0"/>
              <a:ext cx="975106" cy="975106"/>
            </a:xfrm>
            <a:custGeom>
              <a:avLst/>
              <a:gdLst/>
              <a:ahLst/>
              <a:cxnLst/>
              <a:rect r="r" b="b" t="t" l="l"/>
              <a:pathLst>
                <a:path h="975106" w="975106">
                  <a:moveTo>
                    <a:pt x="0" y="0"/>
                  </a:moveTo>
                  <a:lnTo>
                    <a:pt x="975106" y="0"/>
                  </a:lnTo>
                  <a:lnTo>
                    <a:pt x="975106" y="975106"/>
                  </a:lnTo>
                  <a:lnTo>
                    <a:pt x="0" y="9751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3" b="-3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2539441" y="7471096"/>
            <a:ext cx="14595624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2"/>
              </a:lnSpc>
            </a:pPr>
            <a:r>
              <a:rPr lang="en-US" sz="2451" b="true">
                <a:solidFill>
                  <a:srgbClr val="21295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Chosen Dataset: BraTS</a:t>
            </a:r>
          </a:p>
          <a:p>
            <a:pPr algn="l">
              <a:lnSpc>
                <a:spcPts val="2311"/>
              </a:lnSpc>
            </a:pPr>
          </a:p>
          <a:p>
            <a:pPr algn="l">
              <a:lnSpc>
                <a:spcPts val="2311"/>
              </a:lnSpc>
            </a:pPr>
            <a:r>
              <a:rPr lang="en-US" sz="1926">
                <a:solidFill>
                  <a:srgbClr val="5B6E76"/>
                </a:solidFill>
                <a:latin typeface="Calibri (MS)"/>
                <a:ea typeface="Calibri (MS)"/>
                <a:cs typeface="Calibri (MS)"/>
                <a:sym typeface="Calibri (MS)"/>
              </a:rPr>
              <a:t>Selected for its large volume count, multi-modal MRI sequences, and well-established benchmark status — ideal for training and validating the conditional diffusion reconstruction model.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971" y="576520"/>
            <a:ext cx="12354049" cy="439255"/>
            <a:chOff x="0" y="0"/>
            <a:chExt cx="16472065" cy="5856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72069" cy="585674"/>
            </a:xfrm>
            <a:custGeom>
              <a:avLst/>
              <a:gdLst/>
              <a:ahLst/>
              <a:cxnLst/>
              <a:rect r="r" b="b" t="t" l="l"/>
              <a:pathLst>
                <a:path h="585674" w="16472069">
                  <a:moveTo>
                    <a:pt x="0" y="0"/>
                  </a:moveTo>
                  <a:lnTo>
                    <a:pt x="16472069" y="0"/>
                  </a:lnTo>
                  <a:lnTo>
                    <a:pt x="16472069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8016" r="0" b="-49801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472065" cy="6237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b="true" sz="1801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TECHNOLOGY STACK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971" y="988324"/>
            <a:ext cx="16791899" cy="988324"/>
            <a:chOff x="0" y="0"/>
            <a:chExt cx="22389198" cy="13177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389201" cy="1317765"/>
            </a:xfrm>
            <a:custGeom>
              <a:avLst/>
              <a:gdLst/>
              <a:ahLst/>
              <a:cxnLst/>
              <a:rect r="r" b="b" t="t" l="l"/>
              <a:pathLst>
                <a:path h="1317765" w="22389201">
                  <a:moveTo>
                    <a:pt x="0" y="0"/>
                  </a:moveTo>
                  <a:lnTo>
                    <a:pt x="22389201" y="0"/>
                  </a:lnTo>
                  <a:lnTo>
                    <a:pt x="22389201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1056" r="0" b="-28105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389198" cy="1327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4"/>
                </a:lnSpc>
              </a:pPr>
              <a:r>
                <a:rPr lang="en-US" sz="4503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Tools &amp; Frameworks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4971" y="9718519"/>
            <a:ext cx="10981382" cy="411804"/>
            <a:chOff x="0" y="0"/>
            <a:chExt cx="14641843" cy="5490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41840" cy="549069"/>
            </a:xfrm>
            <a:custGeom>
              <a:avLst/>
              <a:gdLst/>
              <a:ahLst/>
              <a:cxnLst/>
              <a:rect r="r" b="b" t="t" l="l"/>
              <a:pathLst>
                <a:path h="549069" w="14641840">
                  <a:moveTo>
                    <a:pt x="0" y="0"/>
                  </a:moveTo>
                  <a:lnTo>
                    <a:pt x="14641840" y="0"/>
                  </a:lnTo>
                  <a:lnTo>
                    <a:pt x="1464184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0" r="0" b="-46960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4641843" cy="5776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>
                  <a:solidFill>
                    <a:srgbClr val="5B6E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3D Reconstruction of Biomedical Tissues — B.Tech Project Proposal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899663" y="9718519"/>
            <a:ext cx="1647206" cy="411804"/>
            <a:chOff x="0" y="0"/>
            <a:chExt cx="2196274" cy="5490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6276" cy="549069"/>
            </a:xfrm>
            <a:custGeom>
              <a:avLst/>
              <a:gdLst/>
              <a:ahLst/>
              <a:cxnLst/>
              <a:rect r="r" b="b" t="t" l="l"/>
              <a:pathLst>
                <a:path h="549069" w="2196276">
                  <a:moveTo>
                    <a:pt x="0" y="0"/>
                  </a:moveTo>
                  <a:lnTo>
                    <a:pt x="2196276" y="0"/>
                  </a:lnTo>
                  <a:lnTo>
                    <a:pt x="219627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39" r="0" b="-2794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2196274" cy="5776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1"/>
                </a:lnSpc>
              </a:pPr>
              <a:r>
                <a:rPr lang="en-US" sz="1351">
                  <a:solidFill>
                    <a:srgbClr val="5B6E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08 / 12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45436" y="2667181"/>
            <a:ext cx="5415039" cy="1872177"/>
            <a:chOff x="0" y="0"/>
            <a:chExt cx="7220052" cy="249623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219950" cy="2496185"/>
            </a:xfrm>
            <a:custGeom>
              <a:avLst/>
              <a:gdLst/>
              <a:ahLst/>
              <a:cxnLst/>
              <a:rect r="r" b="b" t="t" l="l"/>
              <a:pathLst>
                <a:path h="2496185" w="7219950">
                  <a:moveTo>
                    <a:pt x="0" y="166370"/>
                  </a:moveTo>
                  <a:cubicBezTo>
                    <a:pt x="0" y="74549"/>
                    <a:pt x="74549" y="0"/>
                    <a:pt x="166370" y="0"/>
                  </a:cubicBezTo>
                  <a:lnTo>
                    <a:pt x="7053580" y="0"/>
                  </a:lnTo>
                  <a:cubicBezTo>
                    <a:pt x="7145528" y="0"/>
                    <a:pt x="7219950" y="74549"/>
                    <a:pt x="7219950" y="166370"/>
                  </a:cubicBezTo>
                  <a:lnTo>
                    <a:pt x="7219950" y="2329815"/>
                  </a:lnTo>
                  <a:cubicBezTo>
                    <a:pt x="7219950" y="2421763"/>
                    <a:pt x="7145401" y="2496185"/>
                    <a:pt x="7053580" y="2496185"/>
                  </a:cubicBezTo>
                  <a:lnTo>
                    <a:pt x="166370" y="2496185"/>
                  </a:lnTo>
                  <a:cubicBezTo>
                    <a:pt x="74422" y="2496185"/>
                    <a:pt x="0" y="2421636"/>
                    <a:pt x="0" y="2329815"/>
                  </a:cubicBezTo>
                  <a:close/>
                </a:path>
              </a:pathLst>
            </a:custGeom>
            <a:solidFill>
              <a:srgbClr val="F7FAFB"/>
            </a:solidFill>
            <a:ln w="19065" cap="sq">
              <a:solidFill>
                <a:srgbClr val="DCE6E9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139314" y="3122828"/>
            <a:ext cx="960872" cy="960872"/>
            <a:chOff x="0" y="0"/>
            <a:chExt cx="1281163" cy="128116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81176" cy="1281176"/>
            </a:xfrm>
            <a:custGeom>
              <a:avLst/>
              <a:gdLst/>
              <a:ahLst/>
              <a:cxnLst/>
              <a:rect r="r" b="b" t="t" l="l"/>
              <a:pathLst>
                <a:path h="1281176" w="1281176">
                  <a:moveTo>
                    <a:pt x="0" y="640588"/>
                  </a:moveTo>
                  <a:cubicBezTo>
                    <a:pt x="0" y="286766"/>
                    <a:pt x="286766" y="0"/>
                    <a:pt x="640588" y="0"/>
                  </a:cubicBezTo>
                  <a:cubicBezTo>
                    <a:pt x="994410" y="0"/>
                    <a:pt x="1281176" y="286766"/>
                    <a:pt x="1281176" y="640588"/>
                  </a:cubicBezTo>
                  <a:cubicBezTo>
                    <a:pt x="1281176" y="994410"/>
                    <a:pt x="994410" y="1281176"/>
                    <a:pt x="640588" y="1281176"/>
                  </a:cubicBezTo>
                  <a:cubicBezTo>
                    <a:pt x="286766" y="1281176"/>
                    <a:pt x="0" y="994410"/>
                    <a:pt x="0" y="640588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64234" y="3247739"/>
            <a:ext cx="711041" cy="711041"/>
            <a:chOff x="0" y="0"/>
            <a:chExt cx="948055" cy="948055"/>
          </a:xfrm>
        </p:grpSpPr>
        <p:sp>
          <p:nvSpPr>
            <p:cNvPr name="Freeform 19" id="19" descr="/home/claude/proj/icons/python_white.png"/>
            <p:cNvSpPr/>
            <p:nvPr/>
          </p:nvSpPr>
          <p:spPr>
            <a:xfrm flipH="false" flipV="false" rot="0">
              <a:off x="0" y="0"/>
              <a:ext cx="948055" cy="948055"/>
            </a:xfrm>
            <a:custGeom>
              <a:avLst/>
              <a:gdLst/>
              <a:ahLst/>
              <a:cxnLst/>
              <a:rect r="r" b="b" t="t" l="l"/>
              <a:pathLst>
                <a:path h="948055" w="948055">
                  <a:moveTo>
                    <a:pt x="0" y="0"/>
                  </a:moveTo>
                  <a:lnTo>
                    <a:pt x="948055" y="0"/>
                  </a:lnTo>
                  <a:lnTo>
                    <a:pt x="948055" y="948055"/>
                  </a:lnTo>
                  <a:lnTo>
                    <a:pt x="0" y="9480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333539" y="3006157"/>
            <a:ext cx="3542871" cy="549069"/>
            <a:chOff x="0" y="0"/>
            <a:chExt cx="4723828" cy="7320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723823" cy="732092"/>
            </a:xfrm>
            <a:custGeom>
              <a:avLst/>
              <a:gdLst/>
              <a:ahLst/>
              <a:cxnLst/>
              <a:rect r="r" b="b" t="t" l="l"/>
              <a:pathLst>
                <a:path h="732092" w="4723823">
                  <a:moveTo>
                    <a:pt x="0" y="0"/>
                  </a:moveTo>
                  <a:lnTo>
                    <a:pt x="4723823" y="0"/>
                  </a:lnTo>
                  <a:lnTo>
                    <a:pt x="4723823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727" r="0" b="-7572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4723828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Python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333539" y="3610127"/>
            <a:ext cx="3542871" cy="549069"/>
            <a:chOff x="0" y="0"/>
            <a:chExt cx="4723828" cy="7320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723823" cy="732092"/>
            </a:xfrm>
            <a:custGeom>
              <a:avLst/>
              <a:gdLst/>
              <a:ahLst/>
              <a:cxnLst/>
              <a:rect r="r" b="b" t="t" l="l"/>
              <a:pathLst>
                <a:path h="732092" w="4723823">
                  <a:moveTo>
                    <a:pt x="0" y="0"/>
                  </a:moveTo>
                  <a:lnTo>
                    <a:pt x="4723823" y="0"/>
                  </a:lnTo>
                  <a:lnTo>
                    <a:pt x="4723823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727" r="0" b="-7572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4723828" cy="770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31"/>
                </a:lnSpc>
              </a:pPr>
              <a:r>
                <a:rPr lang="en-US" sz="1776">
                  <a:solidFill>
                    <a:srgbClr val="5B6E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Core language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443396" y="2667181"/>
            <a:ext cx="5415039" cy="1872177"/>
            <a:chOff x="0" y="0"/>
            <a:chExt cx="7220052" cy="249623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219950" cy="2496185"/>
            </a:xfrm>
            <a:custGeom>
              <a:avLst/>
              <a:gdLst/>
              <a:ahLst/>
              <a:cxnLst/>
              <a:rect r="r" b="b" t="t" l="l"/>
              <a:pathLst>
                <a:path h="2496185" w="7219950">
                  <a:moveTo>
                    <a:pt x="0" y="166370"/>
                  </a:moveTo>
                  <a:cubicBezTo>
                    <a:pt x="0" y="74549"/>
                    <a:pt x="74549" y="0"/>
                    <a:pt x="166370" y="0"/>
                  </a:cubicBezTo>
                  <a:lnTo>
                    <a:pt x="7053580" y="0"/>
                  </a:lnTo>
                  <a:cubicBezTo>
                    <a:pt x="7145528" y="0"/>
                    <a:pt x="7219950" y="74549"/>
                    <a:pt x="7219950" y="166370"/>
                  </a:cubicBezTo>
                  <a:lnTo>
                    <a:pt x="7219950" y="2329815"/>
                  </a:lnTo>
                  <a:cubicBezTo>
                    <a:pt x="7219950" y="2421763"/>
                    <a:pt x="7145401" y="2496185"/>
                    <a:pt x="7053580" y="2496185"/>
                  </a:cubicBezTo>
                  <a:lnTo>
                    <a:pt x="166370" y="2496185"/>
                  </a:lnTo>
                  <a:cubicBezTo>
                    <a:pt x="74422" y="2496185"/>
                    <a:pt x="0" y="2421636"/>
                    <a:pt x="0" y="2329815"/>
                  </a:cubicBezTo>
                  <a:close/>
                </a:path>
              </a:pathLst>
            </a:custGeom>
            <a:solidFill>
              <a:srgbClr val="F7FAFB"/>
            </a:solidFill>
            <a:ln w="19065" cap="sq">
              <a:solidFill>
                <a:srgbClr val="DCE6E9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6837283" y="3122828"/>
            <a:ext cx="960872" cy="960872"/>
            <a:chOff x="0" y="0"/>
            <a:chExt cx="1281163" cy="128116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81176" cy="1281176"/>
            </a:xfrm>
            <a:custGeom>
              <a:avLst/>
              <a:gdLst/>
              <a:ahLst/>
              <a:cxnLst/>
              <a:rect r="r" b="b" t="t" l="l"/>
              <a:pathLst>
                <a:path h="1281176" w="1281176">
                  <a:moveTo>
                    <a:pt x="0" y="640588"/>
                  </a:moveTo>
                  <a:cubicBezTo>
                    <a:pt x="0" y="286766"/>
                    <a:pt x="286766" y="0"/>
                    <a:pt x="640588" y="0"/>
                  </a:cubicBezTo>
                  <a:cubicBezTo>
                    <a:pt x="994410" y="0"/>
                    <a:pt x="1281176" y="286766"/>
                    <a:pt x="1281176" y="640588"/>
                  </a:cubicBezTo>
                  <a:cubicBezTo>
                    <a:pt x="1281176" y="994410"/>
                    <a:pt x="994410" y="1281176"/>
                    <a:pt x="640588" y="1281176"/>
                  </a:cubicBezTo>
                  <a:cubicBezTo>
                    <a:pt x="286766" y="1281176"/>
                    <a:pt x="0" y="994410"/>
                    <a:pt x="0" y="640588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6962194" y="3247739"/>
            <a:ext cx="711041" cy="711041"/>
            <a:chOff x="0" y="0"/>
            <a:chExt cx="948055" cy="948055"/>
          </a:xfrm>
        </p:grpSpPr>
        <p:sp>
          <p:nvSpPr>
            <p:cNvPr name="Freeform 31" id="31" descr="/home/claude/proj/icons/pytorch_white.png"/>
            <p:cNvSpPr/>
            <p:nvPr/>
          </p:nvSpPr>
          <p:spPr>
            <a:xfrm flipH="false" flipV="false" rot="0">
              <a:off x="0" y="0"/>
              <a:ext cx="948055" cy="948055"/>
            </a:xfrm>
            <a:custGeom>
              <a:avLst/>
              <a:gdLst/>
              <a:ahLst/>
              <a:cxnLst/>
              <a:rect r="r" b="b" t="t" l="l"/>
              <a:pathLst>
                <a:path h="948055" w="948055">
                  <a:moveTo>
                    <a:pt x="0" y="0"/>
                  </a:moveTo>
                  <a:lnTo>
                    <a:pt x="948055" y="0"/>
                  </a:lnTo>
                  <a:lnTo>
                    <a:pt x="948055" y="948055"/>
                  </a:lnTo>
                  <a:lnTo>
                    <a:pt x="0" y="9480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8031509" y="3006157"/>
            <a:ext cx="3542871" cy="549069"/>
            <a:chOff x="0" y="0"/>
            <a:chExt cx="4723828" cy="73209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723823" cy="732092"/>
            </a:xfrm>
            <a:custGeom>
              <a:avLst/>
              <a:gdLst/>
              <a:ahLst/>
              <a:cxnLst/>
              <a:rect r="r" b="b" t="t" l="l"/>
              <a:pathLst>
                <a:path h="732092" w="4723823">
                  <a:moveTo>
                    <a:pt x="0" y="0"/>
                  </a:moveTo>
                  <a:lnTo>
                    <a:pt x="4723823" y="0"/>
                  </a:lnTo>
                  <a:lnTo>
                    <a:pt x="4723823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727" r="0" b="-75727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4723828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PyTorch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031509" y="3610127"/>
            <a:ext cx="3542871" cy="549069"/>
            <a:chOff x="0" y="0"/>
            <a:chExt cx="4723828" cy="73209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723823" cy="732092"/>
            </a:xfrm>
            <a:custGeom>
              <a:avLst/>
              <a:gdLst/>
              <a:ahLst/>
              <a:cxnLst/>
              <a:rect r="r" b="b" t="t" l="l"/>
              <a:pathLst>
                <a:path h="732092" w="4723823">
                  <a:moveTo>
                    <a:pt x="0" y="0"/>
                  </a:moveTo>
                  <a:lnTo>
                    <a:pt x="4723823" y="0"/>
                  </a:lnTo>
                  <a:lnTo>
                    <a:pt x="4723823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727" r="0" b="-7572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4723828" cy="770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31"/>
                </a:lnSpc>
              </a:pPr>
              <a:r>
                <a:rPr lang="en-US" sz="1776">
                  <a:solidFill>
                    <a:srgbClr val="5B6E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Deep learning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141365" y="2667181"/>
            <a:ext cx="5415039" cy="1872177"/>
            <a:chOff x="0" y="0"/>
            <a:chExt cx="7220052" cy="249623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219950" cy="2496185"/>
            </a:xfrm>
            <a:custGeom>
              <a:avLst/>
              <a:gdLst/>
              <a:ahLst/>
              <a:cxnLst/>
              <a:rect r="r" b="b" t="t" l="l"/>
              <a:pathLst>
                <a:path h="2496185" w="7219950">
                  <a:moveTo>
                    <a:pt x="0" y="166370"/>
                  </a:moveTo>
                  <a:cubicBezTo>
                    <a:pt x="0" y="74549"/>
                    <a:pt x="74549" y="0"/>
                    <a:pt x="166370" y="0"/>
                  </a:cubicBezTo>
                  <a:lnTo>
                    <a:pt x="7053580" y="0"/>
                  </a:lnTo>
                  <a:cubicBezTo>
                    <a:pt x="7145528" y="0"/>
                    <a:pt x="7219950" y="74549"/>
                    <a:pt x="7219950" y="166370"/>
                  </a:cubicBezTo>
                  <a:lnTo>
                    <a:pt x="7219950" y="2329815"/>
                  </a:lnTo>
                  <a:cubicBezTo>
                    <a:pt x="7219950" y="2421763"/>
                    <a:pt x="7145401" y="2496185"/>
                    <a:pt x="7053580" y="2496185"/>
                  </a:cubicBezTo>
                  <a:lnTo>
                    <a:pt x="166370" y="2496185"/>
                  </a:lnTo>
                  <a:cubicBezTo>
                    <a:pt x="74422" y="2496185"/>
                    <a:pt x="0" y="2421636"/>
                    <a:pt x="0" y="2329815"/>
                  </a:cubicBezTo>
                  <a:close/>
                </a:path>
              </a:pathLst>
            </a:custGeom>
            <a:solidFill>
              <a:srgbClr val="F7FAFB"/>
            </a:solidFill>
            <a:ln w="19065" cap="sq">
              <a:solidFill>
                <a:srgbClr val="DCE6E9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2535243" y="3122828"/>
            <a:ext cx="960872" cy="960872"/>
            <a:chOff x="0" y="0"/>
            <a:chExt cx="1281163" cy="128116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281176" cy="1281176"/>
            </a:xfrm>
            <a:custGeom>
              <a:avLst/>
              <a:gdLst/>
              <a:ahLst/>
              <a:cxnLst/>
              <a:rect r="r" b="b" t="t" l="l"/>
              <a:pathLst>
                <a:path h="1281176" w="1281176">
                  <a:moveTo>
                    <a:pt x="0" y="640588"/>
                  </a:moveTo>
                  <a:cubicBezTo>
                    <a:pt x="0" y="286766"/>
                    <a:pt x="286766" y="0"/>
                    <a:pt x="640588" y="0"/>
                  </a:cubicBezTo>
                  <a:cubicBezTo>
                    <a:pt x="994410" y="0"/>
                    <a:pt x="1281176" y="286766"/>
                    <a:pt x="1281176" y="640588"/>
                  </a:cubicBezTo>
                  <a:cubicBezTo>
                    <a:pt x="1281176" y="994410"/>
                    <a:pt x="994410" y="1281176"/>
                    <a:pt x="640588" y="1281176"/>
                  </a:cubicBezTo>
                  <a:cubicBezTo>
                    <a:pt x="286766" y="1281176"/>
                    <a:pt x="0" y="994410"/>
                    <a:pt x="0" y="640588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2660154" y="3247739"/>
            <a:ext cx="711041" cy="711041"/>
            <a:chOff x="0" y="0"/>
            <a:chExt cx="948055" cy="948055"/>
          </a:xfrm>
        </p:grpSpPr>
        <p:sp>
          <p:nvSpPr>
            <p:cNvPr name="Freeform 43" id="43" descr="/home/claude/proj/icons/monai_white.png"/>
            <p:cNvSpPr/>
            <p:nvPr/>
          </p:nvSpPr>
          <p:spPr>
            <a:xfrm flipH="false" flipV="false" rot="0">
              <a:off x="0" y="0"/>
              <a:ext cx="948055" cy="948055"/>
            </a:xfrm>
            <a:custGeom>
              <a:avLst/>
              <a:gdLst/>
              <a:ahLst/>
              <a:cxnLst/>
              <a:rect r="r" b="b" t="t" l="l"/>
              <a:pathLst>
                <a:path h="948055" w="948055">
                  <a:moveTo>
                    <a:pt x="0" y="0"/>
                  </a:moveTo>
                  <a:lnTo>
                    <a:pt x="948055" y="0"/>
                  </a:lnTo>
                  <a:lnTo>
                    <a:pt x="948055" y="948055"/>
                  </a:lnTo>
                  <a:lnTo>
                    <a:pt x="0" y="9480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3729468" y="3006157"/>
            <a:ext cx="3542871" cy="549069"/>
            <a:chOff x="0" y="0"/>
            <a:chExt cx="4723828" cy="73209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723823" cy="732092"/>
            </a:xfrm>
            <a:custGeom>
              <a:avLst/>
              <a:gdLst/>
              <a:ahLst/>
              <a:cxnLst/>
              <a:rect r="r" b="b" t="t" l="l"/>
              <a:pathLst>
                <a:path h="732092" w="4723823">
                  <a:moveTo>
                    <a:pt x="0" y="0"/>
                  </a:moveTo>
                  <a:lnTo>
                    <a:pt x="4723823" y="0"/>
                  </a:lnTo>
                  <a:lnTo>
                    <a:pt x="4723823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727" r="0" b="-7572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4723828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MONAI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3729468" y="3610127"/>
            <a:ext cx="3542871" cy="549069"/>
            <a:chOff x="0" y="0"/>
            <a:chExt cx="4723828" cy="73209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723823" cy="732092"/>
            </a:xfrm>
            <a:custGeom>
              <a:avLst/>
              <a:gdLst/>
              <a:ahLst/>
              <a:cxnLst/>
              <a:rect r="r" b="b" t="t" l="l"/>
              <a:pathLst>
                <a:path h="732092" w="4723823">
                  <a:moveTo>
                    <a:pt x="0" y="0"/>
                  </a:moveTo>
                  <a:lnTo>
                    <a:pt x="4723823" y="0"/>
                  </a:lnTo>
                  <a:lnTo>
                    <a:pt x="4723823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727" r="0" b="-75727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4723828" cy="770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31"/>
                </a:lnSpc>
              </a:pPr>
              <a:r>
                <a:rPr lang="en-US" sz="1776">
                  <a:solidFill>
                    <a:srgbClr val="5B6E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Medical AI framework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745436" y="4822279"/>
            <a:ext cx="5415039" cy="1872177"/>
            <a:chOff x="0" y="0"/>
            <a:chExt cx="7220052" cy="249623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219950" cy="2496185"/>
            </a:xfrm>
            <a:custGeom>
              <a:avLst/>
              <a:gdLst/>
              <a:ahLst/>
              <a:cxnLst/>
              <a:rect r="r" b="b" t="t" l="l"/>
              <a:pathLst>
                <a:path h="2496185" w="7219950">
                  <a:moveTo>
                    <a:pt x="0" y="166370"/>
                  </a:moveTo>
                  <a:cubicBezTo>
                    <a:pt x="0" y="74549"/>
                    <a:pt x="74549" y="0"/>
                    <a:pt x="166370" y="0"/>
                  </a:cubicBezTo>
                  <a:lnTo>
                    <a:pt x="7053580" y="0"/>
                  </a:lnTo>
                  <a:cubicBezTo>
                    <a:pt x="7145528" y="0"/>
                    <a:pt x="7219950" y="74549"/>
                    <a:pt x="7219950" y="166370"/>
                  </a:cubicBezTo>
                  <a:lnTo>
                    <a:pt x="7219950" y="2329815"/>
                  </a:lnTo>
                  <a:cubicBezTo>
                    <a:pt x="7219950" y="2421763"/>
                    <a:pt x="7145401" y="2496185"/>
                    <a:pt x="7053580" y="2496185"/>
                  </a:cubicBezTo>
                  <a:lnTo>
                    <a:pt x="166370" y="2496185"/>
                  </a:lnTo>
                  <a:cubicBezTo>
                    <a:pt x="74422" y="2496185"/>
                    <a:pt x="0" y="2421636"/>
                    <a:pt x="0" y="2329815"/>
                  </a:cubicBezTo>
                  <a:close/>
                </a:path>
              </a:pathLst>
            </a:custGeom>
            <a:solidFill>
              <a:srgbClr val="F7FAFB"/>
            </a:solidFill>
            <a:ln w="19065" cap="sq">
              <a:solidFill>
                <a:srgbClr val="DCE6E9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139314" y="5277926"/>
            <a:ext cx="960872" cy="960872"/>
            <a:chOff x="0" y="0"/>
            <a:chExt cx="1281163" cy="1281163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281176" cy="1281176"/>
            </a:xfrm>
            <a:custGeom>
              <a:avLst/>
              <a:gdLst/>
              <a:ahLst/>
              <a:cxnLst/>
              <a:rect r="r" b="b" t="t" l="l"/>
              <a:pathLst>
                <a:path h="1281176" w="1281176">
                  <a:moveTo>
                    <a:pt x="0" y="640588"/>
                  </a:moveTo>
                  <a:cubicBezTo>
                    <a:pt x="0" y="286766"/>
                    <a:pt x="286766" y="0"/>
                    <a:pt x="640588" y="0"/>
                  </a:cubicBezTo>
                  <a:cubicBezTo>
                    <a:pt x="994410" y="0"/>
                    <a:pt x="1281176" y="286766"/>
                    <a:pt x="1281176" y="640588"/>
                  </a:cubicBezTo>
                  <a:cubicBezTo>
                    <a:pt x="1281176" y="994410"/>
                    <a:pt x="994410" y="1281176"/>
                    <a:pt x="640588" y="1281176"/>
                  </a:cubicBezTo>
                  <a:cubicBezTo>
                    <a:pt x="286766" y="1281176"/>
                    <a:pt x="0" y="994410"/>
                    <a:pt x="0" y="640588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264234" y="5402837"/>
            <a:ext cx="711041" cy="711041"/>
            <a:chOff x="0" y="0"/>
            <a:chExt cx="948055" cy="948055"/>
          </a:xfrm>
        </p:grpSpPr>
        <p:sp>
          <p:nvSpPr>
            <p:cNvPr name="Freeform 55" id="55" descr="/home/claude/proj/icons/nibabel_white.png"/>
            <p:cNvSpPr/>
            <p:nvPr/>
          </p:nvSpPr>
          <p:spPr>
            <a:xfrm flipH="false" flipV="false" rot="0">
              <a:off x="0" y="0"/>
              <a:ext cx="948055" cy="948055"/>
            </a:xfrm>
            <a:custGeom>
              <a:avLst/>
              <a:gdLst/>
              <a:ahLst/>
              <a:cxnLst/>
              <a:rect r="r" b="b" t="t" l="l"/>
              <a:pathLst>
                <a:path h="948055" w="948055">
                  <a:moveTo>
                    <a:pt x="0" y="0"/>
                  </a:moveTo>
                  <a:lnTo>
                    <a:pt x="948055" y="0"/>
                  </a:lnTo>
                  <a:lnTo>
                    <a:pt x="948055" y="948055"/>
                  </a:lnTo>
                  <a:lnTo>
                    <a:pt x="0" y="9480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2333539" y="5161245"/>
            <a:ext cx="3542871" cy="549069"/>
            <a:chOff x="0" y="0"/>
            <a:chExt cx="4723828" cy="73209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723823" cy="732092"/>
            </a:xfrm>
            <a:custGeom>
              <a:avLst/>
              <a:gdLst/>
              <a:ahLst/>
              <a:cxnLst/>
              <a:rect r="r" b="b" t="t" l="l"/>
              <a:pathLst>
                <a:path h="732092" w="4723823">
                  <a:moveTo>
                    <a:pt x="0" y="0"/>
                  </a:moveTo>
                  <a:lnTo>
                    <a:pt x="4723823" y="0"/>
                  </a:lnTo>
                  <a:lnTo>
                    <a:pt x="4723823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727" r="0" b="-75727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4723828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NiBabel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2333539" y="5765225"/>
            <a:ext cx="3542871" cy="549069"/>
            <a:chOff x="0" y="0"/>
            <a:chExt cx="4723828" cy="73209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723823" cy="732092"/>
            </a:xfrm>
            <a:custGeom>
              <a:avLst/>
              <a:gdLst/>
              <a:ahLst/>
              <a:cxnLst/>
              <a:rect r="r" b="b" t="t" l="l"/>
              <a:pathLst>
                <a:path h="732092" w="4723823">
                  <a:moveTo>
                    <a:pt x="0" y="0"/>
                  </a:moveTo>
                  <a:lnTo>
                    <a:pt x="4723823" y="0"/>
                  </a:lnTo>
                  <a:lnTo>
                    <a:pt x="4723823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727" r="0" b="-75727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4723828" cy="770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31"/>
                </a:lnSpc>
              </a:pPr>
              <a:r>
                <a:rPr lang="en-US" sz="1776">
                  <a:solidFill>
                    <a:srgbClr val="5B6E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Volume I/O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6443396" y="4822279"/>
            <a:ext cx="5415039" cy="1872177"/>
            <a:chOff x="0" y="0"/>
            <a:chExt cx="7220052" cy="249623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219950" cy="2496185"/>
            </a:xfrm>
            <a:custGeom>
              <a:avLst/>
              <a:gdLst/>
              <a:ahLst/>
              <a:cxnLst/>
              <a:rect r="r" b="b" t="t" l="l"/>
              <a:pathLst>
                <a:path h="2496185" w="7219950">
                  <a:moveTo>
                    <a:pt x="0" y="166370"/>
                  </a:moveTo>
                  <a:cubicBezTo>
                    <a:pt x="0" y="74549"/>
                    <a:pt x="74549" y="0"/>
                    <a:pt x="166370" y="0"/>
                  </a:cubicBezTo>
                  <a:lnTo>
                    <a:pt x="7053580" y="0"/>
                  </a:lnTo>
                  <a:cubicBezTo>
                    <a:pt x="7145528" y="0"/>
                    <a:pt x="7219950" y="74549"/>
                    <a:pt x="7219950" y="166370"/>
                  </a:cubicBezTo>
                  <a:lnTo>
                    <a:pt x="7219950" y="2329815"/>
                  </a:lnTo>
                  <a:cubicBezTo>
                    <a:pt x="7219950" y="2421763"/>
                    <a:pt x="7145401" y="2496185"/>
                    <a:pt x="7053580" y="2496185"/>
                  </a:cubicBezTo>
                  <a:lnTo>
                    <a:pt x="166370" y="2496185"/>
                  </a:lnTo>
                  <a:cubicBezTo>
                    <a:pt x="74422" y="2496185"/>
                    <a:pt x="0" y="2421636"/>
                    <a:pt x="0" y="2329815"/>
                  </a:cubicBezTo>
                  <a:close/>
                </a:path>
              </a:pathLst>
            </a:custGeom>
            <a:solidFill>
              <a:srgbClr val="F7FAFB"/>
            </a:solidFill>
            <a:ln w="19065" cap="sq">
              <a:solidFill>
                <a:srgbClr val="DCE6E9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6837283" y="5277926"/>
            <a:ext cx="960872" cy="960872"/>
            <a:chOff x="0" y="0"/>
            <a:chExt cx="1281163" cy="1281163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281176" cy="1281176"/>
            </a:xfrm>
            <a:custGeom>
              <a:avLst/>
              <a:gdLst/>
              <a:ahLst/>
              <a:cxnLst/>
              <a:rect r="r" b="b" t="t" l="l"/>
              <a:pathLst>
                <a:path h="1281176" w="1281176">
                  <a:moveTo>
                    <a:pt x="0" y="640588"/>
                  </a:moveTo>
                  <a:cubicBezTo>
                    <a:pt x="0" y="286766"/>
                    <a:pt x="286766" y="0"/>
                    <a:pt x="640588" y="0"/>
                  </a:cubicBezTo>
                  <a:cubicBezTo>
                    <a:pt x="994410" y="0"/>
                    <a:pt x="1281176" y="286766"/>
                    <a:pt x="1281176" y="640588"/>
                  </a:cubicBezTo>
                  <a:cubicBezTo>
                    <a:pt x="1281176" y="994410"/>
                    <a:pt x="994410" y="1281176"/>
                    <a:pt x="640588" y="1281176"/>
                  </a:cubicBezTo>
                  <a:cubicBezTo>
                    <a:pt x="286766" y="1281176"/>
                    <a:pt x="0" y="994410"/>
                    <a:pt x="0" y="640588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6962194" y="5402837"/>
            <a:ext cx="711041" cy="711041"/>
            <a:chOff x="0" y="0"/>
            <a:chExt cx="948055" cy="948055"/>
          </a:xfrm>
        </p:grpSpPr>
        <p:sp>
          <p:nvSpPr>
            <p:cNvPr name="Freeform 67" id="67" descr="/home/claude/proj/icons/opencv_white.png"/>
            <p:cNvSpPr/>
            <p:nvPr/>
          </p:nvSpPr>
          <p:spPr>
            <a:xfrm flipH="false" flipV="false" rot="0">
              <a:off x="0" y="0"/>
              <a:ext cx="948055" cy="948055"/>
            </a:xfrm>
            <a:custGeom>
              <a:avLst/>
              <a:gdLst/>
              <a:ahLst/>
              <a:cxnLst/>
              <a:rect r="r" b="b" t="t" l="l"/>
              <a:pathLst>
                <a:path h="948055" w="948055">
                  <a:moveTo>
                    <a:pt x="0" y="0"/>
                  </a:moveTo>
                  <a:lnTo>
                    <a:pt x="948055" y="0"/>
                  </a:lnTo>
                  <a:lnTo>
                    <a:pt x="948055" y="948055"/>
                  </a:lnTo>
                  <a:lnTo>
                    <a:pt x="0" y="9480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8031509" y="5161245"/>
            <a:ext cx="3542871" cy="549069"/>
            <a:chOff x="0" y="0"/>
            <a:chExt cx="4723828" cy="73209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723823" cy="732092"/>
            </a:xfrm>
            <a:custGeom>
              <a:avLst/>
              <a:gdLst/>
              <a:ahLst/>
              <a:cxnLst/>
              <a:rect r="r" b="b" t="t" l="l"/>
              <a:pathLst>
                <a:path h="732092" w="4723823">
                  <a:moveTo>
                    <a:pt x="0" y="0"/>
                  </a:moveTo>
                  <a:lnTo>
                    <a:pt x="4723823" y="0"/>
                  </a:lnTo>
                  <a:lnTo>
                    <a:pt x="4723823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727" r="0" b="-75727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19050"/>
              <a:ext cx="4723828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OpenCV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8031509" y="5765225"/>
            <a:ext cx="3542871" cy="549069"/>
            <a:chOff x="0" y="0"/>
            <a:chExt cx="4723828" cy="73209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723823" cy="732092"/>
            </a:xfrm>
            <a:custGeom>
              <a:avLst/>
              <a:gdLst/>
              <a:ahLst/>
              <a:cxnLst/>
              <a:rect r="r" b="b" t="t" l="l"/>
              <a:pathLst>
                <a:path h="732092" w="4723823">
                  <a:moveTo>
                    <a:pt x="0" y="0"/>
                  </a:moveTo>
                  <a:lnTo>
                    <a:pt x="4723823" y="0"/>
                  </a:lnTo>
                  <a:lnTo>
                    <a:pt x="4723823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727" r="0" b="-75727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4723828" cy="770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31"/>
                </a:lnSpc>
              </a:pPr>
              <a:r>
                <a:rPr lang="en-US" sz="1776">
                  <a:solidFill>
                    <a:srgbClr val="5B6E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Image processing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2141365" y="4822279"/>
            <a:ext cx="5415039" cy="1872177"/>
            <a:chOff x="0" y="0"/>
            <a:chExt cx="7220052" cy="2496236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7219950" cy="2496185"/>
            </a:xfrm>
            <a:custGeom>
              <a:avLst/>
              <a:gdLst/>
              <a:ahLst/>
              <a:cxnLst/>
              <a:rect r="r" b="b" t="t" l="l"/>
              <a:pathLst>
                <a:path h="2496185" w="7219950">
                  <a:moveTo>
                    <a:pt x="0" y="166370"/>
                  </a:moveTo>
                  <a:cubicBezTo>
                    <a:pt x="0" y="74549"/>
                    <a:pt x="74549" y="0"/>
                    <a:pt x="166370" y="0"/>
                  </a:cubicBezTo>
                  <a:lnTo>
                    <a:pt x="7053580" y="0"/>
                  </a:lnTo>
                  <a:cubicBezTo>
                    <a:pt x="7145528" y="0"/>
                    <a:pt x="7219950" y="74549"/>
                    <a:pt x="7219950" y="166370"/>
                  </a:cubicBezTo>
                  <a:lnTo>
                    <a:pt x="7219950" y="2329815"/>
                  </a:lnTo>
                  <a:cubicBezTo>
                    <a:pt x="7219950" y="2421763"/>
                    <a:pt x="7145401" y="2496185"/>
                    <a:pt x="7053580" y="2496185"/>
                  </a:cubicBezTo>
                  <a:lnTo>
                    <a:pt x="166370" y="2496185"/>
                  </a:lnTo>
                  <a:cubicBezTo>
                    <a:pt x="74422" y="2496185"/>
                    <a:pt x="0" y="2421636"/>
                    <a:pt x="0" y="2329815"/>
                  </a:cubicBezTo>
                  <a:close/>
                </a:path>
              </a:pathLst>
            </a:custGeom>
            <a:solidFill>
              <a:srgbClr val="F7FAFB"/>
            </a:solidFill>
            <a:ln w="19065" cap="sq">
              <a:solidFill>
                <a:srgbClr val="DCE6E9"/>
              </a:solidFill>
              <a:prstDash val="solid"/>
              <a:miter/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12535243" y="5277926"/>
            <a:ext cx="960872" cy="960872"/>
            <a:chOff x="0" y="0"/>
            <a:chExt cx="1281163" cy="1281163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281176" cy="1281176"/>
            </a:xfrm>
            <a:custGeom>
              <a:avLst/>
              <a:gdLst/>
              <a:ahLst/>
              <a:cxnLst/>
              <a:rect r="r" b="b" t="t" l="l"/>
              <a:pathLst>
                <a:path h="1281176" w="1281176">
                  <a:moveTo>
                    <a:pt x="0" y="640588"/>
                  </a:moveTo>
                  <a:cubicBezTo>
                    <a:pt x="0" y="286766"/>
                    <a:pt x="286766" y="0"/>
                    <a:pt x="640588" y="0"/>
                  </a:cubicBezTo>
                  <a:cubicBezTo>
                    <a:pt x="994410" y="0"/>
                    <a:pt x="1281176" y="286766"/>
                    <a:pt x="1281176" y="640588"/>
                  </a:cubicBezTo>
                  <a:cubicBezTo>
                    <a:pt x="1281176" y="994410"/>
                    <a:pt x="994410" y="1281176"/>
                    <a:pt x="640588" y="1281176"/>
                  </a:cubicBezTo>
                  <a:cubicBezTo>
                    <a:pt x="286766" y="1281176"/>
                    <a:pt x="0" y="994410"/>
                    <a:pt x="0" y="640588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2660154" y="5402837"/>
            <a:ext cx="711041" cy="711041"/>
            <a:chOff x="0" y="0"/>
            <a:chExt cx="948055" cy="948055"/>
          </a:xfrm>
        </p:grpSpPr>
        <p:sp>
          <p:nvSpPr>
            <p:cNvPr name="Freeform 79" id="79" descr="/home/claude/proj/icons/numpy_white.png"/>
            <p:cNvSpPr/>
            <p:nvPr/>
          </p:nvSpPr>
          <p:spPr>
            <a:xfrm flipH="false" flipV="false" rot="0">
              <a:off x="0" y="0"/>
              <a:ext cx="948055" cy="948055"/>
            </a:xfrm>
            <a:custGeom>
              <a:avLst/>
              <a:gdLst/>
              <a:ahLst/>
              <a:cxnLst/>
              <a:rect r="r" b="b" t="t" l="l"/>
              <a:pathLst>
                <a:path h="948055" w="948055">
                  <a:moveTo>
                    <a:pt x="0" y="0"/>
                  </a:moveTo>
                  <a:lnTo>
                    <a:pt x="948055" y="0"/>
                  </a:lnTo>
                  <a:lnTo>
                    <a:pt x="948055" y="948055"/>
                  </a:lnTo>
                  <a:lnTo>
                    <a:pt x="0" y="9480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3729468" y="5161245"/>
            <a:ext cx="3542871" cy="549069"/>
            <a:chOff x="0" y="0"/>
            <a:chExt cx="4723828" cy="73209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723823" cy="732092"/>
            </a:xfrm>
            <a:custGeom>
              <a:avLst/>
              <a:gdLst/>
              <a:ahLst/>
              <a:cxnLst/>
              <a:rect r="r" b="b" t="t" l="l"/>
              <a:pathLst>
                <a:path h="732092" w="4723823">
                  <a:moveTo>
                    <a:pt x="0" y="0"/>
                  </a:moveTo>
                  <a:lnTo>
                    <a:pt x="4723823" y="0"/>
                  </a:lnTo>
                  <a:lnTo>
                    <a:pt x="4723823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727" r="0" b="-75727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19050"/>
              <a:ext cx="4723828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NumPy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3729468" y="5765225"/>
            <a:ext cx="3542871" cy="549069"/>
            <a:chOff x="0" y="0"/>
            <a:chExt cx="4723828" cy="73209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723823" cy="732092"/>
            </a:xfrm>
            <a:custGeom>
              <a:avLst/>
              <a:gdLst/>
              <a:ahLst/>
              <a:cxnLst/>
              <a:rect r="r" b="b" t="t" l="l"/>
              <a:pathLst>
                <a:path h="732092" w="4723823">
                  <a:moveTo>
                    <a:pt x="0" y="0"/>
                  </a:moveTo>
                  <a:lnTo>
                    <a:pt x="4723823" y="0"/>
                  </a:lnTo>
                  <a:lnTo>
                    <a:pt x="4723823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727" r="0" b="-75727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4723828" cy="770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31"/>
                </a:lnSpc>
              </a:pPr>
              <a:r>
                <a:rPr lang="en-US" sz="1776">
                  <a:solidFill>
                    <a:srgbClr val="5B6E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Numerical computing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745436" y="6977367"/>
            <a:ext cx="5415039" cy="1872177"/>
            <a:chOff x="0" y="0"/>
            <a:chExt cx="7220052" cy="2496236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7219950" cy="2496185"/>
            </a:xfrm>
            <a:custGeom>
              <a:avLst/>
              <a:gdLst/>
              <a:ahLst/>
              <a:cxnLst/>
              <a:rect r="r" b="b" t="t" l="l"/>
              <a:pathLst>
                <a:path h="2496185" w="7219950">
                  <a:moveTo>
                    <a:pt x="0" y="166370"/>
                  </a:moveTo>
                  <a:cubicBezTo>
                    <a:pt x="0" y="74549"/>
                    <a:pt x="74549" y="0"/>
                    <a:pt x="166370" y="0"/>
                  </a:cubicBezTo>
                  <a:lnTo>
                    <a:pt x="7053580" y="0"/>
                  </a:lnTo>
                  <a:cubicBezTo>
                    <a:pt x="7145528" y="0"/>
                    <a:pt x="7219950" y="74549"/>
                    <a:pt x="7219950" y="166370"/>
                  </a:cubicBezTo>
                  <a:lnTo>
                    <a:pt x="7219950" y="2329815"/>
                  </a:lnTo>
                  <a:cubicBezTo>
                    <a:pt x="7219950" y="2421763"/>
                    <a:pt x="7145401" y="2496185"/>
                    <a:pt x="7053580" y="2496185"/>
                  </a:cubicBezTo>
                  <a:lnTo>
                    <a:pt x="166370" y="2496185"/>
                  </a:lnTo>
                  <a:cubicBezTo>
                    <a:pt x="74422" y="2496185"/>
                    <a:pt x="0" y="2421636"/>
                    <a:pt x="0" y="2329815"/>
                  </a:cubicBezTo>
                  <a:close/>
                </a:path>
              </a:pathLst>
            </a:custGeom>
            <a:solidFill>
              <a:srgbClr val="F7FAFB"/>
            </a:solidFill>
            <a:ln w="19065" cap="sq">
              <a:solidFill>
                <a:srgbClr val="DCE6E9"/>
              </a:solidFill>
              <a:prstDash val="solid"/>
              <a:miter/>
            </a:ln>
          </p:spPr>
        </p:sp>
      </p:grpSp>
      <p:grpSp>
        <p:nvGrpSpPr>
          <p:cNvPr name="Group 88" id="88"/>
          <p:cNvGrpSpPr/>
          <p:nvPr/>
        </p:nvGrpSpPr>
        <p:grpSpPr>
          <a:xfrm rot="0">
            <a:off x="1139314" y="7433024"/>
            <a:ext cx="960872" cy="960872"/>
            <a:chOff x="0" y="0"/>
            <a:chExt cx="1281163" cy="1281163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281176" cy="1281176"/>
            </a:xfrm>
            <a:custGeom>
              <a:avLst/>
              <a:gdLst/>
              <a:ahLst/>
              <a:cxnLst/>
              <a:rect r="r" b="b" t="t" l="l"/>
              <a:pathLst>
                <a:path h="1281176" w="1281176">
                  <a:moveTo>
                    <a:pt x="0" y="640588"/>
                  </a:moveTo>
                  <a:cubicBezTo>
                    <a:pt x="0" y="286766"/>
                    <a:pt x="286766" y="0"/>
                    <a:pt x="640588" y="0"/>
                  </a:cubicBezTo>
                  <a:cubicBezTo>
                    <a:pt x="994410" y="0"/>
                    <a:pt x="1281176" y="286766"/>
                    <a:pt x="1281176" y="640588"/>
                  </a:cubicBezTo>
                  <a:cubicBezTo>
                    <a:pt x="1281176" y="994410"/>
                    <a:pt x="994410" y="1281176"/>
                    <a:pt x="640588" y="1281176"/>
                  </a:cubicBezTo>
                  <a:cubicBezTo>
                    <a:pt x="286766" y="1281176"/>
                    <a:pt x="0" y="994410"/>
                    <a:pt x="0" y="640588"/>
                  </a:cubicBezTo>
                  <a:close/>
                </a:path>
              </a:pathLst>
            </a:custGeom>
            <a:solidFill>
              <a:srgbClr val="21295C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264234" y="7557935"/>
            <a:ext cx="711041" cy="711041"/>
            <a:chOff x="0" y="0"/>
            <a:chExt cx="948055" cy="948055"/>
          </a:xfrm>
        </p:grpSpPr>
        <p:sp>
          <p:nvSpPr>
            <p:cNvPr name="Freeform 91" id="91" descr="/home/claude/proj/icons/cuda_white.png"/>
            <p:cNvSpPr/>
            <p:nvPr/>
          </p:nvSpPr>
          <p:spPr>
            <a:xfrm flipH="false" flipV="false" rot="0">
              <a:off x="0" y="0"/>
              <a:ext cx="948055" cy="948055"/>
            </a:xfrm>
            <a:custGeom>
              <a:avLst/>
              <a:gdLst/>
              <a:ahLst/>
              <a:cxnLst/>
              <a:rect r="r" b="b" t="t" l="l"/>
              <a:pathLst>
                <a:path h="948055" w="948055">
                  <a:moveTo>
                    <a:pt x="0" y="0"/>
                  </a:moveTo>
                  <a:lnTo>
                    <a:pt x="948055" y="0"/>
                  </a:lnTo>
                  <a:lnTo>
                    <a:pt x="948055" y="948055"/>
                  </a:lnTo>
                  <a:lnTo>
                    <a:pt x="0" y="9480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2333539" y="7316343"/>
            <a:ext cx="3542871" cy="549069"/>
            <a:chOff x="0" y="0"/>
            <a:chExt cx="4723828" cy="73209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723823" cy="732092"/>
            </a:xfrm>
            <a:custGeom>
              <a:avLst/>
              <a:gdLst/>
              <a:ahLst/>
              <a:cxnLst/>
              <a:rect r="r" b="b" t="t" l="l"/>
              <a:pathLst>
                <a:path h="732092" w="4723823">
                  <a:moveTo>
                    <a:pt x="0" y="0"/>
                  </a:moveTo>
                  <a:lnTo>
                    <a:pt x="4723823" y="0"/>
                  </a:lnTo>
                  <a:lnTo>
                    <a:pt x="4723823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727" r="0" b="-75727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19050"/>
              <a:ext cx="4723828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CUDA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2333539" y="7920323"/>
            <a:ext cx="3542871" cy="549069"/>
            <a:chOff x="0" y="0"/>
            <a:chExt cx="4723828" cy="732092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4723823" cy="732092"/>
            </a:xfrm>
            <a:custGeom>
              <a:avLst/>
              <a:gdLst/>
              <a:ahLst/>
              <a:cxnLst/>
              <a:rect r="r" b="b" t="t" l="l"/>
              <a:pathLst>
                <a:path h="732092" w="4723823">
                  <a:moveTo>
                    <a:pt x="0" y="0"/>
                  </a:moveTo>
                  <a:lnTo>
                    <a:pt x="4723823" y="0"/>
                  </a:lnTo>
                  <a:lnTo>
                    <a:pt x="4723823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727" r="0" b="-75727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4723828" cy="770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31"/>
                </a:lnSpc>
              </a:pPr>
              <a:r>
                <a:rPr lang="en-US" sz="1776">
                  <a:solidFill>
                    <a:srgbClr val="5B6E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GPU acceleration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6443396" y="6977367"/>
            <a:ext cx="5415039" cy="1872177"/>
            <a:chOff x="0" y="0"/>
            <a:chExt cx="7220052" cy="2496236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7219950" cy="2496185"/>
            </a:xfrm>
            <a:custGeom>
              <a:avLst/>
              <a:gdLst/>
              <a:ahLst/>
              <a:cxnLst/>
              <a:rect r="r" b="b" t="t" l="l"/>
              <a:pathLst>
                <a:path h="2496185" w="7219950">
                  <a:moveTo>
                    <a:pt x="0" y="166370"/>
                  </a:moveTo>
                  <a:cubicBezTo>
                    <a:pt x="0" y="74549"/>
                    <a:pt x="74549" y="0"/>
                    <a:pt x="166370" y="0"/>
                  </a:cubicBezTo>
                  <a:lnTo>
                    <a:pt x="7053580" y="0"/>
                  </a:lnTo>
                  <a:cubicBezTo>
                    <a:pt x="7145528" y="0"/>
                    <a:pt x="7219950" y="74549"/>
                    <a:pt x="7219950" y="166370"/>
                  </a:cubicBezTo>
                  <a:lnTo>
                    <a:pt x="7219950" y="2329815"/>
                  </a:lnTo>
                  <a:cubicBezTo>
                    <a:pt x="7219950" y="2421763"/>
                    <a:pt x="7145401" y="2496185"/>
                    <a:pt x="7053580" y="2496185"/>
                  </a:cubicBezTo>
                  <a:lnTo>
                    <a:pt x="166370" y="2496185"/>
                  </a:lnTo>
                  <a:cubicBezTo>
                    <a:pt x="74422" y="2496185"/>
                    <a:pt x="0" y="2421636"/>
                    <a:pt x="0" y="2329815"/>
                  </a:cubicBezTo>
                  <a:close/>
                </a:path>
              </a:pathLst>
            </a:custGeom>
            <a:solidFill>
              <a:srgbClr val="F7FAFB"/>
            </a:solidFill>
            <a:ln w="19065" cap="sq">
              <a:solidFill>
                <a:srgbClr val="DCE6E9"/>
              </a:solidFill>
              <a:prstDash val="solid"/>
              <a:miter/>
            </a:ln>
          </p:spPr>
        </p:sp>
      </p:grpSp>
      <p:grpSp>
        <p:nvGrpSpPr>
          <p:cNvPr name="Group 100" id="100"/>
          <p:cNvGrpSpPr/>
          <p:nvPr/>
        </p:nvGrpSpPr>
        <p:grpSpPr>
          <a:xfrm rot="0">
            <a:off x="6837283" y="7433024"/>
            <a:ext cx="960872" cy="960872"/>
            <a:chOff x="0" y="0"/>
            <a:chExt cx="1281163" cy="1281163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281176" cy="1281176"/>
            </a:xfrm>
            <a:custGeom>
              <a:avLst/>
              <a:gdLst/>
              <a:ahLst/>
              <a:cxnLst/>
              <a:rect r="r" b="b" t="t" l="l"/>
              <a:pathLst>
                <a:path h="1281176" w="1281176">
                  <a:moveTo>
                    <a:pt x="0" y="640588"/>
                  </a:moveTo>
                  <a:cubicBezTo>
                    <a:pt x="0" y="286766"/>
                    <a:pt x="286766" y="0"/>
                    <a:pt x="640588" y="0"/>
                  </a:cubicBezTo>
                  <a:cubicBezTo>
                    <a:pt x="994410" y="0"/>
                    <a:pt x="1281176" y="286766"/>
                    <a:pt x="1281176" y="640588"/>
                  </a:cubicBezTo>
                  <a:cubicBezTo>
                    <a:pt x="1281176" y="994410"/>
                    <a:pt x="994410" y="1281176"/>
                    <a:pt x="640588" y="1281176"/>
                  </a:cubicBezTo>
                  <a:cubicBezTo>
                    <a:pt x="286766" y="1281176"/>
                    <a:pt x="0" y="994410"/>
                    <a:pt x="0" y="640588"/>
                  </a:cubicBezTo>
                  <a:close/>
                </a:path>
              </a:pathLst>
            </a:custGeom>
            <a:solidFill>
              <a:srgbClr val="21295C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6962194" y="7557935"/>
            <a:ext cx="711041" cy="711041"/>
            <a:chOff x="0" y="0"/>
            <a:chExt cx="948055" cy="948055"/>
          </a:xfrm>
        </p:grpSpPr>
        <p:sp>
          <p:nvSpPr>
            <p:cNvPr name="Freeform 103" id="103" descr="/home/claude/proj/icons/open3d_white.png"/>
            <p:cNvSpPr/>
            <p:nvPr/>
          </p:nvSpPr>
          <p:spPr>
            <a:xfrm flipH="false" flipV="false" rot="0">
              <a:off x="0" y="0"/>
              <a:ext cx="948055" cy="948055"/>
            </a:xfrm>
            <a:custGeom>
              <a:avLst/>
              <a:gdLst/>
              <a:ahLst/>
              <a:cxnLst/>
              <a:rect r="r" b="b" t="t" l="l"/>
              <a:pathLst>
                <a:path h="948055" w="948055">
                  <a:moveTo>
                    <a:pt x="0" y="0"/>
                  </a:moveTo>
                  <a:lnTo>
                    <a:pt x="948055" y="0"/>
                  </a:lnTo>
                  <a:lnTo>
                    <a:pt x="948055" y="948055"/>
                  </a:lnTo>
                  <a:lnTo>
                    <a:pt x="0" y="9480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8031509" y="7316343"/>
            <a:ext cx="3542871" cy="549069"/>
            <a:chOff x="0" y="0"/>
            <a:chExt cx="4723828" cy="732092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4723823" cy="732092"/>
            </a:xfrm>
            <a:custGeom>
              <a:avLst/>
              <a:gdLst/>
              <a:ahLst/>
              <a:cxnLst/>
              <a:rect r="r" b="b" t="t" l="l"/>
              <a:pathLst>
                <a:path h="732092" w="4723823">
                  <a:moveTo>
                    <a:pt x="0" y="0"/>
                  </a:moveTo>
                  <a:lnTo>
                    <a:pt x="4723823" y="0"/>
                  </a:lnTo>
                  <a:lnTo>
                    <a:pt x="4723823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727" r="0" b="-75727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19050"/>
              <a:ext cx="4723828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Open3D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8031509" y="7920323"/>
            <a:ext cx="3542871" cy="549069"/>
            <a:chOff x="0" y="0"/>
            <a:chExt cx="4723828" cy="732092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4723823" cy="732092"/>
            </a:xfrm>
            <a:custGeom>
              <a:avLst/>
              <a:gdLst/>
              <a:ahLst/>
              <a:cxnLst/>
              <a:rect r="r" b="b" t="t" l="l"/>
              <a:pathLst>
                <a:path h="732092" w="4723823">
                  <a:moveTo>
                    <a:pt x="0" y="0"/>
                  </a:moveTo>
                  <a:lnTo>
                    <a:pt x="4723823" y="0"/>
                  </a:lnTo>
                  <a:lnTo>
                    <a:pt x="4723823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727" r="0" b="-75727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4723828" cy="770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31"/>
                </a:lnSpc>
              </a:pPr>
              <a:r>
                <a:rPr lang="en-US" sz="1776">
                  <a:solidFill>
                    <a:srgbClr val="5B6E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3D data processing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2141365" y="6977367"/>
            <a:ext cx="5415039" cy="1872177"/>
            <a:chOff x="0" y="0"/>
            <a:chExt cx="7220052" cy="2496236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7219950" cy="2496185"/>
            </a:xfrm>
            <a:custGeom>
              <a:avLst/>
              <a:gdLst/>
              <a:ahLst/>
              <a:cxnLst/>
              <a:rect r="r" b="b" t="t" l="l"/>
              <a:pathLst>
                <a:path h="2496185" w="7219950">
                  <a:moveTo>
                    <a:pt x="0" y="166370"/>
                  </a:moveTo>
                  <a:cubicBezTo>
                    <a:pt x="0" y="74549"/>
                    <a:pt x="74549" y="0"/>
                    <a:pt x="166370" y="0"/>
                  </a:cubicBezTo>
                  <a:lnTo>
                    <a:pt x="7053580" y="0"/>
                  </a:lnTo>
                  <a:cubicBezTo>
                    <a:pt x="7145528" y="0"/>
                    <a:pt x="7219950" y="74549"/>
                    <a:pt x="7219950" y="166370"/>
                  </a:cubicBezTo>
                  <a:lnTo>
                    <a:pt x="7219950" y="2329815"/>
                  </a:lnTo>
                  <a:cubicBezTo>
                    <a:pt x="7219950" y="2421763"/>
                    <a:pt x="7145401" y="2496185"/>
                    <a:pt x="7053580" y="2496185"/>
                  </a:cubicBezTo>
                  <a:lnTo>
                    <a:pt x="166370" y="2496185"/>
                  </a:lnTo>
                  <a:cubicBezTo>
                    <a:pt x="74422" y="2496185"/>
                    <a:pt x="0" y="2421636"/>
                    <a:pt x="0" y="2329815"/>
                  </a:cubicBezTo>
                  <a:close/>
                </a:path>
              </a:pathLst>
            </a:custGeom>
            <a:solidFill>
              <a:srgbClr val="F7FAFB"/>
            </a:solidFill>
            <a:ln w="19065" cap="sq">
              <a:solidFill>
                <a:srgbClr val="DCE6E9"/>
              </a:solidFill>
              <a:prstDash val="solid"/>
              <a:miter/>
            </a:ln>
          </p:spPr>
        </p:sp>
      </p:grpSp>
      <p:grpSp>
        <p:nvGrpSpPr>
          <p:cNvPr name="Group 112" id="112"/>
          <p:cNvGrpSpPr/>
          <p:nvPr/>
        </p:nvGrpSpPr>
        <p:grpSpPr>
          <a:xfrm rot="0">
            <a:off x="12535243" y="7433024"/>
            <a:ext cx="960872" cy="960872"/>
            <a:chOff x="0" y="0"/>
            <a:chExt cx="1281163" cy="1281163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1281176" cy="1281176"/>
            </a:xfrm>
            <a:custGeom>
              <a:avLst/>
              <a:gdLst/>
              <a:ahLst/>
              <a:cxnLst/>
              <a:rect r="r" b="b" t="t" l="l"/>
              <a:pathLst>
                <a:path h="1281176" w="1281176">
                  <a:moveTo>
                    <a:pt x="0" y="640588"/>
                  </a:moveTo>
                  <a:cubicBezTo>
                    <a:pt x="0" y="286766"/>
                    <a:pt x="286766" y="0"/>
                    <a:pt x="640588" y="0"/>
                  </a:cubicBezTo>
                  <a:cubicBezTo>
                    <a:pt x="994410" y="0"/>
                    <a:pt x="1281176" y="286766"/>
                    <a:pt x="1281176" y="640588"/>
                  </a:cubicBezTo>
                  <a:cubicBezTo>
                    <a:pt x="1281176" y="994410"/>
                    <a:pt x="994410" y="1281176"/>
                    <a:pt x="640588" y="1281176"/>
                  </a:cubicBezTo>
                  <a:cubicBezTo>
                    <a:pt x="286766" y="1281176"/>
                    <a:pt x="0" y="994410"/>
                    <a:pt x="0" y="640588"/>
                  </a:cubicBezTo>
                  <a:close/>
                </a:path>
              </a:pathLst>
            </a:custGeom>
            <a:solidFill>
              <a:srgbClr val="21295C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12660154" y="7557935"/>
            <a:ext cx="711041" cy="711041"/>
            <a:chOff x="0" y="0"/>
            <a:chExt cx="948055" cy="948055"/>
          </a:xfrm>
        </p:grpSpPr>
        <p:sp>
          <p:nvSpPr>
            <p:cNvPr name="Freeform 115" id="115" descr="/home/claude/proj/icons/pyvista_white.png"/>
            <p:cNvSpPr/>
            <p:nvPr/>
          </p:nvSpPr>
          <p:spPr>
            <a:xfrm flipH="false" flipV="false" rot="0">
              <a:off x="0" y="0"/>
              <a:ext cx="948055" cy="948055"/>
            </a:xfrm>
            <a:custGeom>
              <a:avLst/>
              <a:gdLst/>
              <a:ahLst/>
              <a:cxnLst/>
              <a:rect r="r" b="b" t="t" l="l"/>
              <a:pathLst>
                <a:path h="948055" w="948055">
                  <a:moveTo>
                    <a:pt x="0" y="0"/>
                  </a:moveTo>
                  <a:lnTo>
                    <a:pt x="948055" y="0"/>
                  </a:lnTo>
                  <a:lnTo>
                    <a:pt x="948055" y="948055"/>
                  </a:lnTo>
                  <a:lnTo>
                    <a:pt x="0" y="9480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13729468" y="7316343"/>
            <a:ext cx="3542871" cy="549069"/>
            <a:chOff x="0" y="0"/>
            <a:chExt cx="4723828" cy="732092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4723823" cy="732092"/>
            </a:xfrm>
            <a:custGeom>
              <a:avLst/>
              <a:gdLst/>
              <a:ahLst/>
              <a:cxnLst/>
              <a:rect r="r" b="b" t="t" l="l"/>
              <a:pathLst>
                <a:path h="732092" w="4723823">
                  <a:moveTo>
                    <a:pt x="0" y="0"/>
                  </a:moveTo>
                  <a:lnTo>
                    <a:pt x="4723823" y="0"/>
                  </a:lnTo>
                  <a:lnTo>
                    <a:pt x="4723823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727" r="0" b="-75727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19050"/>
              <a:ext cx="4723828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PyVista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3729468" y="7920323"/>
            <a:ext cx="3542871" cy="549069"/>
            <a:chOff x="0" y="0"/>
            <a:chExt cx="4723828" cy="732092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4723823" cy="732092"/>
            </a:xfrm>
            <a:custGeom>
              <a:avLst/>
              <a:gdLst/>
              <a:ahLst/>
              <a:cxnLst/>
              <a:rect r="r" b="b" t="t" l="l"/>
              <a:pathLst>
                <a:path h="732092" w="4723823">
                  <a:moveTo>
                    <a:pt x="0" y="0"/>
                  </a:moveTo>
                  <a:lnTo>
                    <a:pt x="4723823" y="0"/>
                  </a:lnTo>
                  <a:lnTo>
                    <a:pt x="4723823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727" r="0" b="-75727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4723828" cy="770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31"/>
                </a:lnSpc>
              </a:pPr>
              <a:r>
                <a:rPr lang="en-US" sz="1776">
                  <a:solidFill>
                    <a:srgbClr val="5B6E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3D visualization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971" y="576520"/>
            <a:ext cx="12354049" cy="439255"/>
            <a:chOff x="0" y="0"/>
            <a:chExt cx="16472065" cy="5856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72069" cy="585674"/>
            </a:xfrm>
            <a:custGeom>
              <a:avLst/>
              <a:gdLst/>
              <a:ahLst/>
              <a:cxnLst/>
              <a:rect r="r" b="b" t="t" l="l"/>
              <a:pathLst>
                <a:path h="585674" w="16472069">
                  <a:moveTo>
                    <a:pt x="0" y="0"/>
                  </a:moveTo>
                  <a:lnTo>
                    <a:pt x="16472069" y="0"/>
                  </a:lnTo>
                  <a:lnTo>
                    <a:pt x="16472069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8016" r="0" b="-49801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472065" cy="6237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b="true" sz="1801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EVALUATION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971" y="988324"/>
            <a:ext cx="16791899" cy="988324"/>
            <a:chOff x="0" y="0"/>
            <a:chExt cx="22389198" cy="13177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389201" cy="1317765"/>
            </a:xfrm>
            <a:custGeom>
              <a:avLst/>
              <a:gdLst/>
              <a:ahLst/>
              <a:cxnLst/>
              <a:rect r="r" b="b" t="t" l="l"/>
              <a:pathLst>
                <a:path h="1317765" w="22389201">
                  <a:moveTo>
                    <a:pt x="0" y="0"/>
                  </a:moveTo>
                  <a:lnTo>
                    <a:pt x="22389201" y="0"/>
                  </a:lnTo>
                  <a:lnTo>
                    <a:pt x="22389201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1056" r="0" b="-28105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389198" cy="1327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4"/>
                </a:lnSpc>
              </a:pPr>
              <a:r>
                <a:rPr lang="en-US" sz="4503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Evaluation Metrics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4971" y="9718519"/>
            <a:ext cx="10981382" cy="411804"/>
            <a:chOff x="0" y="0"/>
            <a:chExt cx="14641843" cy="5490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41840" cy="549069"/>
            </a:xfrm>
            <a:custGeom>
              <a:avLst/>
              <a:gdLst/>
              <a:ahLst/>
              <a:cxnLst/>
              <a:rect r="r" b="b" t="t" l="l"/>
              <a:pathLst>
                <a:path h="549069" w="14641840">
                  <a:moveTo>
                    <a:pt x="0" y="0"/>
                  </a:moveTo>
                  <a:lnTo>
                    <a:pt x="14641840" y="0"/>
                  </a:lnTo>
                  <a:lnTo>
                    <a:pt x="1464184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0" r="0" b="-46960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4641843" cy="5776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>
                  <a:solidFill>
                    <a:srgbClr val="5B6E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3D Reconstruction of Biomedical Tissues — B.Tech Project Proposal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899663" y="9718519"/>
            <a:ext cx="1647206" cy="411804"/>
            <a:chOff x="0" y="0"/>
            <a:chExt cx="2196274" cy="5490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6276" cy="549069"/>
            </a:xfrm>
            <a:custGeom>
              <a:avLst/>
              <a:gdLst/>
              <a:ahLst/>
              <a:cxnLst/>
              <a:rect r="r" b="b" t="t" l="l"/>
              <a:pathLst>
                <a:path h="549069" w="2196276">
                  <a:moveTo>
                    <a:pt x="0" y="0"/>
                  </a:moveTo>
                  <a:lnTo>
                    <a:pt x="2196276" y="0"/>
                  </a:lnTo>
                  <a:lnTo>
                    <a:pt x="219627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39" r="0" b="-2794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2196274" cy="5776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1"/>
                </a:lnSpc>
              </a:pPr>
              <a:r>
                <a:rPr lang="en-US" sz="1351">
                  <a:solidFill>
                    <a:srgbClr val="5B6E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09 / 12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45436" y="2804446"/>
            <a:ext cx="4011139" cy="4823422"/>
            <a:chOff x="0" y="0"/>
            <a:chExt cx="5348186" cy="64312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348097" cy="6431153"/>
            </a:xfrm>
            <a:custGeom>
              <a:avLst/>
              <a:gdLst/>
              <a:ahLst/>
              <a:cxnLst/>
              <a:rect r="r" b="b" t="t" l="l"/>
              <a:pathLst>
                <a:path h="6431153" w="5348097">
                  <a:moveTo>
                    <a:pt x="0" y="165481"/>
                  </a:moveTo>
                  <a:cubicBezTo>
                    <a:pt x="0" y="74168"/>
                    <a:pt x="74168" y="0"/>
                    <a:pt x="165481" y="0"/>
                  </a:cubicBezTo>
                  <a:lnTo>
                    <a:pt x="5182616" y="0"/>
                  </a:lnTo>
                  <a:cubicBezTo>
                    <a:pt x="5274056" y="0"/>
                    <a:pt x="5348097" y="74168"/>
                    <a:pt x="5348097" y="165481"/>
                  </a:cubicBezTo>
                  <a:lnTo>
                    <a:pt x="5348097" y="6265672"/>
                  </a:lnTo>
                  <a:cubicBezTo>
                    <a:pt x="5348097" y="6357112"/>
                    <a:pt x="5273929" y="6431153"/>
                    <a:pt x="5182616" y="6431153"/>
                  </a:cubicBezTo>
                  <a:lnTo>
                    <a:pt x="165481" y="6431153"/>
                  </a:lnTo>
                  <a:cubicBezTo>
                    <a:pt x="74168" y="6431280"/>
                    <a:pt x="0" y="6357112"/>
                    <a:pt x="0" y="6265672"/>
                  </a:cubicBezTo>
                  <a:close/>
                </a:path>
              </a:pathLst>
            </a:custGeom>
            <a:solidFill>
              <a:srgbClr val="F7FAFB"/>
            </a:solidFill>
            <a:ln w="19065" cap="sq">
              <a:solidFill>
                <a:srgbClr val="DCE6E9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2201942" y="3294412"/>
            <a:ext cx="1098137" cy="1098137"/>
            <a:chOff x="0" y="0"/>
            <a:chExt cx="1464183" cy="146418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64310" cy="1464310"/>
            </a:xfrm>
            <a:custGeom>
              <a:avLst/>
              <a:gdLst/>
              <a:ahLst/>
              <a:cxnLst/>
              <a:rect r="r" b="b" t="t" l="l"/>
              <a:pathLst>
                <a:path h="1464310" w="1464310">
                  <a:moveTo>
                    <a:pt x="0" y="732155"/>
                  </a:moveTo>
                  <a:cubicBezTo>
                    <a:pt x="0" y="327787"/>
                    <a:pt x="327787" y="0"/>
                    <a:pt x="732155" y="0"/>
                  </a:cubicBezTo>
                  <a:cubicBezTo>
                    <a:pt x="1136523" y="0"/>
                    <a:pt x="1464310" y="327787"/>
                    <a:pt x="1464310" y="732155"/>
                  </a:cubicBezTo>
                  <a:cubicBezTo>
                    <a:pt x="1464310" y="1136523"/>
                    <a:pt x="1136523" y="1464310"/>
                    <a:pt x="732155" y="1464310"/>
                  </a:cubicBezTo>
                  <a:cubicBezTo>
                    <a:pt x="327787" y="1464310"/>
                    <a:pt x="0" y="1136396"/>
                    <a:pt x="0" y="732155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2344693" y="3437172"/>
            <a:ext cx="812625" cy="812625"/>
            <a:chOff x="0" y="0"/>
            <a:chExt cx="1083500" cy="1083500"/>
          </a:xfrm>
        </p:grpSpPr>
        <p:sp>
          <p:nvSpPr>
            <p:cNvPr name="Freeform 19" id="19" descr="/home/claude/proj/icons/chart_white.png"/>
            <p:cNvSpPr/>
            <p:nvPr/>
          </p:nvSpPr>
          <p:spPr>
            <a:xfrm flipH="false" flipV="false" rot="0">
              <a:off x="0" y="0"/>
              <a:ext cx="1083437" cy="1083437"/>
            </a:xfrm>
            <a:custGeom>
              <a:avLst/>
              <a:gdLst/>
              <a:ahLst/>
              <a:cxnLst/>
              <a:rect r="r" b="b" t="t" l="l"/>
              <a:pathLst>
                <a:path h="1083437" w="1083437">
                  <a:moveTo>
                    <a:pt x="0" y="0"/>
                  </a:moveTo>
                  <a:lnTo>
                    <a:pt x="1083437" y="0"/>
                  </a:lnTo>
                  <a:lnTo>
                    <a:pt x="1083437" y="1083437"/>
                  </a:lnTo>
                  <a:lnTo>
                    <a:pt x="0" y="10834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5" b="-5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60872" y="4667088"/>
            <a:ext cx="3580276" cy="549069"/>
            <a:chOff x="0" y="0"/>
            <a:chExt cx="4773701" cy="7320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773697" cy="732092"/>
            </a:xfrm>
            <a:custGeom>
              <a:avLst/>
              <a:gdLst/>
              <a:ahLst/>
              <a:cxnLst/>
              <a:rect r="r" b="b" t="t" l="l"/>
              <a:pathLst>
                <a:path h="732092" w="4773697">
                  <a:moveTo>
                    <a:pt x="0" y="0"/>
                  </a:moveTo>
                  <a:lnTo>
                    <a:pt x="4773697" y="0"/>
                  </a:lnTo>
                  <a:lnTo>
                    <a:pt x="4773697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054" r="0" b="-7705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4773701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2"/>
                </a:lnSpc>
              </a:pPr>
              <a:r>
                <a:rPr lang="en-US" sz="2702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PSNR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960872" y="5219233"/>
            <a:ext cx="3580276" cy="793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i="true">
                <a:solidFill>
                  <a:srgbClr val="1C729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Peak Signal-to-Noise Ratio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9500" y="6001655"/>
            <a:ext cx="3443002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5B6E76"/>
                </a:solidFill>
                <a:latin typeface="Calibri (MS)"/>
                <a:ea typeface="Calibri (MS)"/>
                <a:cs typeface="Calibri (MS)"/>
                <a:sym typeface="Calibri (MS)"/>
              </a:rPr>
              <a:t>Measures reconstruction fidelity relative to noise — higher values indicate cleaner, more accurate slices.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5012045" y="2804446"/>
            <a:ext cx="4011139" cy="4823422"/>
            <a:chOff x="0" y="0"/>
            <a:chExt cx="5348186" cy="643122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348097" cy="6431153"/>
            </a:xfrm>
            <a:custGeom>
              <a:avLst/>
              <a:gdLst/>
              <a:ahLst/>
              <a:cxnLst/>
              <a:rect r="r" b="b" t="t" l="l"/>
              <a:pathLst>
                <a:path h="6431153" w="5348097">
                  <a:moveTo>
                    <a:pt x="0" y="165481"/>
                  </a:moveTo>
                  <a:cubicBezTo>
                    <a:pt x="0" y="74168"/>
                    <a:pt x="74168" y="0"/>
                    <a:pt x="165481" y="0"/>
                  </a:cubicBezTo>
                  <a:lnTo>
                    <a:pt x="5182616" y="0"/>
                  </a:lnTo>
                  <a:cubicBezTo>
                    <a:pt x="5274056" y="0"/>
                    <a:pt x="5348097" y="74168"/>
                    <a:pt x="5348097" y="165481"/>
                  </a:cubicBezTo>
                  <a:lnTo>
                    <a:pt x="5348097" y="6265672"/>
                  </a:lnTo>
                  <a:cubicBezTo>
                    <a:pt x="5348097" y="6357112"/>
                    <a:pt x="5273929" y="6431153"/>
                    <a:pt x="5182616" y="6431153"/>
                  </a:cubicBezTo>
                  <a:lnTo>
                    <a:pt x="165481" y="6431153"/>
                  </a:lnTo>
                  <a:cubicBezTo>
                    <a:pt x="74168" y="6431280"/>
                    <a:pt x="0" y="6357112"/>
                    <a:pt x="0" y="6265672"/>
                  </a:cubicBezTo>
                  <a:close/>
                </a:path>
              </a:pathLst>
            </a:custGeom>
            <a:solidFill>
              <a:srgbClr val="F7FAFB"/>
            </a:solidFill>
            <a:ln w="19065" cap="sq">
              <a:solidFill>
                <a:srgbClr val="DCE6E9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6468551" y="3294412"/>
            <a:ext cx="1098137" cy="1098137"/>
            <a:chOff x="0" y="0"/>
            <a:chExt cx="1464183" cy="146418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464310" cy="1464310"/>
            </a:xfrm>
            <a:custGeom>
              <a:avLst/>
              <a:gdLst/>
              <a:ahLst/>
              <a:cxnLst/>
              <a:rect r="r" b="b" t="t" l="l"/>
              <a:pathLst>
                <a:path h="1464310" w="1464310">
                  <a:moveTo>
                    <a:pt x="0" y="732155"/>
                  </a:moveTo>
                  <a:cubicBezTo>
                    <a:pt x="0" y="327787"/>
                    <a:pt x="327787" y="0"/>
                    <a:pt x="732155" y="0"/>
                  </a:cubicBezTo>
                  <a:cubicBezTo>
                    <a:pt x="1136523" y="0"/>
                    <a:pt x="1464310" y="327787"/>
                    <a:pt x="1464310" y="732155"/>
                  </a:cubicBezTo>
                  <a:cubicBezTo>
                    <a:pt x="1464310" y="1136523"/>
                    <a:pt x="1136523" y="1464310"/>
                    <a:pt x="732155" y="1464310"/>
                  </a:cubicBezTo>
                  <a:cubicBezTo>
                    <a:pt x="327787" y="1464310"/>
                    <a:pt x="0" y="1136396"/>
                    <a:pt x="0" y="732155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611303" y="3437172"/>
            <a:ext cx="812625" cy="812625"/>
            <a:chOff x="0" y="0"/>
            <a:chExt cx="1083500" cy="1083500"/>
          </a:xfrm>
        </p:grpSpPr>
        <p:sp>
          <p:nvSpPr>
            <p:cNvPr name="Freeform 30" id="30" descr="/home/claude/proj/icons/balance_white.png"/>
            <p:cNvSpPr/>
            <p:nvPr/>
          </p:nvSpPr>
          <p:spPr>
            <a:xfrm flipH="false" flipV="false" rot="0">
              <a:off x="0" y="0"/>
              <a:ext cx="1083437" cy="1083437"/>
            </a:xfrm>
            <a:custGeom>
              <a:avLst/>
              <a:gdLst/>
              <a:ahLst/>
              <a:cxnLst/>
              <a:rect r="r" b="b" t="t" l="l"/>
              <a:pathLst>
                <a:path h="1083437" w="1083437">
                  <a:moveTo>
                    <a:pt x="0" y="0"/>
                  </a:moveTo>
                  <a:lnTo>
                    <a:pt x="1083437" y="0"/>
                  </a:lnTo>
                  <a:lnTo>
                    <a:pt x="1083437" y="1083437"/>
                  </a:lnTo>
                  <a:lnTo>
                    <a:pt x="0" y="10834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5" b="-5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5227482" y="4667088"/>
            <a:ext cx="3580276" cy="549069"/>
            <a:chOff x="0" y="0"/>
            <a:chExt cx="4773701" cy="73209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773697" cy="732092"/>
            </a:xfrm>
            <a:custGeom>
              <a:avLst/>
              <a:gdLst/>
              <a:ahLst/>
              <a:cxnLst/>
              <a:rect r="r" b="b" t="t" l="l"/>
              <a:pathLst>
                <a:path h="732092" w="4773697">
                  <a:moveTo>
                    <a:pt x="0" y="0"/>
                  </a:moveTo>
                  <a:lnTo>
                    <a:pt x="4773697" y="0"/>
                  </a:lnTo>
                  <a:lnTo>
                    <a:pt x="4773697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054" r="0" b="-77054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4773701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2"/>
                </a:lnSpc>
              </a:pPr>
              <a:r>
                <a:rPr lang="en-US" sz="2702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SSIM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5227482" y="5219233"/>
            <a:ext cx="3580276" cy="793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i="true">
                <a:solidFill>
                  <a:srgbClr val="1C729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Structural Similarity Index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296110" y="6001655"/>
            <a:ext cx="3443002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5B6E76"/>
                </a:solidFill>
                <a:latin typeface="Calibri (MS)"/>
                <a:ea typeface="Calibri (MS)"/>
                <a:cs typeface="Calibri (MS)"/>
                <a:sym typeface="Calibri (MS)"/>
              </a:rPr>
              <a:t>Compares luminance, contrast, and structure to assess perceptual and anatomical similarity.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278655" y="2804446"/>
            <a:ext cx="4011139" cy="4823422"/>
            <a:chOff x="0" y="0"/>
            <a:chExt cx="5348186" cy="643122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348097" cy="6431153"/>
            </a:xfrm>
            <a:custGeom>
              <a:avLst/>
              <a:gdLst/>
              <a:ahLst/>
              <a:cxnLst/>
              <a:rect r="r" b="b" t="t" l="l"/>
              <a:pathLst>
                <a:path h="6431153" w="5348097">
                  <a:moveTo>
                    <a:pt x="0" y="165481"/>
                  </a:moveTo>
                  <a:cubicBezTo>
                    <a:pt x="0" y="74168"/>
                    <a:pt x="74168" y="0"/>
                    <a:pt x="165481" y="0"/>
                  </a:cubicBezTo>
                  <a:lnTo>
                    <a:pt x="5182616" y="0"/>
                  </a:lnTo>
                  <a:cubicBezTo>
                    <a:pt x="5274056" y="0"/>
                    <a:pt x="5348097" y="74168"/>
                    <a:pt x="5348097" y="165481"/>
                  </a:cubicBezTo>
                  <a:lnTo>
                    <a:pt x="5348097" y="6265672"/>
                  </a:lnTo>
                  <a:cubicBezTo>
                    <a:pt x="5348097" y="6357112"/>
                    <a:pt x="5273929" y="6431153"/>
                    <a:pt x="5182616" y="6431153"/>
                  </a:cubicBezTo>
                  <a:lnTo>
                    <a:pt x="165481" y="6431153"/>
                  </a:lnTo>
                  <a:cubicBezTo>
                    <a:pt x="74168" y="6431280"/>
                    <a:pt x="0" y="6357112"/>
                    <a:pt x="0" y="6265672"/>
                  </a:cubicBezTo>
                  <a:close/>
                </a:path>
              </a:pathLst>
            </a:custGeom>
            <a:solidFill>
              <a:srgbClr val="F7FAFB"/>
            </a:solidFill>
            <a:ln w="19065" cap="sq">
              <a:solidFill>
                <a:srgbClr val="DCE6E9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0735161" y="3294412"/>
            <a:ext cx="1098137" cy="1098137"/>
            <a:chOff x="0" y="0"/>
            <a:chExt cx="1464183" cy="146418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464310" cy="1464310"/>
            </a:xfrm>
            <a:custGeom>
              <a:avLst/>
              <a:gdLst/>
              <a:ahLst/>
              <a:cxnLst/>
              <a:rect r="r" b="b" t="t" l="l"/>
              <a:pathLst>
                <a:path h="1464310" w="1464310">
                  <a:moveTo>
                    <a:pt x="0" y="732155"/>
                  </a:moveTo>
                  <a:cubicBezTo>
                    <a:pt x="0" y="327787"/>
                    <a:pt x="327787" y="0"/>
                    <a:pt x="732155" y="0"/>
                  </a:cubicBezTo>
                  <a:cubicBezTo>
                    <a:pt x="1136523" y="0"/>
                    <a:pt x="1464310" y="327787"/>
                    <a:pt x="1464310" y="732155"/>
                  </a:cubicBezTo>
                  <a:cubicBezTo>
                    <a:pt x="1464310" y="1136523"/>
                    <a:pt x="1136523" y="1464310"/>
                    <a:pt x="732155" y="1464310"/>
                  </a:cubicBezTo>
                  <a:cubicBezTo>
                    <a:pt x="327787" y="1464310"/>
                    <a:pt x="0" y="1136396"/>
                    <a:pt x="0" y="732155"/>
                  </a:cubicBezTo>
                  <a:close/>
                </a:path>
              </a:pathLst>
            </a:custGeom>
            <a:solidFill>
              <a:srgbClr val="50808E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877912" y="3437172"/>
            <a:ext cx="812625" cy="812625"/>
            <a:chOff x="0" y="0"/>
            <a:chExt cx="1083500" cy="1083500"/>
          </a:xfrm>
        </p:grpSpPr>
        <p:sp>
          <p:nvSpPr>
            <p:cNvPr name="Freeform 41" id="41" descr="/home/claude/proj/icons/ruler_white.png"/>
            <p:cNvSpPr/>
            <p:nvPr/>
          </p:nvSpPr>
          <p:spPr>
            <a:xfrm flipH="false" flipV="false" rot="0">
              <a:off x="0" y="0"/>
              <a:ext cx="1083437" cy="1083437"/>
            </a:xfrm>
            <a:custGeom>
              <a:avLst/>
              <a:gdLst/>
              <a:ahLst/>
              <a:cxnLst/>
              <a:rect r="r" b="b" t="t" l="l"/>
              <a:pathLst>
                <a:path h="1083437" w="1083437">
                  <a:moveTo>
                    <a:pt x="0" y="0"/>
                  </a:moveTo>
                  <a:lnTo>
                    <a:pt x="1083437" y="0"/>
                  </a:lnTo>
                  <a:lnTo>
                    <a:pt x="1083437" y="1083437"/>
                  </a:lnTo>
                  <a:lnTo>
                    <a:pt x="0" y="10834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5" b="-5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494091" y="4667088"/>
            <a:ext cx="3580276" cy="549069"/>
            <a:chOff x="0" y="0"/>
            <a:chExt cx="4773701" cy="73209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773697" cy="732092"/>
            </a:xfrm>
            <a:custGeom>
              <a:avLst/>
              <a:gdLst/>
              <a:ahLst/>
              <a:cxnLst/>
              <a:rect r="r" b="b" t="t" l="l"/>
              <a:pathLst>
                <a:path h="732092" w="4773697">
                  <a:moveTo>
                    <a:pt x="0" y="0"/>
                  </a:moveTo>
                  <a:lnTo>
                    <a:pt x="4773697" y="0"/>
                  </a:lnTo>
                  <a:lnTo>
                    <a:pt x="4773697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054" r="0" b="-77054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4773701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2"/>
                </a:lnSpc>
              </a:pPr>
              <a:r>
                <a:rPr lang="en-US" sz="2702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MAE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9494091" y="5219233"/>
            <a:ext cx="3580276" cy="793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i="true">
                <a:solidFill>
                  <a:srgbClr val="1C729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Mean Absolute Error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562719" y="6001655"/>
            <a:ext cx="3443002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5B6E76"/>
                </a:solidFill>
                <a:latin typeface="Calibri (MS)"/>
                <a:ea typeface="Calibri (MS)"/>
                <a:cs typeface="Calibri (MS)"/>
                <a:sym typeface="Calibri (MS)"/>
              </a:rPr>
              <a:t>Average absolute pixel-intensity difference between predicted and ground-truth slices.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3545264" y="2804446"/>
            <a:ext cx="4011139" cy="4823422"/>
            <a:chOff x="0" y="0"/>
            <a:chExt cx="5348186" cy="643122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348097" cy="6431153"/>
            </a:xfrm>
            <a:custGeom>
              <a:avLst/>
              <a:gdLst/>
              <a:ahLst/>
              <a:cxnLst/>
              <a:rect r="r" b="b" t="t" l="l"/>
              <a:pathLst>
                <a:path h="6431153" w="5348097">
                  <a:moveTo>
                    <a:pt x="0" y="165481"/>
                  </a:moveTo>
                  <a:cubicBezTo>
                    <a:pt x="0" y="74168"/>
                    <a:pt x="74168" y="0"/>
                    <a:pt x="165481" y="0"/>
                  </a:cubicBezTo>
                  <a:lnTo>
                    <a:pt x="5182616" y="0"/>
                  </a:lnTo>
                  <a:cubicBezTo>
                    <a:pt x="5274056" y="0"/>
                    <a:pt x="5348097" y="74168"/>
                    <a:pt x="5348097" y="165481"/>
                  </a:cubicBezTo>
                  <a:lnTo>
                    <a:pt x="5348097" y="6265672"/>
                  </a:lnTo>
                  <a:cubicBezTo>
                    <a:pt x="5348097" y="6357112"/>
                    <a:pt x="5273929" y="6431153"/>
                    <a:pt x="5182616" y="6431153"/>
                  </a:cubicBezTo>
                  <a:lnTo>
                    <a:pt x="165481" y="6431153"/>
                  </a:lnTo>
                  <a:cubicBezTo>
                    <a:pt x="74168" y="6431280"/>
                    <a:pt x="0" y="6357112"/>
                    <a:pt x="0" y="6265672"/>
                  </a:cubicBezTo>
                  <a:close/>
                </a:path>
              </a:pathLst>
            </a:custGeom>
            <a:solidFill>
              <a:srgbClr val="F7FAFB"/>
            </a:solidFill>
            <a:ln w="19065" cap="sq">
              <a:solidFill>
                <a:srgbClr val="DCE6E9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5001761" y="3294412"/>
            <a:ext cx="1098137" cy="1098137"/>
            <a:chOff x="0" y="0"/>
            <a:chExt cx="1464183" cy="1464183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464310" cy="1464310"/>
            </a:xfrm>
            <a:custGeom>
              <a:avLst/>
              <a:gdLst/>
              <a:ahLst/>
              <a:cxnLst/>
              <a:rect r="r" b="b" t="t" l="l"/>
              <a:pathLst>
                <a:path h="1464310" w="1464310">
                  <a:moveTo>
                    <a:pt x="0" y="732155"/>
                  </a:moveTo>
                  <a:cubicBezTo>
                    <a:pt x="0" y="327787"/>
                    <a:pt x="327787" y="0"/>
                    <a:pt x="732155" y="0"/>
                  </a:cubicBezTo>
                  <a:cubicBezTo>
                    <a:pt x="1136523" y="0"/>
                    <a:pt x="1464310" y="327787"/>
                    <a:pt x="1464310" y="732155"/>
                  </a:cubicBezTo>
                  <a:cubicBezTo>
                    <a:pt x="1464310" y="1136523"/>
                    <a:pt x="1136523" y="1464310"/>
                    <a:pt x="732155" y="1464310"/>
                  </a:cubicBezTo>
                  <a:cubicBezTo>
                    <a:pt x="327787" y="1464310"/>
                    <a:pt x="0" y="1136396"/>
                    <a:pt x="0" y="732155"/>
                  </a:cubicBezTo>
                  <a:close/>
                </a:path>
              </a:pathLst>
            </a:custGeom>
            <a:solidFill>
              <a:srgbClr val="21295C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5144521" y="3437172"/>
            <a:ext cx="812625" cy="812625"/>
            <a:chOff x="0" y="0"/>
            <a:chExt cx="1083500" cy="1083500"/>
          </a:xfrm>
        </p:grpSpPr>
        <p:sp>
          <p:nvSpPr>
            <p:cNvPr name="Freeform 52" id="52" descr="/home/claude/proj/icons/sqrt_white.png"/>
            <p:cNvSpPr/>
            <p:nvPr/>
          </p:nvSpPr>
          <p:spPr>
            <a:xfrm flipH="false" flipV="false" rot="0">
              <a:off x="0" y="0"/>
              <a:ext cx="1083437" cy="1083437"/>
            </a:xfrm>
            <a:custGeom>
              <a:avLst/>
              <a:gdLst/>
              <a:ahLst/>
              <a:cxnLst/>
              <a:rect r="r" b="b" t="t" l="l"/>
              <a:pathLst>
                <a:path h="1083437" w="1083437">
                  <a:moveTo>
                    <a:pt x="0" y="0"/>
                  </a:moveTo>
                  <a:lnTo>
                    <a:pt x="1083437" y="0"/>
                  </a:lnTo>
                  <a:lnTo>
                    <a:pt x="1083437" y="1083437"/>
                  </a:lnTo>
                  <a:lnTo>
                    <a:pt x="0" y="10834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5" b="-5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3760701" y="4667088"/>
            <a:ext cx="3580276" cy="549069"/>
            <a:chOff x="0" y="0"/>
            <a:chExt cx="4773701" cy="73209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773697" cy="732092"/>
            </a:xfrm>
            <a:custGeom>
              <a:avLst/>
              <a:gdLst/>
              <a:ahLst/>
              <a:cxnLst/>
              <a:rect r="r" b="b" t="t" l="l"/>
              <a:pathLst>
                <a:path h="732092" w="4773697">
                  <a:moveTo>
                    <a:pt x="0" y="0"/>
                  </a:moveTo>
                  <a:lnTo>
                    <a:pt x="4773697" y="0"/>
                  </a:lnTo>
                  <a:lnTo>
                    <a:pt x="4773697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054" r="0" b="-77054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4773701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2"/>
                </a:lnSpc>
              </a:pPr>
              <a:r>
                <a:rPr lang="en-US" sz="2702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MSE</a:t>
              </a: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13760701" y="5219233"/>
            <a:ext cx="3580276" cy="793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i="true">
                <a:solidFill>
                  <a:srgbClr val="1C729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Mean Squared Error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3829328" y="6001655"/>
            <a:ext cx="3443002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5B6E76"/>
                </a:solidFill>
                <a:latin typeface="Calibri (MS)"/>
                <a:ea typeface="Calibri (MS)"/>
                <a:cs typeface="Calibri (MS)"/>
                <a:sym typeface="Calibri (MS)"/>
              </a:rPr>
              <a:t>Average squared pixel-intensity difference — penalizes larger errors more heavily.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971" y="576520"/>
            <a:ext cx="12354049" cy="439255"/>
            <a:chOff x="0" y="0"/>
            <a:chExt cx="16472065" cy="5856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72069" cy="585674"/>
            </a:xfrm>
            <a:custGeom>
              <a:avLst/>
              <a:gdLst/>
              <a:ahLst/>
              <a:cxnLst/>
              <a:rect r="r" b="b" t="t" l="l"/>
              <a:pathLst>
                <a:path h="585674" w="16472069">
                  <a:moveTo>
                    <a:pt x="0" y="0"/>
                  </a:moveTo>
                  <a:lnTo>
                    <a:pt x="16472069" y="0"/>
                  </a:lnTo>
                  <a:lnTo>
                    <a:pt x="16472069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8016" r="0" b="-49801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472065" cy="6237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b="true" sz="1801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EXPECTED OUTCOMES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971" y="988324"/>
            <a:ext cx="16791899" cy="988324"/>
            <a:chOff x="0" y="0"/>
            <a:chExt cx="22389198" cy="13177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389201" cy="1317765"/>
            </a:xfrm>
            <a:custGeom>
              <a:avLst/>
              <a:gdLst/>
              <a:ahLst/>
              <a:cxnLst/>
              <a:rect r="r" b="b" t="t" l="l"/>
              <a:pathLst>
                <a:path h="1317765" w="22389201">
                  <a:moveTo>
                    <a:pt x="0" y="0"/>
                  </a:moveTo>
                  <a:lnTo>
                    <a:pt x="22389201" y="0"/>
                  </a:lnTo>
                  <a:lnTo>
                    <a:pt x="22389201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1056" r="0" b="-28105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389198" cy="1327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4"/>
                </a:lnSpc>
              </a:pPr>
              <a:r>
                <a:rPr lang="en-US" sz="4503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Expected Results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4971" y="9718519"/>
            <a:ext cx="10981382" cy="411804"/>
            <a:chOff x="0" y="0"/>
            <a:chExt cx="14641843" cy="5490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41840" cy="549069"/>
            </a:xfrm>
            <a:custGeom>
              <a:avLst/>
              <a:gdLst/>
              <a:ahLst/>
              <a:cxnLst/>
              <a:rect r="r" b="b" t="t" l="l"/>
              <a:pathLst>
                <a:path h="549069" w="14641840">
                  <a:moveTo>
                    <a:pt x="0" y="0"/>
                  </a:moveTo>
                  <a:lnTo>
                    <a:pt x="14641840" y="0"/>
                  </a:lnTo>
                  <a:lnTo>
                    <a:pt x="1464184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0" r="0" b="-46960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4641843" cy="5776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>
                  <a:solidFill>
                    <a:srgbClr val="5B6E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3D Reconstruction of Biomedical Tissues — B.Tech Project Proposal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899663" y="9718519"/>
            <a:ext cx="1647206" cy="411804"/>
            <a:chOff x="0" y="0"/>
            <a:chExt cx="2196274" cy="5490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6276" cy="549069"/>
            </a:xfrm>
            <a:custGeom>
              <a:avLst/>
              <a:gdLst/>
              <a:ahLst/>
              <a:cxnLst/>
              <a:rect r="r" b="b" t="t" l="l"/>
              <a:pathLst>
                <a:path h="549069" w="2196276">
                  <a:moveTo>
                    <a:pt x="0" y="0"/>
                  </a:moveTo>
                  <a:lnTo>
                    <a:pt x="2196276" y="0"/>
                  </a:lnTo>
                  <a:lnTo>
                    <a:pt x="219627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39" r="0" b="-2794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2196274" cy="5776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1"/>
                </a:lnSpc>
              </a:pPr>
              <a:r>
                <a:rPr lang="en-US" sz="1351">
                  <a:solidFill>
                    <a:srgbClr val="5B6E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 / 12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23057" y="2735809"/>
            <a:ext cx="4274353" cy="3176216"/>
            <a:chOff x="0" y="0"/>
            <a:chExt cx="5699138" cy="423495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99125" cy="4234942"/>
            </a:xfrm>
            <a:custGeom>
              <a:avLst/>
              <a:gdLst/>
              <a:ahLst/>
              <a:cxnLst/>
              <a:rect r="r" b="b" t="t" l="l"/>
              <a:pathLst>
                <a:path h="4234942" w="5699125">
                  <a:moveTo>
                    <a:pt x="0" y="165735"/>
                  </a:moveTo>
                  <a:cubicBezTo>
                    <a:pt x="0" y="74168"/>
                    <a:pt x="74168" y="0"/>
                    <a:pt x="165735" y="0"/>
                  </a:cubicBezTo>
                  <a:lnTo>
                    <a:pt x="5533390" y="0"/>
                  </a:lnTo>
                  <a:cubicBezTo>
                    <a:pt x="5624957" y="0"/>
                    <a:pt x="5699125" y="74168"/>
                    <a:pt x="5699125" y="165735"/>
                  </a:cubicBezTo>
                  <a:lnTo>
                    <a:pt x="5699125" y="4069207"/>
                  </a:lnTo>
                  <a:cubicBezTo>
                    <a:pt x="5699125" y="4160774"/>
                    <a:pt x="5624957" y="4234942"/>
                    <a:pt x="5533390" y="4234942"/>
                  </a:cubicBezTo>
                  <a:lnTo>
                    <a:pt x="165735" y="4234942"/>
                  </a:lnTo>
                  <a:cubicBezTo>
                    <a:pt x="74168" y="4234942"/>
                    <a:pt x="0" y="4160774"/>
                    <a:pt x="0" y="4069207"/>
                  </a:cubicBezTo>
                  <a:close/>
                </a:path>
              </a:pathLst>
            </a:custGeom>
            <a:solidFill>
              <a:srgbClr val="EFF5F7"/>
            </a:solidFill>
            <a:ln w="19065" cap="sq">
              <a:solidFill>
                <a:srgbClr val="DCE6E9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934861" y="3284877"/>
            <a:ext cx="458324" cy="1185834"/>
            <a:chOff x="0" y="0"/>
            <a:chExt cx="611099" cy="158111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11124" cy="1581150"/>
            </a:xfrm>
            <a:custGeom>
              <a:avLst/>
              <a:gdLst/>
              <a:ahLst/>
              <a:cxnLst/>
              <a:rect r="r" b="b" t="t" l="l"/>
              <a:pathLst>
                <a:path h="1581150" w="611124">
                  <a:moveTo>
                    <a:pt x="0" y="0"/>
                  </a:moveTo>
                  <a:lnTo>
                    <a:pt x="611124" y="0"/>
                  </a:lnTo>
                  <a:lnTo>
                    <a:pt x="611124" y="1581150"/>
                  </a:lnTo>
                  <a:lnTo>
                    <a:pt x="0" y="1581150"/>
                  </a:lnTo>
                  <a:close/>
                </a:path>
              </a:pathLst>
            </a:custGeom>
            <a:solidFill>
              <a:srgbClr val="50808E"/>
            </a:solidFill>
            <a:ln w="19065" cap="sq">
              <a:solidFill>
                <a:srgbClr val="50808E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2678201" y="3280115"/>
            <a:ext cx="467849" cy="1195368"/>
            <a:chOff x="0" y="0"/>
            <a:chExt cx="623799" cy="159382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3824" cy="1593850"/>
            </a:xfrm>
            <a:custGeom>
              <a:avLst/>
              <a:gdLst/>
              <a:ahLst/>
              <a:cxnLst/>
              <a:rect r="r" b="b" t="t" l="l"/>
              <a:pathLst>
                <a:path h="1593850" w="623824">
                  <a:moveTo>
                    <a:pt x="0" y="0"/>
                  </a:moveTo>
                  <a:lnTo>
                    <a:pt x="623824" y="0"/>
                  </a:lnTo>
                  <a:lnTo>
                    <a:pt x="623824" y="1593850"/>
                  </a:lnTo>
                  <a:lnTo>
                    <a:pt x="0" y="1593850"/>
                  </a:ln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50808E"/>
              </a:solidFill>
              <a:prstDash val="dash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3431067" y="3284877"/>
            <a:ext cx="458324" cy="1185834"/>
            <a:chOff x="0" y="0"/>
            <a:chExt cx="611099" cy="158111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11124" cy="1581150"/>
            </a:xfrm>
            <a:custGeom>
              <a:avLst/>
              <a:gdLst/>
              <a:ahLst/>
              <a:cxnLst/>
              <a:rect r="r" b="b" t="t" l="l"/>
              <a:pathLst>
                <a:path h="1581150" w="611124">
                  <a:moveTo>
                    <a:pt x="0" y="0"/>
                  </a:moveTo>
                  <a:lnTo>
                    <a:pt x="611124" y="0"/>
                  </a:lnTo>
                  <a:lnTo>
                    <a:pt x="611124" y="1581150"/>
                  </a:lnTo>
                  <a:lnTo>
                    <a:pt x="0" y="1581150"/>
                  </a:lnTo>
                  <a:close/>
                </a:path>
              </a:pathLst>
            </a:custGeom>
            <a:solidFill>
              <a:srgbClr val="50808E"/>
            </a:solidFill>
            <a:ln w="19065" cap="sq">
              <a:solidFill>
                <a:srgbClr val="50808E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4174407" y="3280115"/>
            <a:ext cx="467849" cy="1195368"/>
            <a:chOff x="0" y="0"/>
            <a:chExt cx="623799" cy="159382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23824" cy="1593850"/>
            </a:xfrm>
            <a:custGeom>
              <a:avLst/>
              <a:gdLst/>
              <a:ahLst/>
              <a:cxnLst/>
              <a:rect r="r" b="b" t="t" l="l"/>
              <a:pathLst>
                <a:path h="1593850" w="623824">
                  <a:moveTo>
                    <a:pt x="0" y="0"/>
                  </a:moveTo>
                  <a:lnTo>
                    <a:pt x="623824" y="0"/>
                  </a:lnTo>
                  <a:lnTo>
                    <a:pt x="623824" y="1593850"/>
                  </a:lnTo>
                  <a:lnTo>
                    <a:pt x="0" y="1593850"/>
                  </a:ln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50808E"/>
              </a:solidFill>
              <a:prstDash val="dash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4927282" y="3284877"/>
            <a:ext cx="458324" cy="1185834"/>
            <a:chOff x="0" y="0"/>
            <a:chExt cx="611099" cy="158111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11124" cy="1581150"/>
            </a:xfrm>
            <a:custGeom>
              <a:avLst/>
              <a:gdLst/>
              <a:ahLst/>
              <a:cxnLst/>
              <a:rect r="r" b="b" t="t" l="l"/>
              <a:pathLst>
                <a:path h="1581150" w="611124">
                  <a:moveTo>
                    <a:pt x="0" y="0"/>
                  </a:moveTo>
                  <a:lnTo>
                    <a:pt x="611124" y="0"/>
                  </a:lnTo>
                  <a:lnTo>
                    <a:pt x="611124" y="1581150"/>
                  </a:lnTo>
                  <a:lnTo>
                    <a:pt x="0" y="1581150"/>
                  </a:lnTo>
                  <a:close/>
                </a:path>
              </a:pathLst>
            </a:custGeom>
            <a:solidFill>
              <a:srgbClr val="50808E"/>
            </a:solidFill>
            <a:ln w="19065" cap="sq">
              <a:solidFill>
                <a:srgbClr val="50808E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738493" y="4804353"/>
            <a:ext cx="3843480" cy="549069"/>
            <a:chOff x="0" y="0"/>
            <a:chExt cx="5124640" cy="73209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124644" cy="732092"/>
            </a:xfrm>
            <a:custGeom>
              <a:avLst/>
              <a:gdLst/>
              <a:ahLst/>
              <a:cxnLst/>
              <a:rect r="r" b="b" t="t" l="l"/>
              <a:pathLst>
                <a:path h="732092" w="5124644">
                  <a:moveTo>
                    <a:pt x="0" y="0"/>
                  </a:moveTo>
                  <a:lnTo>
                    <a:pt x="5124644" y="0"/>
                  </a:lnTo>
                  <a:lnTo>
                    <a:pt x="5124644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5124640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Sparse Slices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738493" y="5380873"/>
            <a:ext cx="3843480" cy="480431"/>
            <a:chOff x="0" y="0"/>
            <a:chExt cx="5124640" cy="64057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124644" cy="640580"/>
            </a:xfrm>
            <a:custGeom>
              <a:avLst/>
              <a:gdLst/>
              <a:ahLst/>
              <a:cxnLst/>
              <a:rect r="r" b="b" t="t" l="l"/>
              <a:pathLst>
                <a:path h="640580" w="5124644">
                  <a:moveTo>
                    <a:pt x="0" y="0"/>
                  </a:moveTo>
                  <a:lnTo>
                    <a:pt x="5124644" y="0"/>
                  </a:lnTo>
                  <a:lnTo>
                    <a:pt x="5124644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79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5124640" cy="659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91"/>
                </a:lnSpc>
              </a:pPr>
              <a:r>
                <a:rPr lang="en-US" sz="1576">
                  <a:solidFill>
                    <a:srgbClr val="5B6E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Incomplete input scan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952592" y="4131745"/>
            <a:ext cx="905961" cy="384353"/>
            <a:chOff x="0" y="0"/>
            <a:chExt cx="1207948" cy="51247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07897" cy="512445"/>
            </a:xfrm>
            <a:custGeom>
              <a:avLst/>
              <a:gdLst/>
              <a:ahLst/>
              <a:cxnLst/>
              <a:rect r="r" b="b" t="t" l="l"/>
              <a:pathLst>
                <a:path h="512445" w="1207897">
                  <a:moveTo>
                    <a:pt x="0" y="128143"/>
                  </a:moveTo>
                  <a:lnTo>
                    <a:pt x="951738" y="128143"/>
                  </a:lnTo>
                  <a:lnTo>
                    <a:pt x="951738" y="0"/>
                  </a:lnTo>
                  <a:lnTo>
                    <a:pt x="1207897" y="256286"/>
                  </a:lnTo>
                  <a:lnTo>
                    <a:pt x="951738" y="512445"/>
                  </a:lnTo>
                  <a:lnTo>
                    <a:pt x="951738" y="384302"/>
                  </a:lnTo>
                  <a:lnTo>
                    <a:pt x="0" y="384302"/>
                  </a:lnTo>
                  <a:close/>
                </a:path>
              </a:pathLst>
            </a:custGeom>
            <a:solidFill>
              <a:srgbClr val="50808E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7013743" y="2735809"/>
            <a:ext cx="4274353" cy="3176216"/>
            <a:chOff x="0" y="0"/>
            <a:chExt cx="5699138" cy="423495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699125" cy="4234942"/>
            </a:xfrm>
            <a:custGeom>
              <a:avLst/>
              <a:gdLst/>
              <a:ahLst/>
              <a:cxnLst/>
              <a:rect r="r" b="b" t="t" l="l"/>
              <a:pathLst>
                <a:path h="4234942" w="5699125">
                  <a:moveTo>
                    <a:pt x="0" y="165735"/>
                  </a:moveTo>
                  <a:cubicBezTo>
                    <a:pt x="0" y="74168"/>
                    <a:pt x="74168" y="0"/>
                    <a:pt x="165735" y="0"/>
                  </a:cubicBezTo>
                  <a:lnTo>
                    <a:pt x="5533390" y="0"/>
                  </a:lnTo>
                  <a:cubicBezTo>
                    <a:pt x="5624957" y="0"/>
                    <a:pt x="5699125" y="74168"/>
                    <a:pt x="5699125" y="165735"/>
                  </a:cubicBezTo>
                  <a:lnTo>
                    <a:pt x="5699125" y="4069207"/>
                  </a:lnTo>
                  <a:cubicBezTo>
                    <a:pt x="5699125" y="4160774"/>
                    <a:pt x="5624957" y="4234942"/>
                    <a:pt x="5533390" y="4234942"/>
                  </a:cubicBezTo>
                  <a:lnTo>
                    <a:pt x="165735" y="4234942"/>
                  </a:lnTo>
                  <a:cubicBezTo>
                    <a:pt x="74168" y="4234942"/>
                    <a:pt x="0" y="4160774"/>
                    <a:pt x="0" y="4069207"/>
                  </a:cubicBezTo>
                  <a:close/>
                </a:path>
              </a:pathLst>
            </a:custGeom>
            <a:solidFill>
              <a:srgbClr val="EFF5F7"/>
            </a:solidFill>
            <a:ln w="19065" cap="sq">
              <a:solidFill>
                <a:srgbClr val="DCE6E9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7435082" y="3294412"/>
            <a:ext cx="439255" cy="1166774"/>
            <a:chOff x="0" y="0"/>
            <a:chExt cx="585673" cy="155569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85724" cy="1555750"/>
            </a:xfrm>
            <a:custGeom>
              <a:avLst/>
              <a:gdLst/>
              <a:ahLst/>
              <a:cxnLst/>
              <a:rect r="r" b="b" t="t" l="l"/>
              <a:pathLst>
                <a:path h="1555750" w="585724">
                  <a:moveTo>
                    <a:pt x="0" y="0"/>
                  </a:moveTo>
                  <a:lnTo>
                    <a:pt x="585724" y="0"/>
                  </a:lnTo>
                  <a:lnTo>
                    <a:pt x="585724" y="1555750"/>
                  </a:lnTo>
                  <a:lnTo>
                    <a:pt x="0" y="1555750"/>
                  </a:lnTo>
                  <a:close/>
                </a:path>
              </a:pathLst>
            </a:custGeom>
            <a:solidFill>
              <a:srgbClr val="50808E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183185" y="3294412"/>
            <a:ext cx="439255" cy="1166774"/>
            <a:chOff x="0" y="0"/>
            <a:chExt cx="585673" cy="155569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85724" cy="1555750"/>
            </a:xfrm>
            <a:custGeom>
              <a:avLst/>
              <a:gdLst/>
              <a:ahLst/>
              <a:cxnLst/>
              <a:rect r="r" b="b" t="t" l="l"/>
              <a:pathLst>
                <a:path h="1555750" w="585724">
                  <a:moveTo>
                    <a:pt x="0" y="0"/>
                  </a:moveTo>
                  <a:lnTo>
                    <a:pt x="585724" y="0"/>
                  </a:lnTo>
                  <a:lnTo>
                    <a:pt x="585724" y="1555750"/>
                  </a:lnTo>
                  <a:lnTo>
                    <a:pt x="0" y="1555750"/>
                  </a:ln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8931297" y="3294412"/>
            <a:ext cx="439255" cy="1166774"/>
            <a:chOff x="0" y="0"/>
            <a:chExt cx="585673" cy="155569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85724" cy="1555750"/>
            </a:xfrm>
            <a:custGeom>
              <a:avLst/>
              <a:gdLst/>
              <a:ahLst/>
              <a:cxnLst/>
              <a:rect r="r" b="b" t="t" l="l"/>
              <a:pathLst>
                <a:path h="1555750" w="585724">
                  <a:moveTo>
                    <a:pt x="0" y="0"/>
                  </a:moveTo>
                  <a:lnTo>
                    <a:pt x="585724" y="0"/>
                  </a:lnTo>
                  <a:lnTo>
                    <a:pt x="585724" y="1555750"/>
                  </a:lnTo>
                  <a:lnTo>
                    <a:pt x="0" y="1555750"/>
                  </a:lnTo>
                  <a:close/>
                </a:path>
              </a:pathLst>
            </a:custGeom>
            <a:solidFill>
              <a:srgbClr val="50808E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679400" y="3294412"/>
            <a:ext cx="439255" cy="1166774"/>
            <a:chOff x="0" y="0"/>
            <a:chExt cx="585673" cy="155569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85724" cy="1555750"/>
            </a:xfrm>
            <a:custGeom>
              <a:avLst/>
              <a:gdLst/>
              <a:ahLst/>
              <a:cxnLst/>
              <a:rect r="r" b="b" t="t" l="l"/>
              <a:pathLst>
                <a:path h="1555750" w="585724">
                  <a:moveTo>
                    <a:pt x="0" y="0"/>
                  </a:moveTo>
                  <a:lnTo>
                    <a:pt x="585724" y="0"/>
                  </a:lnTo>
                  <a:lnTo>
                    <a:pt x="585724" y="1555750"/>
                  </a:lnTo>
                  <a:lnTo>
                    <a:pt x="0" y="1555750"/>
                  </a:ln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0427503" y="3294412"/>
            <a:ext cx="439255" cy="1166774"/>
            <a:chOff x="0" y="0"/>
            <a:chExt cx="585673" cy="155569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85724" cy="1555750"/>
            </a:xfrm>
            <a:custGeom>
              <a:avLst/>
              <a:gdLst/>
              <a:ahLst/>
              <a:cxnLst/>
              <a:rect r="r" b="b" t="t" l="l"/>
              <a:pathLst>
                <a:path h="1555750" w="585724">
                  <a:moveTo>
                    <a:pt x="0" y="0"/>
                  </a:moveTo>
                  <a:lnTo>
                    <a:pt x="585724" y="0"/>
                  </a:lnTo>
                  <a:lnTo>
                    <a:pt x="585724" y="1555750"/>
                  </a:lnTo>
                  <a:lnTo>
                    <a:pt x="0" y="1555750"/>
                  </a:lnTo>
                  <a:close/>
                </a:path>
              </a:pathLst>
            </a:custGeom>
            <a:solidFill>
              <a:srgbClr val="50808E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7229180" y="4804353"/>
            <a:ext cx="3843480" cy="549069"/>
            <a:chOff x="0" y="0"/>
            <a:chExt cx="5124640" cy="73209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124644" cy="732092"/>
            </a:xfrm>
            <a:custGeom>
              <a:avLst/>
              <a:gdLst/>
              <a:ahLst/>
              <a:cxnLst/>
              <a:rect r="r" b="b" t="t" l="l"/>
              <a:pathLst>
                <a:path h="732092" w="5124644">
                  <a:moveTo>
                    <a:pt x="0" y="0"/>
                  </a:moveTo>
                  <a:lnTo>
                    <a:pt x="5124644" y="0"/>
                  </a:lnTo>
                  <a:lnTo>
                    <a:pt x="5124644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5124640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Generated Slices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7229180" y="5380873"/>
            <a:ext cx="3843480" cy="480431"/>
            <a:chOff x="0" y="0"/>
            <a:chExt cx="5124640" cy="64057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124644" cy="640580"/>
            </a:xfrm>
            <a:custGeom>
              <a:avLst/>
              <a:gdLst/>
              <a:ahLst/>
              <a:cxnLst/>
              <a:rect r="r" b="b" t="t" l="l"/>
              <a:pathLst>
                <a:path h="640580" w="5124644">
                  <a:moveTo>
                    <a:pt x="0" y="0"/>
                  </a:moveTo>
                  <a:lnTo>
                    <a:pt x="5124644" y="0"/>
                  </a:lnTo>
                  <a:lnTo>
                    <a:pt x="5124644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79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5124640" cy="659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91"/>
                </a:lnSpc>
              </a:pPr>
              <a:r>
                <a:rPr lang="en-US" sz="1576">
                  <a:solidFill>
                    <a:srgbClr val="5B6E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Diffusion-predicted slices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1443287" y="4131745"/>
            <a:ext cx="905961" cy="384353"/>
            <a:chOff x="0" y="0"/>
            <a:chExt cx="1207948" cy="51247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207897" cy="512445"/>
            </a:xfrm>
            <a:custGeom>
              <a:avLst/>
              <a:gdLst/>
              <a:ahLst/>
              <a:cxnLst/>
              <a:rect r="r" b="b" t="t" l="l"/>
              <a:pathLst>
                <a:path h="512445" w="1207897">
                  <a:moveTo>
                    <a:pt x="0" y="128143"/>
                  </a:moveTo>
                  <a:lnTo>
                    <a:pt x="951738" y="128143"/>
                  </a:lnTo>
                  <a:lnTo>
                    <a:pt x="951738" y="0"/>
                  </a:lnTo>
                  <a:lnTo>
                    <a:pt x="1207897" y="256286"/>
                  </a:lnTo>
                  <a:lnTo>
                    <a:pt x="951738" y="512445"/>
                  </a:lnTo>
                  <a:lnTo>
                    <a:pt x="951738" y="384302"/>
                  </a:lnTo>
                  <a:lnTo>
                    <a:pt x="0" y="384302"/>
                  </a:lnTo>
                  <a:close/>
                </a:path>
              </a:pathLst>
            </a:custGeom>
            <a:solidFill>
              <a:srgbClr val="50808E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2504439" y="2735809"/>
            <a:ext cx="4274353" cy="3176216"/>
            <a:chOff x="0" y="0"/>
            <a:chExt cx="5699138" cy="423495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699125" cy="4234942"/>
            </a:xfrm>
            <a:custGeom>
              <a:avLst/>
              <a:gdLst/>
              <a:ahLst/>
              <a:cxnLst/>
              <a:rect r="r" b="b" t="t" l="l"/>
              <a:pathLst>
                <a:path h="4234942" w="5699125">
                  <a:moveTo>
                    <a:pt x="0" y="165735"/>
                  </a:moveTo>
                  <a:cubicBezTo>
                    <a:pt x="0" y="74168"/>
                    <a:pt x="74168" y="0"/>
                    <a:pt x="165735" y="0"/>
                  </a:cubicBezTo>
                  <a:lnTo>
                    <a:pt x="5533390" y="0"/>
                  </a:lnTo>
                  <a:cubicBezTo>
                    <a:pt x="5624957" y="0"/>
                    <a:pt x="5699125" y="74168"/>
                    <a:pt x="5699125" y="165735"/>
                  </a:cubicBezTo>
                  <a:lnTo>
                    <a:pt x="5699125" y="4069207"/>
                  </a:lnTo>
                  <a:cubicBezTo>
                    <a:pt x="5699125" y="4160774"/>
                    <a:pt x="5624957" y="4234942"/>
                    <a:pt x="5533390" y="4234942"/>
                  </a:cubicBezTo>
                  <a:lnTo>
                    <a:pt x="165735" y="4234942"/>
                  </a:lnTo>
                  <a:cubicBezTo>
                    <a:pt x="74168" y="4234942"/>
                    <a:pt x="0" y="4160774"/>
                    <a:pt x="0" y="4069207"/>
                  </a:cubicBezTo>
                  <a:close/>
                </a:path>
              </a:pathLst>
            </a:custGeom>
            <a:solidFill>
              <a:srgbClr val="EFF5F7"/>
            </a:solidFill>
            <a:ln w="19065" cap="sq">
              <a:solidFill>
                <a:srgbClr val="DCE6E9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13886640" y="3294412"/>
            <a:ext cx="1509941" cy="1166774"/>
            <a:chOff x="0" y="0"/>
            <a:chExt cx="2013255" cy="155569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013331" cy="1555750"/>
            </a:xfrm>
            <a:custGeom>
              <a:avLst/>
              <a:gdLst/>
              <a:ahLst/>
              <a:cxnLst/>
              <a:rect r="r" b="b" t="t" l="l"/>
              <a:pathLst>
                <a:path h="1555750" w="2013331">
                  <a:moveTo>
                    <a:pt x="0" y="91567"/>
                  </a:moveTo>
                  <a:cubicBezTo>
                    <a:pt x="0" y="41021"/>
                    <a:pt x="41021" y="0"/>
                    <a:pt x="91567" y="0"/>
                  </a:cubicBezTo>
                  <a:lnTo>
                    <a:pt x="1921764" y="0"/>
                  </a:lnTo>
                  <a:cubicBezTo>
                    <a:pt x="1972310" y="0"/>
                    <a:pt x="2013331" y="41021"/>
                    <a:pt x="2013331" y="91567"/>
                  </a:cubicBezTo>
                  <a:lnTo>
                    <a:pt x="2013331" y="1464183"/>
                  </a:lnTo>
                  <a:cubicBezTo>
                    <a:pt x="2013331" y="1514729"/>
                    <a:pt x="1972310" y="1555750"/>
                    <a:pt x="1921764" y="1555750"/>
                  </a:cubicBezTo>
                  <a:lnTo>
                    <a:pt x="91567" y="1555750"/>
                  </a:lnTo>
                  <a:cubicBezTo>
                    <a:pt x="41021" y="1555750"/>
                    <a:pt x="0" y="1514729"/>
                    <a:pt x="0" y="1464183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4092542" y="3157147"/>
            <a:ext cx="1509941" cy="1166774"/>
            <a:chOff x="0" y="0"/>
            <a:chExt cx="2013255" cy="1555699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013331" cy="1555750"/>
            </a:xfrm>
            <a:custGeom>
              <a:avLst/>
              <a:gdLst/>
              <a:ahLst/>
              <a:cxnLst/>
              <a:rect r="r" b="b" t="t" l="l"/>
              <a:pathLst>
                <a:path h="1555750" w="2013331">
                  <a:moveTo>
                    <a:pt x="0" y="91567"/>
                  </a:moveTo>
                  <a:cubicBezTo>
                    <a:pt x="0" y="41021"/>
                    <a:pt x="41021" y="0"/>
                    <a:pt x="91567" y="0"/>
                  </a:cubicBezTo>
                  <a:lnTo>
                    <a:pt x="1921764" y="0"/>
                  </a:lnTo>
                  <a:cubicBezTo>
                    <a:pt x="1972310" y="0"/>
                    <a:pt x="2013331" y="41021"/>
                    <a:pt x="2013331" y="91567"/>
                  </a:cubicBezTo>
                  <a:lnTo>
                    <a:pt x="2013331" y="1464183"/>
                  </a:lnTo>
                  <a:cubicBezTo>
                    <a:pt x="2013331" y="1514729"/>
                    <a:pt x="1972310" y="1555750"/>
                    <a:pt x="1921764" y="1555750"/>
                  </a:cubicBezTo>
                  <a:lnTo>
                    <a:pt x="91567" y="1555750"/>
                  </a:lnTo>
                  <a:cubicBezTo>
                    <a:pt x="41021" y="1555750"/>
                    <a:pt x="0" y="1514729"/>
                    <a:pt x="0" y="1464183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4298444" y="3019882"/>
            <a:ext cx="1509941" cy="1166774"/>
            <a:chOff x="0" y="0"/>
            <a:chExt cx="2013255" cy="1555699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013331" cy="1555750"/>
            </a:xfrm>
            <a:custGeom>
              <a:avLst/>
              <a:gdLst/>
              <a:ahLst/>
              <a:cxnLst/>
              <a:rect r="r" b="b" t="t" l="l"/>
              <a:pathLst>
                <a:path h="1555750" w="2013331">
                  <a:moveTo>
                    <a:pt x="0" y="91567"/>
                  </a:moveTo>
                  <a:cubicBezTo>
                    <a:pt x="0" y="41021"/>
                    <a:pt x="41021" y="0"/>
                    <a:pt x="91567" y="0"/>
                  </a:cubicBezTo>
                  <a:lnTo>
                    <a:pt x="1921764" y="0"/>
                  </a:lnTo>
                  <a:cubicBezTo>
                    <a:pt x="1972310" y="0"/>
                    <a:pt x="2013331" y="41021"/>
                    <a:pt x="2013331" y="91567"/>
                  </a:cubicBezTo>
                  <a:lnTo>
                    <a:pt x="2013331" y="1464183"/>
                  </a:lnTo>
                  <a:cubicBezTo>
                    <a:pt x="2013331" y="1514729"/>
                    <a:pt x="1972310" y="1555750"/>
                    <a:pt x="1921764" y="1555750"/>
                  </a:cubicBezTo>
                  <a:lnTo>
                    <a:pt x="91567" y="1555750"/>
                  </a:lnTo>
                  <a:cubicBezTo>
                    <a:pt x="41021" y="1555750"/>
                    <a:pt x="0" y="1514729"/>
                    <a:pt x="0" y="1464183"/>
                  </a:cubicBezTo>
                  <a:close/>
                </a:path>
              </a:pathLst>
            </a:custGeom>
            <a:solidFill>
              <a:srgbClr val="21295C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2719866" y="4804353"/>
            <a:ext cx="3843480" cy="549069"/>
            <a:chOff x="0" y="0"/>
            <a:chExt cx="5124640" cy="73209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124644" cy="732092"/>
            </a:xfrm>
            <a:custGeom>
              <a:avLst/>
              <a:gdLst/>
              <a:ahLst/>
              <a:cxnLst/>
              <a:rect r="r" b="b" t="t" l="l"/>
              <a:pathLst>
                <a:path h="732092" w="5124644">
                  <a:moveTo>
                    <a:pt x="0" y="0"/>
                  </a:moveTo>
                  <a:lnTo>
                    <a:pt x="5124644" y="0"/>
                  </a:lnTo>
                  <a:lnTo>
                    <a:pt x="5124644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19050"/>
              <a:ext cx="5124640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Complete 3D Volume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2719866" y="5380873"/>
            <a:ext cx="3843480" cy="480431"/>
            <a:chOff x="0" y="0"/>
            <a:chExt cx="5124640" cy="640575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124644" cy="640580"/>
            </a:xfrm>
            <a:custGeom>
              <a:avLst/>
              <a:gdLst/>
              <a:ahLst/>
              <a:cxnLst/>
              <a:rect r="r" b="b" t="t" l="l"/>
              <a:pathLst>
                <a:path h="640580" w="5124644">
                  <a:moveTo>
                    <a:pt x="0" y="0"/>
                  </a:moveTo>
                  <a:lnTo>
                    <a:pt x="5124644" y="0"/>
                  </a:lnTo>
                  <a:lnTo>
                    <a:pt x="5124644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79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19050"/>
              <a:ext cx="5124640" cy="659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91"/>
                </a:lnSpc>
              </a:pPr>
              <a:r>
                <a:rPr lang="en-US" sz="1576">
                  <a:solidFill>
                    <a:srgbClr val="5B6E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Full anatomical reconstruction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745436" y="6647926"/>
            <a:ext cx="16810968" cy="2352608"/>
            <a:chOff x="0" y="0"/>
            <a:chExt cx="22414624" cy="313681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2414610" cy="3136900"/>
            </a:xfrm>
            <a:custGeom>
              <a:avLst/>
              <a:gdLst/>
              <a:ahLst/>
              <a:cxnLst/>
              <a:rect r="r" b="b" t="t" l="l"/>
              <a:pathLst>
                <a:path h="3136900" w="22414610">
                  <a:moveTo>
                    <a:pt x="0" y="166116"/>
                  </a:moveTo>
                  <a:cubicBezTo>
                    <a:pt x="0" y="74295"/>
                    <a:pt x="74295" y="0"/>
                    <a:pt x="166116" y="0"/>
                  </a:cubicBezTo>
                  <a:lnTo>
                    <a:pt x="22248495" y="0"/>
                  </a:lnTo>
                  <a:cubicBezTo>
                    <a:pt x="22340188" y="0"/>
                    <a:pt x="22414610" y="74295"/>
                    <a:pt x="22414610" y="166116"/>
                  </a:cubicBezTo>
                  <a:lnTo>
                    <a:pt x="22414610" y="2970784"/>
                  </a:lnTo>
                  <a:cubicBezTo>
                    <a:pt x="22414610" y="3062478"/>
                    <a:pt x="22340315" y="3136900"/>
                    <a:pt x="22248495" y="3136900"/>
                  </a:cubicBezTo>
                  <a:lnTo>
                    <a:pt x="166116" y="3136900"/>
                  </a:lnTo>
                  <a:cubicBezTo>
                    <a:pt x="74295" y="3136773"/>
                    <a:pt x="0" y="3062478"/>
                    <a:pt x="0" y="2970784"/>
                  </a:cubicBezTo>
                  <a:close/>
                </a:path>
              </a:pathLst>
            </a:custGeom>
            <a:solidFill>
              <a:srgbClr val="F7FAFB"/>
            </a:solidFill>
            <a:ln w="19065" cap="sq">
              <a:solidFill>
                <a:srgbClr val="DCE6E9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1166774" y="7000627"/>
            <a:ext cx="686333" cy="686333"/>
            <a:chOff x="0" y="0"/>
            <a:chExt cx="915111" cy="915111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15162" cy="915162"/>
            </a:xfrm>
            <a:custGeom>
              <a:avLst/>
              <a:gdLst/>
              <a:ahLst/>
              <a:cxnLst/>
              <a:rect r="r" b="b" t="t" l="l"/>
              <a:pathLst>
                <a:path h="915162" w="915162">
                  <a:moveTo>
                    <a:pt x="0" y="457581"/>
                  </a:moveTo>
                  <a:cubicBezTo>
                    <a:pt x="0" y="204851"/>
                    <a:pt x="204851" y="0"/>
                    <a:pt x="457581" y="0"/>
                  </a:cubicBezTo>
                  <a:cubicBezTo>
                    <a:pt x="710311" y="0"/>
                    <a:pt x="915162" y="204851"/>
                    <a:pt x="915162" y="457581"/>
                  </a:cubicBezTo>
                  <a:cubicBezTo>
                    <a:pt x="915162" y="710311"/>
                    <a:pt x="710311" y="915162"/>
                    <a:pt x="457581" y="915162"/>
                  </a:cubicBezTo>
                  <a:cubicBezTo>
                    <a:pt x="204851" y="915162"/>
                    <a:pt x="0" y="710311"/>
                    <a:pt x="0" y="457581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255995" y="7089858"/>
            <a:ext cx="507892" cy="507892"/>
            <a:chOff x="0" y="0"/>
            <a:chExt cx="677189" cy="677189"/>
          </a:xfrm>
        </p:grpSpPr>
        <p:sp>
          <p:nvSpPr>
            <p:cNvPr name="Freeform 73" id="73" descr="/home/claude/proj/icons/check_white.png"/>
            <p:cNvSpPr/>
            <p:nvPr/>
          </p:nvSpPr>
          <p:spPr>
            <a:xfrm flipH="false" flipV="false" rot="0">
              <a:off x="0" y="0"/>
              <a:ext cx="677164" cy="677164"/>
            </a:xfrm>
            <a:custGeom>
              <a:avLst/>
              <a:gdLst/>
              <a:ahLst/>
              <a:cxnLst/>
              <a:rect r="r" b="b" t="t" l="l"/>
              <a:pathLst>
                <a:path h="677164" w="677164">
                  <a:moveTo>
                    <a:pt x="0" y="0"/>
                  </a:moveTo>
                  <a:lnTo>
                    <a:pt x="677164" y="0"/>
                  </a:lnTo>
                  <a:lnTo>
                    <a:pt x="677164" y="677164"/>
                  </a:lnTo>
                  <a:lnTo>
                    <a:pt x="0" y="6771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3" b="-3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2127647" y="7000627"/>
            <a:ext cx="15007428" cy="686336"/>
            <a:chOff x="0" y="0"/>
            <a:chExt cx="20009904" cy="915115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0009903" cy="915119"/>
            </a:xfrm>
            <a:custGeom>
              <a:avLst/>
              <a:gdLst/>
              <a:ahLst/>
              <a:cxnLst/>
              <a:rect r="r" b="b" t="t" l="l"/>
              <a:pathLst>
                <a:path h="915119" w="20009903">
                  <a:moveTo>
                    <a:pt x="0" y="0"/>
                  </a:moveTo>
                  <a:lnTo>
                    <a:pt x="20009903" y="0"/>
                  </a:lnTo>
                  <a:lnTo>
                    <a:pt x="20009903" y="915119"/>
                  </a:lnTo>
                  <a:lnTo>
                    <a:pt x="0" y="9151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058" r="0" b="-376057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20009904" cy="962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1"/>
                </a:lnSpc>
              </a:pPr>
              <a:r>
                <a:rPr lang="en-US" sz="1976">
                  <a:solidFill>
                    <a:srgbClr val="1B2A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Improved reconstruction quality across PSNR / SSIM / MAE / MSE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166774" y="7934049"/>
            <a:ext cx="686333" cy="686333"/>
            <a:chOff x="0" y="0"/>
            <a:chExt cx="915111" cy="915111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915162" cy="915162"/>
            </a:xfrm>
            <a:custGeom>
              <a:avLst/>
              <a:gdLst/>
              <a:ahLst/>
              <a:cxnLst/>
              <a:rect r="r" b="b" t="t" l="l"/>
              <a:pathLst>
                <a:path h="915162" w="915162">
                  <a:moveTo>
                    <a:pt x="0" y="457581"/>
                  </a:moveTo>
                  <a:cubicBezTo>
                    <a:pt x="0" y="204851"/>
                    <a:pt x="204851" y="0"/>
                    <a:pt x="457581" y="0"/>
                  </a:cubicBezTo>
                  <a:cubicBezTo>
                    <a:pt x="710311" y="0"/>
                    <a:pt x="915162" y="204851"/>
                    <a:pt x="915162" y="457581"/>
                  </a:cubicBezTo>
                  <a:cubicBezTo>
                    <a:pt x="915162" y="710311"/>
                    <a:pt x="710311" y="915162"/>
                    <a:pt x="457581" y="915162"/>
                  </a:cubicBezTo>
                  <a:cubicBezTo>
                    <a:pt x="204851" y="915162"/>
                    <a:pt x="0" y="710311"/>
                    <a:pt x="0" y="457581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255995" y="8023269"/>
            <a:ext cx="507892" cy="507892"/>
            <a:chOff x="0" y="0"/>
            <a:chExt cx="677189" cy="677189"/>
          </a:xfrm>
        </p:grpSpPr>
        <p:sp>
          <p:nvSpPr>
            <p:cNvPr name="Freeform 80" id="80" descr="/home/claude/proj/icons/shield_white.png"/>
            <p:cNvSpPr/>
            <p:nvPr/>
          </p:nvSpPr>
          <p:spPr>
            <a:xfrm flipH="false" flipV="false" rot="0">
              <a:off x="0" y="0"/>
              <a:ext cx="677164" cy="677164"/>
            </a:xfrm>
            <a:custGeom>
              <a:avLst/>
              <a:gdLst/>
              <a:ahLst/>
              <a:cxnLst/>
              <a:rect r="r" b="b" t="t" l="l"/>
              <a:pathLst>
                <a:path h="677164" w="677164">
                  <a:moveTo>
                    <a:pt x="0" y="0"/>
                  </a:moveTo>
                  <a:lnTo>
                    <a:pt x="677164" y="0"/>
                  </a:lnTo>
                  <a:lnTo>
                    <a:pt x="677164" y="677164"/>
                  </a:lnTo>
                  <a:lnTo>
                    <a:pt x="0" y="6771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3" b="-3"/>
              </a:stretch>
            </a:blip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2127647" y="7934049"/>
            <a:ext cx="15007428" cy="686336"/>
            <a:chOff x="0" y="0"/>
            <a:chExt cx="20009904" cy="915115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0009903" cy="915119"/>
            </a:xfrm>
            <a:custGeom>
              <a:avLst/>
              <a:gdLst/>
              <a:ahLst/>
              <a:cxnLst/>
              <a:rect r="r" b="b" t="t" l="l"/>
              <a:pathLst>
                <a:path h="915119" w="20009903">
                  <a:moveTo>
                    <a:pt x="0" y="0"/>
                  </a:moveTo>
                  <a:lnTo>
                    <a:pt x="20009903" y="0"/>
                  </a:lnTo>
                  <a:lnTo>
                    <a:pt x="20009903" y="915119"/>
                  </a:lnTo>
                  <a:lnTo>
                    <a:pt x="0" y="9151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058" r="0" b="-376057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47625"/>
              <a:ext cx="20009904" cy="962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1"/>
                </a:lnSpc>
              </a:pPr>
              <a:r>
                <a:rPr lang="en-US" sz="1976">
                  <a:solidFill>
                    <a:srgbClr val="1B2A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Anatomically consistent tissue boundaries preserved across the volume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971" y="576520"/>
            <a:ext cx="12354049" cy="439255"/>
            <a:chOff x="0" y="0"/>
            <a:chExt cx="16472065" cy="5856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72069" cy="585674"/>
            </a:xfrm>
            <a:custGeom>
              <a:avLst/>
              <a:gdLst/>
              <a:ahLst/>
              <a:cxnLst/>
              <a:rect r="r" b="b" t="t" l="l"/>
              <a:pathLst>
                <a:path h="585674" w="16472069">
                  <a:moveTo>
                    <a:pt x="0" y="0"/>
                  </a:moveTo>
                  <a:lnTo>
                    <a:pt x="16472069" y="0"/>
                  </a:lnTo>
                  <a:lnTo>
                    <a:pt x="16472069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8016" r="0" b="-49801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472065" cy="6237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b="true" sz="1801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IMPACT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971" y="988324"/>
            <a:ext cx="16791899" cy="988324"/>
            <a:chOff x="0" y="0"/>
            <a:chExt cx="22389198" cy="13177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389201" cy="1317765"/>
            </a:xfrm>
            <a:custGeom>
              <a:avLst/>
              <a:gdLst/>
              <a:ahLst/>
              <a:cxnLst/>
              <a:rect r="r" b="b" t="t" l="l"/>
              <a:pathLst>
                <a:path h="1317765" w="22389201">
                  <a:moveTo>
                    <a:pt x="0" y="0"/>
                  </a:moveTo>
                  <a:lnTo>
                    <a:pt x="22389201" y="0"/>
                  </a:lnTo>
                  <a:lnTo>
                    <a:pt x="22389201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1056" r="0" b="-28105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389198" cy="1327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4"/>
                </a:lnSpc>
              </a:pPr>
              <a:r>
                <a:rPr lang="en-US" sz="4503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Applications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4971" y="9718519"/>
            <a:ext cx="10981382" cy="411804"/>
            <a:chOff x="0" y="0"/>
            <a:chExt cx="14641843" cy="5490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41840" cy="549069"/>
            </a:xfrm>
            <a:custGeom>
              <a:avLst/>
              <a:gdLst/>
              <a:ahLst/>
              <a:cxnLst/>
              <a:rect r="r" b="b" t="t" l="l"/>
              <a:pathLst>
                <a:path h="549069" w="14641840">
                  <a:moveTo>
                    <a:pt x="0" y="0"/>
                  </a:moveTo>
                  <a:lnTo>
                    <a:pt x="14641840" y="0"/>
                  </a:lnTo>
                  <a:lnTo>
                    <a:pt x="1464184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0" r="0" b="-46960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4641843" cy="5776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>
                  <a:solidFill>
                    <a:srgbClr val="5B6E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3D Reconstruction of Biomedical Tissues — B.Tech Project Proposal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899663" y="9718519"/>
            <a:ext cx="1647206" cy="411804"/>
            <a:chOff x="0" y="0"/>
            <a:chExt cx="2196274" cy="5490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6276" cy="549069"/>
            </a:xfrm>
            <a:custGeom>
              <a:avLst/>
              <a:gdLst/>
              <a:ahLst/>
              <a:cxnLst/>
              <a:rect r="r" b="b" t="t" l="l"/>
              <a:pathLst>
                <a:path h="549069" w="2196276">
                  <a:moveTo>
                    <a:pt x="0" y="0"/>
                  </a:moveTo>
                  <a:lnTo>
                    <a:pt x="2196276" y="0"/>
                  </a:lnTo>
                  <a:lnTo>
                    <a:pt x="219627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39" r="0" b="-2794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2196274" cy="5776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1"/>
                </a:lnSpc>
              </a:pPr>
              <a:r>
                <a:rPr lang="en-US" sz="1351">
                  <a:solidFill>
                    <a:srgbClr val="5B6E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 / 12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45436" y="2735809"/>
            <a:ext cx="5341830" cy="2558510"/>
            <a:chOff x="0" y="0"/>
            <a:chExt cx="7122439" cy="341134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122414" cy="3411347"/>
            </a:xfrm>
            <a:custGeom>
              <a:avLst/>
              <a:gdLst/>
              <a:ahLst/>
              <a:cxnLst/>
              <a:rect r="r" b="b" t="t" l="l"/>
              <a:pathLst>
                <a:path h="3411347" w="7122414">
                  <a:moveTo>
                    <a:pt x="0" y="165989"/>
                  </a:moveTo>
                  <a:cubicBezTo>
                    <a:pt x="0" y="74295"/>
                    <a:pt x="74295" y="0"/>
                    <a:pt x="165989" y="0"/>
                  </a:cubicBezTo>
                  <a:lnTo>
                    <a:pt x="6956425" y="0"/>
                  </a:lnTo>
                  <a:cubicBezTo>
                    <a:pt x="7048119" y="0"/>
                    <a:pt x="7122414" y="74295"/>
                    <a:pt x="7122414" y="165989"/>
                  </a:cubicBezTo>
                  <a:lnTo>
                    <a:pt x="7122414" y="3245358"/>
                  </a:lnTo>
                  <a:cubicBezTo>
                    <a:pt x="7122414" y="3337052"/>
                    <a:pt x="7048119" y="3411347"/>
                    <a:pt x="6956425" y="3411347"/>
                  </a:cubicBezTo>
                  <a:lnTo>
                    <a:pt x="165989" y="3411347"/>
                  </a:lnTo>
                  <a:cubicBezTo>
                    <a:pt x="74295" y="3411347"/>
                    <a:pt x="0" y="3337052"/>
                    <a:pt x="0" y="3245358"/>
                  </a:cubicBezTo>
                  <a:close/>
                </a:path>
              </a:pathLst>
            </a:custGeom>
            <a:solidFill>
              <a:srgbClr val="F7FAFB"/>
            </a:solidFill>
            <a:ln w="19065" cap="sq">
              <a:solidFill>
                <a:srgbClr val="DCE6E9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2839831" y="3184598"/>
            <a:ext cx="1153049" cy="1153049"/>
            <a:chOff x="0" y="0"/>
            <a:chExt cx="1537398" cy="153739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37462" cy="1537462"/>
            </a:xfrm>
            <a:custGeom>
              <a:avLst/>
              <a:gdLst/>
              <a:ahLst/>
              <a:cxnLst/>
              <a:rect r="r" b="b" t="t" l="l"/>
              <a:pathLst>
                <a:path h="1537462" w="1537462">
                  <a:moveTo>
                    <a:pt x="0" y="768731"/>
                  </a:moveTo>
                  <a:cubicBezTo>
                    <a:pt x="0" y="344170"/>
                    <a:pt x="344170" y="0"/>
                    <a:pt x="768731" y="0"/>
                  </a:cubicBezTo>
                  <a:cubicBezTo>
                    <a:pt x="1193292" y="0"/>
                    <a:pt x="1537462" y="344170"/>
                    <a:pt x="1537462" y="768731"/>
                  </a:cubicBezTo>
                  <a:cubicBezTo>
                    <a:pt x="1537462" y="1193292"/>
                    <a:pt x="1193292" y="1537462"/>
                    <a:pt x="768731" y="1537462"/>
                  </a:cubicBezTo>
                  <a:cubicBezTo>
                    <a:pt x="344170" y="1537462"/>
                    <a:pt x="0" y="1193292"/>
                    <a:pt x="0" y="768731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2989726" y="3334493"/>
            <a:ext cx="853250" cy="853250"/>
            <a:chOff x="0" y="0"/>
            <a:chExt cx="1137666" cy="1137666"/>
          </a:xfrm>
        </p:grpSpPr>
        <p:sp>
          <p:nvSpPr>
            <p:cNvPr name="Freeform 19" id="19" descr="/home/claude/proj/icons/stethoscope_white.png"/>
            <p:cNvSpPr/>
            <p:nvPr/>
          </p:nvSpPr>
          <p:spPr>
            <a:xfrm flipH="false" flipV="false" rot="0">
              <a:off x="0" y="0"/>
              <a:ext cx="1137666" cy="1137666"/>
            </a:xfrm>
            <a:custGeom>
              <a:avLst/>
              <a:gdLst/>
              <a:ahLst/>
              <a:cxnLst/>
              <a:rect r="r" b="b" t="t" l="l"/>
              <a:pathLst>
                <a:path h="1137666" w="1137666">
                  <a:moveTo>
                    <a:pt x="0" y="0"/>
                  </a:moveTo>
                  <a:lnTo>
                    <a:pt x="1137666" y="0"/>
                  </a:lnTo>
                  <a:lnTo>
                    <a:pt x="1137666" y="1137666"/>
                  </a:lnTo>
                  <a:lnTo>
                    <a:pt x="0" y="1137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60872" y="4502363"/>
            <a:ext cx="4910966" cy="617706"/>
            <a:chOff x="0" y="0"/>
            <a:chExt cx="6547955" cy="82360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547951" cy="823603"/>
            </a:xfrm>
            <a:custGeom>
              <a:avLst/>
              <a:gdLst/>
              <a:ahLst/>
              <a:cxnLst/>
              <a:rect r="r" b="b" t="t" l="l"/>
              <a:pathLst>
                <a:path h="823603" w="6547951">
                  <a:moveTo>
                    <a:pt x="0" y="0"/>
                  </a:moveTo>
                  <a:lnTo>
                    <a:pt x="6547951" y="0"/>
                  </a:lnTo>
                  <a:lnTo>
                    <a:pt x="6547951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913" r="0" b="-10491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6547955" cy="833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1"/>
                </a:lnSpc>
              </a:pPr>
              <a:r>
                <a:rPr lang="en-US" sz="2026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Medical Diagnosis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480000" y="2735809"/>
            <a:ext cx="5341830" cy="2558510"/>
            <a:chOff x="0" y="0"/>
            <a:chExt cx="7122439" cy="341134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122414" cy="3411347"/>
            </a:xfrm>
            <a:custGeom>
              <a:avLst/>
              <a:gdLst/>
              <a:ahLst/>
              <a:cxnLst/>
              <a:rect r="r" b="b" t="t" l="l"/>
              <a:pathLst>
                <a:path h="3411347" w="7122414">
                  <a:moveTo>
                    <a:pt x="0" y="165989"/>
                  </a:moveTo>
                  <a:cubicBezTo>
                    <a:pt x="0" y="74295"/>
                    <a:pt x="74295" y="0"/>
                    <a:pt x="165989" y="0"/>
                  </a:cubicBezTo>
                  <a:lnTo>
                    <a:pt x="6956425" y="0"/>
                  </a:lnTo>
                  <a:cubicBezTo>
                    <a:pt x="7048119" y="0"/>
                    <a:pt x="7122414" y="74295"/>
                    <a:pt x="7122414" y="165989"/>
                  </a:cubicBezTo>
                  <a:lnTo>
                    <a:pt x="7122414" y="3245358"/>
                  </a:lnTo>
                  <a:cubicBezTo>
                    <a:pt x="7122414" y="3337052"/>
                    <a:pt x="7048119" y="3411347"/>
                    <a:pt x="6956425" y="3411347"/>
                  </a:cubicBezTo>
                  <a:lnTo>
                    <a:pt x="165989" y="3411347"/>
                  </a:lnTo>
                  <a:cubicBezTo>
                    <a:pt x="74295" y="3411347"/>
                    <a:pt x="0" y="3337052"/>
                    <a:pt x="0" y="3245358"/>
                  </a:cubicBezTo>
                  <a:close/>
                </a:path>
              </a:pathLst>
            </a:custGeom>
            <a:solidFill>
              <a:srgbClr val="F7FAFB"/>
            </a:solidFill>
            <a:ln w="19065" cap="sq">
              <a:solidFill>
                <a:srgbClr val="DCE6E9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8574395" y="3184598"/>
            <a:ext cx="1153049" cy="1153049"/>
            <a:chOff x="0" y="0"/>
            <a:chExt cx="1537398" cy="153739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537462" cy="1537462"/>
            </a:xfrm>
            <a:custGeom>
              <a:avLst/>
              <a:gdLst/>
              <a:ahLst/>
              <a:cxnLst/>
              <a:rect r="r" b="b" t="t" l="l"/>
              <a:pathLst>
                <a:path h="1537462" w="1537462">
                  <a:moveTo>
                    <a:pt x="0" y="768731"/>
                  </a:moveTo>
                  <a:cubicBezTo>
                    <a:pt x="0" y="344170"/>
                    <a:pt x="344170" y="0"/>
                    <a:pt x="768731" y="0"/>
                  </a:cubicBezTo>
                  <a:cubicBezTo>
                    <a:pt x="1193292" y="0"/>
                    <a:pt x="1537462" y="344170"/>
                    <a:pt x="1537462" y="768731"/>
                  </a:cubicBezTo>
                  <a:cubicBezTo>
                    <a:pt x="1537462" y="1193292"/>
                    <a:pt x="1193292" y="1537462"/>
                    <a:pt x="768731" y="1537462"/>
                  </a:cubicBezTo>
                  <a:cubicBezTo>
                    <a:pt x="344170" y="1537462"/>
                    <a:pt x="0" y="1193292"/>
                    <a:pt x="0" y="768731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724290" y="3334493"/>
            <a:ext cx="853250" cy="853250"/>
            <a:chOff x="0" y="0"/>
            <a:chExt cx="1137666" cy="1137666"/>
          </a:xfrm>
        </p:grpSpPr>
        <p:sp>
          <p:nvSpPr>
            <p:cNvPr name="Freeform 28" id="28" descr="/home/claude/proj/icons/scalpel_white.png"/>
            <p:cNvSpPr/>
            <p:nvPr/>
          </p:nvSpPr>
          <p:spPr>
            <a:xfrm flipH="false" flipV="false" rot="0">
              <a:off x="0" y="0"/>
              <a:ext cx="1137666" cy="1137666"/>
            </a:xfrm>
            <a:custGeom>
              <a:avLst/>
              <a:gdLst/>
              <a:ahLst/>
              <a:cxnLst/>
              <a:rect r="r" b="b" t="t" l="l"/>
              <a:pathLst>
                <a:path h="1137666" w="1137666">
                  <a:moveTo>
                    <a:pt x="0" y="0"/>
                  </a:moveTo>
                  <a:lnTo>
                    <a:pt x="1137666" y="0"/>
                  </a:lnTo>
                  <a:lnTo>
                    <a:pt x="1137666" y="1137666"/>
                  </a:lnTo>
                  <a:lnTo>
                    <a:pt x="0" y="1137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695437" y="4502363"/>
            <a:ext cx="4910966" cy="617706"/>
            <a:chOff x="0" y="0"/>
            <a:chExt cx="6547955" cy="82360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547951" cy="823603"/>
            </a:xfrm>
            <a:custGeom>
              <a:avLst/>
              <a:gdLst/>
              <a:ahLst/>
              <a:cxnLst/>
              <a:rect r="r" b="b" t="t" l="l"/>
              <a:pathLst>
                <a:path h="823603" w="6547951">
                  <a:moveTo>
                    <a:pt x="0" y="0"/>
                  </a:moveTo>
                  <a:lnTo>
                    <a:pt x="6547951" y="0"/>
                  </a:lnTo>
                  <a:lnTo>
                    <a:pt x="6547951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913" r="0" b="-10491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6547955" cy="833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1"/>
                </a:lnSpc>
              </a:pPr>
              <a:r>
                <a:rPr lang="en-US" sz="2026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Surgical Planning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214574" y="2735809"/>
            <a:ext cx="5341830" cy="2558510"/>
            <a:chOff x="0" y="0"/>
            <a:chExt cx="7122439" cy="341134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122414" cy="3411347"/>
            </a:xfrm>
            <a:custGeom>
              <a:avLst/>
              <a:gdLst/>
              <a:ahLst/>
              <a:cxnLst/>
              <a:rect r="r" b="b" t="t" l="l"/>
              <a:pathLst>
                <a:path h="3411347" w="7122414">
                  <a:moveTo>
                    <a:pt x="0" y="165989"/>
                  </a:moveTo>
                  <a:cubicBezTo>
                    <a:pt x="0" y="74295"/>
                    <a:pt x="74295" y="0"/>
                    <a:pt x="165989" y="0"/>
                  </a:cubicBezTo>
                  <a:lnTo>
                    <a:pt x="6956425" y="0"/>
                  </a:lnTo>
                  <a:cubicBezTo>
                    <a:pt x="7048119" y="0"/>
                    <a:pt x="7122414" y="74295"/>
                    <a:pt x="7122414" y="165989"/>
                  </a:cubicBezTo>
                  <a:lnTo>
                    <a:pt x="7122414" y="3245358"/>
                  </a:lnTo>
                  <a:cubicBezTo>
                    <a:pt x="7122414" y="3337052"/>
                    <a:pt x="7048119" y="3411347"/>
                    <a:pt x="6956425" y="3411347"/>
                  </a:cubicBezTo>
                  <a:lnTo>
                    <a:pt x="165989" y="3411347"/>
                  </a:lnTo>
                  <a:cubicBezTo>
                    <a:pt x="74295" y="3411347"/>
                    <a:pt x="0" y="3337052"/>
                    <a:pt x="0" y="3245358"/>
                  </a:cubicBezTo>
                  <a:close/>
                </a:path>
              </a:pathLst>
            </a:custGeom>
            <a:solidFill>
              <a:srgbClr val="F7FAFB"/>
            </a:solidFill>
            <a:ln w="19065" cap="sq">
              <a:solidFill>
                <a:srgbClr val="DCE6E9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4308969" y="3184598"/>
            <a:ext cx="1153049" cy="1153049"/>
            <a:chOff x="0" y="0"/>
            <a:chExt cx="1537398" cy="153739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537462" cy="1537462"/>
            </a:xfrm>
            <a:custGeom>
              <a:avLst/>
              <a:gdLst/>
              <a:ahLst/>
              <a:cxnLst/>
              <a:rect r="r" b="b" t="t" l="l"/>
              <a:pathLst>
                <a:path h="1537462" w="1537462">
                  <a:moveTo>
                    <a:pt x="0" y="768731"/>
                  </a:moveTo>
                  <a:cubicBezTo>
                    <a:pt x="0" y="344170"/>
                    <a:pt x="344170" y="0"/>
                    <a:pt x="768731" y="0"/>
                  </a:cubicBezTo>
                  <a:cubicBezTo>
                    <a:pt x="1193292" y="0"/>
                    <a:pt x="1537462" y="344170"/>
                    <a:pt x="1537462" y="768731"/>
                  </a:cubicBezTo>
                  <a:cubicBezTo>
                    <a:pt x="1537462" y="1193292"/>
                    <a:pt x="1193292" y="1537462"/>
                    <a:pt x="768731" y="1537462"/>
                  </a:cubicBezTo>
                  <a:cubicBezTo>
                    <a:pt x="344170" y="1537462"/>
                    <a:pt x="0" y="1193292"/>
                    <a:pt x="0" y="768731"/>
                  </a:cubicBezTo>
                  <a:close/>
                </a:path>
              </a:pathLst>
            </a:custGeom>
            <a:solidFill>
              <a:srgbClr val="21295C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4458864" y="3334493"/>
            <a:ext cx="853250" cy="853250"/>
            <a:chOff x="0" y="0"/>
            <a:chExt cx="1137666" cy="1137666"/>
          </a:xfrm>
        </p:grpSpPr>
        <p:sp>
          <p:nvSpPr>
            <p:cNvPr name="Freeform 37" id="37" descr="/home/claude/proj/icons/tumor_white.png"/>
            <p:cNvSpPr/>
            <p:nvPr/>
          </p:nvSpPr>
          <p:spPr>
            <a:xfrm flipH="false" flipV="false" rot="0">
              <a:off x="0" y="0"/>
              <a:ext cx="1137666" cy="1137666"/>
            </a:xfrm>
            <a:custGeom>
              <a:avLst/>
              <a:gdLst/>
              <a:ahLst/>
              <a:cxnLst/>
              <a:rect r="r" b="b" t="t" l="l"/>
              <a:pathLst>
                <a:path h="1137666" w="1137666">
                  <a:moveTo>
                    <a:pt x="0" y="0"/>
                  </a:moveTo>
                  <a:lnTo>
                    <a:pt x="1137666" y="0"/>
                  </a:lnTo>
                  <a:lnTo>
                    <a:pt x="1137666" y="1137666"/>
                  </a:lnTo>
                  <a:lnTo>
                    <a:pt x="0" y="1137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2430011" y="4502363"/>
            <a:ext cx="4910966" cy="617706"/>
            <a:chOff x="0" y="0"/>
            <a:chExt cx="6547955" cy="82360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547951" cy="823603"/>
            </a:xfrm>
            <a:custGeom>
              <a:avLst/>
              <a:gdLst/>
              <a:ahLst/>
              <a:cxnLst/>
              <a:rect r="r" b="b" t="t" l="l"/>
              <a:pathLst>
                <a:path h="823603" w="6547951">
                  <a:moveTo>
                    <a:pt x="0" y="0"/>
                  </a:moveTo>
                  <a:lnTo>
                    <a:pt x="6547951" y="0"/>
                  </a:lnTo>
                  <a:lnTo>
                    <a:pt x="6547951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913" r="0" b="-104913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6547955" cy="833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1"/>
                </a:lnSpc>
              </a:pPr>
              <a:r>
                <a:rPr lang="en-US" sz="2026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Tumor Visualization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45436" y="5687054"/>
            <a:ext cx="5341830" cy="2558510"/>
            <a:chOff x="0" y="0"/>
            <a:chExt cx="7122439" cy="341134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122414" cy="3411347"/>
            </a:xfrm>
            <a:custGeom>
              <a:avLst/>
              <a:gdLst/>
              <a:ahLst/>
              <a:cxnLst/>
              <a:rect r="r" b="b" t="t" l="l"/>
              <a:pathLst>
                <a:path h="3411347" w="7122414">
                  <a:moveTo>
                    <a:pt x="0" y="165989"/>
                  </a:moveTo>
                  <a:cubicBezTo>
                    <a:pt x="0" y="74295"/>
                    <a:pt x="74295" y="0"/>
                    <a:pt x="165989" y="0"/>
                  </a:cubicBezTo>
                  <a:lnTo>
                    <a:pt x="6956425" y="0"/>
                  </a:lnTo>
                  <a:cubicBezTo>
                    <a:pt x="7048119" y="0"/>
                    <a:pt x="7122414" y="74295"/>
                    <a:pt x="7122414" y="165989"/>
                  </a:cubicBezTo>
                  <a:lnTo>
                    <a:pt x="7122414" y="3245358"/>
                  </a:lnTo>
                  <a:cubicBezTo>
                    <a:pt x="7122414" y="3337052"/>
                    <a:pt x="7048119" y="3411347"/>
                    <a:pt x="6956425" y="3411347"/>
                  </a:cubicBezTo>
                  <a:lnTo>
                    <a:pt x="165989" y="3411347"/>
                  </a:lnTo>
                  <a:cubicBezTo>
                    <a:pt x="74295" y="3411347"/>
                    <a:pt x="0" y="3337052"/>
                    <a:pt x="0" y="3245358"/>
                  </a:cubicBezTo>
                  <a:close/>
                </a:path>
              </a:pathLst>
            </a:custGeom>
            <a:solidFill>
              <a:srgbClr val="F7FAFB"/>
            </a:solidFill>
            <a:ln w="19065" cap="sq">
              <a:solidFill>
                <a:srgbClr val="DCE6E9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2839831" y="6135843"/>
            <a:ext cx="1153049" cy="1153049"/>
            <a:chOff x="0" y="0"/>
            <a:chExt cx="1537398" cy="153739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537462" cy="1537462"/>
            </a:xfrm>
            <a:custGeom>
              <a:avLst/>
              <a:gdLst/>
              <a:ahLst/>
              <a:cxnLst/>
              <a:rect r="r" b="b" t="t" l="l"/>
              <a:pathLst>
                <a:path h="1537462" w="1537462">
                  <a:moveTo>
                    <a:pt x="0" y="768731"/>
                  </a:moveTo>
                  <a:cubicBezTo>
                    <a:pt x="0" y="344170"/>
                    <a:pt x="344170" y="0"/>
                    <a:pt x="768731" y="0"/>
                  </a:cubicBezTo>
                  <a:cubicBezTo>
                    <a:pt x="1193292" y="0"/>
                    <a:pt x="1537462" y="344170"/>
                    <a:pt x="1537462" y="768731"/>
                  </a:cubicBezTo>
                  <a:cubicBezTo>
                    <a:pt x="1537462" y="1193292"/>
                    <a:pt x="1193292" y="1537462"/>
                    <a:pt x="768731" y="1537462"/>
                  </a:cubicBezTo>
                  <a:cubicBezTo>
                    <a:pt x="344170" y="1537462"/>
                    <a:pt x="0" y="1193292"/>
                    <a:pt x="0" y="768731"/>
                  </a:cubicBezTo>
                  <a:close/>
                </a:path>
              </a:pathLst>
            </a:custGeom>
            <a:solidFill>
              <a:srgbClr val="50808E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2989726" y="6285738"/>
            <a:ext cx="853250" cy="853250"/>
            <a:chOff x="0" y="0"/>
            <a:chExt cx="1137666" cy="1137666"/>
          </a:xfrm>
        </p:grpSpPr>
        <p:sp>
          <p:nvSpPr>
            <p:cNvPr name="Freeform 46" id="46" descr="/home/claude/proj/icons/education_white.png"/>
            <p:cNvSpPr/>
            <p:nvPr/>
          </p:nvSpPr>
          <p:spPr>
            <a:xfrm flipH="false" flipV="false" rot="0">
              <a:off x="0" y="0"/>
              <a:ext cx="1137666" cy="1137666"/>
            </a:xfrm>
            <a:custGeom>
              <a:avLst/>
              <a:gdLst/>
              <a:ahLst/>
              <a:cxnLst/>
              <a:rect r="r" b="b" t="t" l="l"/>
              <a:pathLst>
                <a:path h="1137666" w="1137666">
                  <a:moveTo>
                    <a:pt x="0" y="0"/>
                  </a:moveTo>
                  <a:lnTo>
                    <a:pt x="1137666" y="0"/>
                  </a:lnTo>
                  <a:lnTo>
                    <a:pt x="1137666" y="1137666"/>
                  </a:lnTo>
                  <a:lnTo>
                    <a:pt x="0" y="1137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60872" y="7453608"/>
            <a:ext cx="4910966" cy="617706"/>
            <a:chOff x="0" y="0"/>
            <a:chExt cx="6547955" cy="82360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547951" cy="823603"/>
            </a:xfrm>
            <a:custGeom>
              <a:avLst/>
              <a:gdLst/>
              <a:ahLst/>
              <a:cxnLst/>
              <a:rect r="r" b="b" t="t" l="l"/>
              <a:pathLst>
                <a:path h="823603" w="6547951">
                  <a:moveTo>
                    <a:pt x="0" y="0"/>
                  </a:moveTo>
                  <a:lnTo>
                    <a:pt x="6547951" y="0"/>
                  </a:lnTo>
                  <a:lnTo>
                    <a:pt x="6547951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913" r="0" b="-10491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6547955" cy="833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1"/>
                </a:lnSpc>
              </a:pPr>
              <a:r>
                <a:rPr lang="en-US" sz="2026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Medical Education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480000" y="5687054"/>
            <a:ext cx="5341830" cy="2558510"/>
            <a:chOff x="0" y="0"/>
            <a:chExt cx="7122439" cy="3411347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122414" cy="3411347"/>
            </a:xfrm>
            <a:custGeom>
              <a:avLst/>
              <a:gdLst/>
              <a:ahLst/>
              <a:cxnLst/>
              <a:rect r="r" b="b" t="t" l="l"/>
              <a:pathLst>
                <a:path h="3411347" w="7122414">
                  <a:moveTo>
                    <a:pt x="0" y="165989"/>
                  </a:moveTo>
                  <a:cubicBezTo>
                    <a:pt x="0" y="74295"/>
                    <a:pt x="74295" y="0"/>
                    <a:pt x="165989" y="0"/>
                  </a:cubicBezTo>
                  <a:lnTo>
                    <a:pt x="6956425" y="0"/>
                  </a:lnTo>
                  <a:cubicBezTo>
                    <a:pt x="7048119" y="0"/>
                    <a:pt x="7122414" y="74295"/>
                    <a:pt x="7122414" y="165989"/>
                  </a:cubicBezTo>
                  <a:lnTo>
                    <a:pt x="7122414" y="3245358"/>
                  </a:lnTo>
                  <a:cubicBezTo>
                    <a:pt x="7122414" y="3337052"/>
                    <a:pt x="7048119" y="3411347"/>
                    <a:pt x="6956425" y="3411347"/>
                  </a:cubicBezTo>
                  <a:lnTo>
                    <a:pt x="165989" y="3411347"/>
                  </a:lnTo>
                  <a:cubicBezTo>
                    <a:pt x="74295" y="3411347"/>
                    <a:pt x="0" y="3337052"/>
                    <a:pt x="0" y="3245358"/>
                  </a:cubicBezTo>
                  <a:close/>
                </a:path>
              </a:pathLst>
            </a:custGeom>
            <a:solidFill>
              <a:srgbClr val="F7FAFB"/>
            </a:solidFill>
            <a:ln w="19065" cap="sq">
              <a:solidFill>
                <a:srgbClr val="DCE6E9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8574395" y="6135843"/>
            <a:ext cx="1153049" cy="1153049"/>
            <a:chOff x="0" y="0"/>
            <a:chExt cx="1537398" cy="153739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537462" cy="1537462"/>
            </a:xfrm>
            <a:custGeom>
              <a:avLst/>
              <a:gdLst/>
              <a:ahLst/>
              <a:cxnLst/>
              <a:rect r="r" b="b" t="t" l="l"/>
              <a:pathLst>
                <a:path h="1537462" w="1537462">
                  <a:moveTo>
                    <a:pt x="0" y="768731"/>
                  </a:moveTo>
                  <a:cubicBezTo>
                    <a:pt x="0" y="344170"/>
                    <a:pt x="344170" y="0"/>
                    <a:pt x="768731" y="0"/>
                  </a:cubicBezTo>
                  <a:cubicBezTo>
                    <a:pt x="1193292" y="0"/>
                    <a:pt x="1537462" y="344170"/>
                    <a:pt x="1537462" y="768731"/>
                  </a:cubicBezTo>
                  <a:cubicBezTo>
                    <a:pt x="1537462" y="1193292"/>
                    <a:pt x="1193292" y="1537462"/>
                    <a:pt x="768731" y="1537462"/>
                  </a:cubicBezTo>
                  <a:cubicBezTo>
                    <a:pt x="344170" y="1537462"/>
                    <a:pt x="0" y="1193292"/>
                    <a:pt x="0" y="768731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8724290" y="6285738"/>
            <a:ext cx="853250" cy="853250"/>
            <a:chOff x="0" y="0"/>
            <a:chExt cx="1137666" cy="1137666"/>
          </a:xfrm>
        </p:grpSpPr>
        <p:sp>
          <p:nvSpPr>
            <p:cNvPr name="Freeform 55" id="55" descr="/home/claude/proj/icons/radiation_white.png"/>
            <p:cNvSpPr/>
            <p:nvPr/>
          </p:nvSpPr>
          <p:spPr>
            <a:xfrm flipH="false" flipV="false" rot="0">
              <a:off x="0" y="0"/>
              <a:ext cx="1137666" cy="1137666"/>
            </a:xfrm>
            <a:custGeom>
              <a:avLst/>
              <a:gdLst/>
              <a:ahLst/>
              <a:cxnLst/>
              <a:rect r="r" b="b" t="t" l="l"/>
              <a:pathLst>
                <a:path h="1137666" w="1137666">
                  <a:moveTo>
                    <a:pt x="0" y="0"/>
                  </a:moveTo>
                  <a:lnTo>
                    <a:pt x="1137666" y="0"/>
                  </a:lnTo>
                  <a:lnTo>
                    <a:pt x="1137666" y="1137666"/>
                  </a:lnTo>
                  <a:lnTo>
                    <a:pt x="0" y="1137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6695437" y="7453608"/>
            <a:ext cx="4910966" cy="617706"/>
            <a:chOff x="0" y="0"/>
            <a:chExt cx="6547955" cy="82360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547951" cy="823603"/>
            </a:xfrm>
            <a:custGeom>
              <a:avLst/>
              <a:gdLst/>
              <a:ahLst/>
              <a:cxnLst/>
              <a:rect r="r" b="b" t="t" l="l"/>
              <a:pathLst>
                <a:path h="823603" w="6547951">
                  <a:moveTo>
                    <a:pt x="0" y="0"/>
                  </a:moveTo>
                  <a:lnTo>
                    <a:pt x="6547951" y="0"/>
                  </a:lnTo>
                  <a:lnTo>
                    <a:pt x="6547951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913" r="0" b="-104913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"/>
              <a:ext cx="6547955" cy="833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1"/>
                </a:lnSpc>
              </a:pPr>
              <a:r>
                <a:rPr lang="en-US" sz="2026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Low-Dose CT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2214574" y="5687054"/>
            <a:ext cx="5341830" cy="2558510"/>
            <a:chOff x="0" y="0"/>
            <a:chExt cx="7122439" cy="3411347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122414" cy="3411347"/>
            </a:xfrm>
            <a:custGeom>
              <a:avLst/>
              <a:gdLst/>
              <a:ahLst/>
              <a:cxnLst/>
              <a:rect r="r" b="b" t="t" l="l"/>
              <a:pathLst>
                <a:path h="3411347" w="7122414">
                  <a:moveTo>
                    <a:pt x="0" y="165989"/>
                  </a:moveTo>
                  <a:cubicBezTo>
                    <a:pt x="0" y="74295"/>
                    <a:pt x="74295" y="0"/>
                    <a:pt x="165989" y="0"/>
                  </a:cubicBezTo>
                  <a:lnTo>
                    <a:pt x="6956425" y="0"/>
                  </a:lnTo>
                  <a:cubicBezTo>
                    <a:pt x="7048119" y="0"/>
                    <a:pt x="7122414" y="74295"/>
                    <a:pt x="7122414" y="165989"/>
                  </a:cubicBezTo>
                  <a:lnTo>
                    <a:pt x="7122414" y="3245358"/>
                  </a:lnTo>
                  <a:cubicBezTo>
                    <a:pt x="7122414" y="3337052"/>
                    <a:pt x="7048119" y="3411347"/>
                    <a:pt x="6956425" y="3411347"/>
                  </a:cubicBezTo>
                  <a:lnTo>
                    <a:pt x="165989" y="3411347"/>
                  </a:lnTo>
                  <a:cubicBezTo>
                    <a:pt x="74295" y="3411347"/>
                    <a:pt x="0" y="3337052"/>
                    <a:pt x="0" y="3245358"/>
                  </a:cubicBezTo>
                  <a:close/>
                </a:path>
              </a:pathLst>
            </a:custGeom>
            <a:solidFill>
              <a:srgbClr val="F7FAFB"/>
            </a:solidFill>
            <a:ln w="19065" cap="sq">
              <a:solidFill>
                <a:srgbClr val="DCE6E9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4308969" y="6135843"/>
            <a:ext cx="1153049" cy="1153049"/>
            <a:chOff x="0" y="0"/>
            <a:chExt cx="1537398" cy="153739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537462" cy="1537462"/>
            </a:xfrm>
            <a:custGeom>
              <a:avLst/>
              <a:gdLst/>
              <a:ahLst/>
              <a:cxnLst/>
              <a:rect r="r" b="b" t="t" l="l"/>
              <a:pathLst>
                <a:path h="1537462" w="1537462">
                  <a:moveTo>
                    <a:pt x="0" y="768731"/>
                  </a:moveTo>
                  <a:cubicBezTo>
                    <a:pt x="0" y="344170"/>
                    <a:pt x="344170" y="0"/>
                    <a:pt x="768731" y="0"/>
                  </a:cubicBezTo>
                  <a:cubicBezTo>
                    <a:pt x="1193292" y="0"/>
                    <a:pt x="1537462" y="344170"/>
                    <a:pt x="1537462" y="768731"/>
                  </a:cubicBezTo>
                  <a:cubicBezTo>
                    <a:pt x="1537462" y="1193292"/>
                    <a:pt x="1193292" y="1537462"/>
                    <a:pt x="768731" y="1537462"/>
                  </a:cubicBezTo>
                  <a:cubicBezTo>
                    <a:pt x="344170" y="1537462"/>
                    <a:pt x="0" y="1193292"/>
                    <a:pt x="0" y="768731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4458864" y="6285738"/>
            <a:ext cx="853250" cy="853250"/>
            <a:chOff x="0" y="0"/>
            <a:chExt cx="1137666" cy="1137666"/>
          </a:xfrm>
        </p:grpSpPr>
        <p:sp>
          <p:nvSpPr>
            <p:cNvPr name="Freeform 64" id="64" descr="/home/claude/proj/icons/radiology_white.png"/>
            <p:cNvSpPr/>
            <p:nvPr/>
          </p:nvSpPr>
          <p:spPr>
            <a:xfrm flipH="false" flipV="false" rot="0">
              <a:off x="0" y="0"/>
              <a:ext cx="1137666" cy="1137666"/>
            </a:xfrm>
            <a:custGeom>
              <a:avLst/>
              <a:gdLst/>
              <a:ahLst/>
              <a:cxnLst/>
              <a:rect r="r" b="b" t="t" l="l"/>
              <a:pathLst>
                <a:path h="1137666" w="1137666">
                  <a:moveTo>
                    <a:pt x="0" y="0"/>
                  </a:moveTo>
                  <a:lnTo>
                    <a:pt x="1137666" y="0"/>
                  </a:lnTo>
                  <a:lnTo>
                    <a:pt x="1137666" y="1137666"/>
                  </a:lnTo>
                  <a:lnTo>
                    <a:pt x="0" y="1137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2430011" y="7453608"/>
            <a:ext cx="4910966" cy="617706"/>
            <a:chOff x="0" y="0"/>
            <a:chExt cx="6547955" cy="82360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547951" cy="823603"/>
            </a:xfrm>
            <a:custGeom>
              <a:avLst/>
              <a:gdLst/>
              <a:ahLst/>
              <a:cxnLst/>
              <a:rect r="r" b="b" t="t" l="l"/>
              <a:pathLst>
                <a:path h="823603" w="6547951">
                  <a:moveTo>
                    <a:pt x="0" y="0"/>
                  </a:moveTo>
                  <a:lnTo>
                    <a:pt x="6547951" y="0"/>
                  </a:lnTo>
                  <a:lnTo>
                    <a:pt x="6547951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913" r="0" b="-104913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9525"/>
              <a:ext cx="6547955" cy="833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1"/>
                </a:lnSpc>
              </a:pPr>
              <a:r>
                <a:rPr lang="en-US" sz="2026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Radiology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196274" y="-2470814"/>
            <a:ext cx="6039755" cy="6039755"/>
            <a:chOff x="0" y="0"/>
            <a:chExt cx="8053006" cy="80530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053070" cy="8053070"/>
            </a:xfrm>
            <a:custGeom>
              <a:avLst/>
              <a:gdLst/>
              <a:ahLst/>
              <a:cxnLst/>
              <a:rect r="r" b="b" t="t" l="l"/>
              <a:pathLst>
                <a:path h="8053070" w="8053070">
                  <a:moveTo>
                    <a:pt x="0" y="4026535"/>
                  </a:moveTo>
                  <a:cubicBezTo>
                    <a:pt x="0" y="1802765"/>
                    <a:pt x="1802765" y="0"/>
                    <a:pt x="4026535" y="0"/>
                  </a:cubicBezTo>
                  <a:cubicBezTo>
                    <a:pt x="6250305" y="0"/>
                    <a:pt x="8053070" y="1802765"/>
                    <a:pt x="8053070" y="4026535"/>
                  </a:cubicBezTo>
                  <a:cubicBezTo>
                    <a:pt x="8053070" y="6250305"/>
                    <a:pt x="6250305" y="8053070"/>
                    <a:pt x="4026535" y="8053070"/>
                  </a:cubicBezTo>
                  <a:cubicBezTo>
                    <a:pt x="1802765" y="8053070"/>
                    <a:pt x="0" y="6250305"/>
                    <a:pt x="0" y="4026535"/>
                  </a:cubicBezTo>
                  <a:close/>
                </a:path>
              </a:pathLst>
            </a:custGeom>
            <a:solidFill>
              <a:srgbClr val="065A82">
                <a:alpha val="20000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824862" y="6588824"/>
            <a:ext cx="5490686" cy="5490686"/>
            <a:chOff x="0" y="0"/>
            <a:chExt cx="7320915" cy="73209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20915" cy="7320915"/>
            </a:xfrm>
            <a:custGeom>
              <a:avLst/>
              <a:gdLst/>
              <a:ahLst/>
              <a:cxnLst/>
              <a:rect r="r" b="b" t="t" l="l"/>
              <a:pathLst>
                <a:path h="7320915" w="7320915">
                  <a:moveTo>
                    <a:pt x="0" y="3660521"/>
                  </a:moveTo>
                  <a:cubicBezTo>
                    <a:pt x="0" y="1638808"/>
                    <a:pt x="1638808" y="0"/>
                    <a:pt x="3660521" y="0"/>
                  </a:cubicBezTo>
                  <a:cubicBezTo>
                    <a:pt x="5682235" y="0"/>
                    <a:pt x="7320915" y="1638808"/>
                    <a:pt x="7320915" y="3660521"/>
                  </a:cubicBezTo>
                  <a:cubicBezTo>
                    <a:pt x="7320915" y="5682235"/>
                    <a:pt x="5682107" y="7320915"/>
                    <a:pt x="3660521" y="7320915"/>
                  </a:cubicBezTo>
                  <a:cubicBezTo>
                    <a:pt x="1638935" y="7320915"/>
                    <a:pt x="0" y="5682107"/>
                    <a:pt x="0" y="3660521"/>
                  </a:cubicBezTo>
                  <a:close/>
                </a:path>
              </a:pathLst>
            </a:custGeom>
            <a:solidFill>
              <a:srgbClr val="1C7293">
                <a:alpha val="1568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54971" y="576520"/>
            <a:ext cx="12354049" cy="439255"/>
            <a:chOff x="0" y="0"/>
            <a:chExt cx="16472065" cy="58567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472069" cy="585674"/>
            </a:xfrm>
            <a:custGeom>
              <a:avLst/>
              <a:gdLst/>
              <a:ahLst/>
              <a:cxnLst/>
              <a:rect r="r" b="b" t="t" l="l"/>
              <a:pathLst>
                <a:path h="585674" w="16472069">
                  <a:moveTo>
                    <a:pt x="0" y="0"/>
                  </a:moveTo>
                  <a:lnTo>
                    <a:pt x="16472069" y="0"/>
                  </a:lnTo>
                  <a:lnTo>
                    <a:pt x="16472069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8016" r="0" b="-49801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6472065" cy="6237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b="true" sz="1801" spc="300">
                  <a:solidFill>
                    <a:srgbClr val="9FD1E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54971" y="988324"/>
            <a:ext cx="16791899" cy="988324"/>
            <a:chOff x="0" y="0"/>
            <a:chExt cx="22389198" cy="131776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389201" cy="1317765"/>
            </a:xfrm>
            <a:custGeom>
              <a:avLst/>
              <a:gdLst/>
              <a:ahLst/>
              <a:cxnLst/>
              <a:rect r="r" b="b" t="t" l="l"/>
              <a:pathLst>
                <a:path h="1317765" w="22389201">
                  <a:moveTo>
                    <a:pt x="0" y="0"/>
                  </a:moveTo>
                  <a:lnTo>
                    <a:pt x="22389201" y="0"/>
                  </a:lnTo>
                  <a:lnTo>
                    <a:pt x="22389201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1056" r="0" b="-28105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2389198" cy="1327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4"/>
                </a:lnSpc>
              </a:pPr>
              <a:r>
                <a:rPr lang="en-US" sz="4503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Conclusion &amp; Future Scope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45436" y="2529916"/>
            <a:ext cx="16810968" cy="2146706"/>
            <a:chOff x="0" y="0"/>
            <a:chExt cx="22414624" cy="28622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414737" cy="2862326"/>
            </a:xfrm>
            <a:custGeom>
              <a:avLst/>
              <a:gdLst/>
              <a:ahLst/>
              <a:cxnLst/>
              <a:rect r="r" b="b" t="t" l="l"/>
              <a:pathLst>
                <a:path h="2862326" w="22414737">
                  <a:moveTo>
                    <a:pt x="0" y="166243"/>
                  </a:moveTo>
                  <a:cubicBezTo>
                    <a:pt x="0" y="74422"/>
                    <a:pt x="74422" y="0"/>
                    <a:pt x="166243" y="0"/>
                  </a:cubicBezTo>
                  <a:lnTo>
                    <a:pt x="22248495" y="0"/>
                  </a:lnTo>
                  <a:cubicBezTo>
                    <a:pt x="22340315" y="0"/>
                    <a:pt x="22414737" y="74422"/>
                    <a:pt x="22414737" y="166243"/>
                  </a:cubicBezTo>
                  <a:lnTo>
                    <a:pt x="22414737" y="2696083"/>
                  </a:lnTo>
                  <a:cubicBezTo>
                    <a:pt x="22414737" y="2787904"/>
                    <a:pt x="22340315" y="2862326"/>
                    <a:pt x="22248495" y="2862326"/>
                  </a:cubicBezTo>
                  <a:lnTo>
                    <a:pt x="166243" y="2862326"/>
                  </a:lnTo>
                  <a:cubicBezTo>
                    <a:pt x="74422" y="2862326"/>
                    <a:pt x="0" y="2787904"/>
                    <a:pt x="0" y="2696083"/>
                  </a:cubicBezTo>
                  <a:close/>
                </a:path>
              </a:pathLst>
            </a:custGeom>
            <a:solidFill>
              <a:srgbClr val="263269"/>
            </a:solidFill>
            <a:ln w="19065" cap="sq">
              <a:solidFill>
                <a:srgbClr val="3A4A8F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35402" y="2539441"/>
            <a:ext cx="15831026" cy="2127642"/>
            <a:chOff x="0" y="0"/>
            <a:chExt cx="21108035" cy="283685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108040" cy="2836850"/>
            </a:xfrm>
            <a:custGeom>
              <a:avLst/>
              <a:gdLst/>
              <a:ahLst/>
              <a:cxnLst/>
              <a:rect r="r" b="b" t="t" l="l"/>
              <a:pathLst>
                <a:path h="2836850" w="21108040">
                  <a:moveTo>
                    <a:pt x="0" y="0"/>
                  </a:moveTo>
                  <a:lnTo>
                    <a:pt x="21108040" y="0"/>
                  </a:lnTo>
                  <a:lnTo>
                    <a:pt x="21108040" y="2836850"/>
                  </a:lnTo>
                  <a:lnTo>
                    <a:pt x="0" y="28368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981" r="0" b="-9498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14300"/>
              <a:ext cx="21108035" cy="2951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52"/>
                </a:lnSpc>
              </a:pPr>
              <a:r>
                <a:rPr lang="en-US" sz="2301">
                  <a:solidFill>
                    <a:srgbClr val="E7EE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This project applies conditional diffusion models to reconstruct missing CT/MRI slices, recovering complete, anatomically consistent 3D volumes from sparse 2D scans, improving reconstruction quality over classical interpolation.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54971" y="5147520"/>
            <a:ext cx="8236039" cy="480431"/>
            <a:chOff x="0" y="0"/>
            <a:chExt cx="10981385" cy="64057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81379" cy="640580"/>
            </a:xfrm>
            <a:custGeom>
              <a:avLst/>
              <a:gdLst/>
              <a:ahLst/>
              <a:cxnLst/>
              <a:rect r="r" b="b" t="t" l="l"/>
              <a:pathLst>
                <a:path h="640580" w="10981379">
                  <a:moveTo>
                    <a:pt x="0" y="0"/>
                  </a:moveTo>
                  <a:lnTo>
                    <a:pt x="10981379" y="0"/>
                  </a:lnTo>
                  <a:lnTo>
                    <a:pt x="10981379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0981385" cy="678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b="true" sz="1801" spc="300">
                  <a:solidFill>
                    <a:srgbClr val="8FD1E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FUTURE SCOPE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45436" y="5755691"/>
            <a:ext cx="5387588" cy="3519383"/>
            <a:chOff x="0" y="0"/>
            <a:chExt cx="7183450" cy="46925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183501" cy="4692523"/>
            </a:xfrm>
            <a:custGeom>
              <a:avLst/>
              <a:gdLst/>
              <a:ahLst/>
              <a:cxnLst/>
              <a:rect r="r" b="b" t="t" l="l"/>
              <a:pathLst>
                <a:path h="4692523" w="7183501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7017893" y="0"/>
                  </a:lnTo>
                  <a:cubicBezTo>
                    <a:pt x="7109333" y="0"/>
                    <a:pt x="7183501" y="74168"/>
                    <a:pt x="7183501" y="165608"/>
                  </a:cubicBezTo>
                  <a:lnTo>
                    <a:pt x="7183501" y="4526915"/>
                  </a:lnTo>
                  <a:cubicBezTo>
                    <a:pt x="7183501" y="4618355"/>
                    <a:pt x="7109333" y="4692523"/>
                    <a:pt x="7017893" y="4692523"/>
                  </a:cubicBezTo>
                  <a:lnTo>
                    <a:pt x="165608" y="4692523"/>
                  </a:lnTo>
                  <a:cubicBezTo>
                    <a:pt x="74168" y="4692523"/>
                    <a:pt x="0" y="4618355"/>
                    <a:pt x="0" y="4526915"/>
                  </a:cubicBezTo>
                  <a:close/>
                </a:path>
              </a:pathLst>
            </a:custGeom>
            <a:solidFill>
              <a:srgbClr val="263269"/>
            </a:solidFill>
            <a:ln w="19065" cap="sq">
              <a:solidFill>
                <a:srgbClr val="3A4A8F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2917612" y="6204480"/>
            <a:ext cx="1043235" cy="1043235"/>
            <a:chOff x="0" y="0"/>
            <a:chExt cx="1390980" cy="13909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90904" cy="1390904"/>
            </a:xfrm>
            <a:custGeom>
              <a:avLst/>
              <a:gdLst/>
              <a:ahLst/>
              <a:cxnLst/>
              <a:rect r="r" b="b" t="t" l="l"/>
              <a:pathLst>
                <a:path h="1390904" w="1390904">
                  <a:moveTo>
                    <a:pt x="0" y="695452"/>
                  </a:moveTo>
                  <a:cubicBezTo>
                    <a:pt x="0" y="311404"/>
                    <a:pt x="311404" y="0"/>
                    <a:pt x="695452" y="0"/>
                  </a:cubicBezTo>
                  <a:cubicBezTo>
                    <a:pt x="1079500" y="0"/>
                    <a:pt x="1390904" y="311404"/>
                    <a:pt x="1390904" y="695452"/>
                  </a:cubicBezTo>
                  <a:cubicBezTo>
                    <a:pt x="1390904" y="1079500"/>
                    <a:pt x="1079500" y="1390904"/>
                    <a:pt x="695452" y="1390904"/>
                  </a:cubicBezTo>
                  <a:cubicBezTo>
                    <a:pt x="311404" y="1390904"/>
                    <a:pt x="0" y="1079627"/>
                    <a:pt x="0" y="695452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3053239" y="6340097"/>
            <a:ext cx="771992" cy="771992"/>
            <a:chOff x="0" y="0"/>
            <a:chExt cx="1029322" cy="1029322"/>
          </a:xfrm>
        </p:grpSpPr>
        <p:sp>
          <p:nvSpPr>
            <p:cNvPr name="Freeform 25" id="25" descr="/home/claude/proj/icons/cube3d_white.png"/>
            <p:cNvSpPr/>
            <p:nvPr/>
          </p:nvSpPr>
          <p:spPr>
            <a:xfrm flipH="false" flipV="false" rot="0">
              <a:off x="0" y="0"/>
              <a:ext cx="1029335" cy="1029335"/>
            </a:xfrm>
            <a:custGeom>
              <a:avLst/>
              <a:gdLst/>
              <a:ahLst/>
              <a:cxnLst/>
              <a:rect r="r" b="b" t="t" l="l"/>
              <a:pathLst>
                <a:path h="1029335" w="1029335">
                  <a:moveTo>
                    <a:pt x="0" y="0"/>
                  </a:moveTo>
                  <a:lnTo>
                    <a:pt x="1029335" y="0"/>
                  </a:lnTo>
                  <a:lnTo>
                    <a:pt x="1029335" y="1029335"/>
                  </a:lnTo>
                  <a:lnTo>
                    <a:pt x="0" y="10293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1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029500" y="7471543"/>
            <a:ext cx="4819450" cy="764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3D Diffusion Models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56961" y="8170478"/>
            <a:ext cx="4764548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1"/>
              </a:lnSpc>
            </a:pPr>
            <a:r>
              <a:rPr lang="en-US" sz="1901">
                <a:solidFill>
                  <a:srgbClr val="C6D6EE"/>
                </a:solidFill>
                <a:latin typeface="Calibri (MS)"/>
                <a:ea typeface="Calibri (MS)"/>
                <a:cs typeface="Calibri (MS)"/>
                <a:sym typeface="Calibri (MS)"/>
              </a:rPr>
              <a:t>Extend from slice-wise 2D diffusion to fully volumetric 3D diffusion architectures.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6457131" y="5755691"/>
            <a:ext cx="5387588" cy="3519383"/>
            <a:chOff x="0" y="0"/>
            <a:chExt cx="7183450" cy="469251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183501" cy="4692523"/>
            </a:xfrm>
            <a:custGeom>
              <a:avLst/>
              <a:gdLst/>
              <a:ahLst/>
              <a:cxnLst/>
              <a:rect r="r" b="b" t="t" l="l"/>
              <a:pathLst>
                <a:path h="4692523" w="7183501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7017893" y="0"/>
                  </a:lnTo>
                  <a:cubicBezTo>
                    <a:pt x="7109333" y="0"/>
                    <a:pt x="7183501" y="74168"/>
                    <a:pt x="7183501" y="165608"/>
                  </a:cubicBezTo>
                  <a:lnTo>
                    <a:pt x="7183501" y="4526915"/>
                  </a:lnTo>
                  <a:cubicBezTo>
                    <a:pt x="7183501" y="4618355"/>
                    <a:pt x="7109333" y="4692523"/>
                    <a:pt x="7017893" y="4692523"/>
                  </a:cubicBezTo>
                  <a:lnTo>
                    <a:pt x="165608" y="4692523"/>
                  </a:lnTo>
                  <a:cubicBezTo>
                    <a:pt x="74168" y="4692523"/>
                    <a:pt x="0" y="4618355"/>
                    <a:pt x="0" y="4526915"/>
                  </a:cubicBezTo>
                  <a:close/>
                </a:path>
              </a:pathLst>
            </a:custGeom>
            <a:solidFill>
              <a:srgbClr val="263269"/>
            </a:solidFill>
            <a:ln w="19065" cap="sq">
              <a:solidFill>
                <a:srgbClr val="3A4A8F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8629307" y="6204480"/>
            <a:ext cx="1043235" cy="1043235"/>
            <a:chOff x="0" y="0"/>
            <a:chExt cx="1390980" cy="13909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390904" cy="1390904"/>
            </a:xfrm>
            <a:custGeom>
              <a:avLst/>
              <a:gdLst/>
              <a:ahLst/>
              <a:cxnLst/>
              <a:rect r="r" b="b" t="t" l="l"/>
              <a:pathLst>
                <a:path h="1390904" w="1390904">
                  <a:moveTo>
                    <a:pt x="0" y="695452"/>
                  </a:moveTo>
                  <a:cubicBezTo>
                    <a:pt x="0" y="311404"/>
                    <a:pt x="311404" y="0"/>
                    <a:pt x="695452" y="0"/>
                  </a:cubicBezTo>
                  <a:cubicBezTo>
                    <a:pt x="1079500" y="0"/>
                    <a:pt x="1390904" y="311404"/>
                    <a:pt x="1390904" y="695452"/>
                  </a:cubicBezTo>
                  <a:cubicBezTo>
                    <a:pt x="1390904" y="1079500"/>
                    <a:pt x="1079500" y="1390904"/>
                    <a:pt x="695452" y="1390904"/>
                  </a:cubicBezTo>
                  <a:cubicBezTo>
                    <a:pt x="311404" y="1390904"/>
                    <a:pt x="0" y="1079627"/>
                    <a:pt x="0" y="695452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8764924" y="6340097"/>
            <a:ext cx="771992" cy="771992"/>
            <a:chOff x="0" y="0"/>
            <a:chExt cx="1029322" cy="1029322"/>
          </a:xfrm>
        </p:grpSpPr>
        <p:sp>
          <p:nvSpPr>
            <p:cNvPr name="Freeform 33" id="33" descr="/home/claude/proj/icons/unet_white.png"/>
            <p:cNvSpPr/>
            <p:nvPr/>
          </p:nvSpPr>
          <p:spPr>
            <a:xfrm flipH="false" flipV="false" rot="0">
              <a:off x="0" y="0"/>
              <a:ext cx="1029335" cy="1029335"/>
            </a:xfrm>
            <a:custGeom>
              <a:avLst/>
              <a:gdLst/>
              <a:ahLst/>
              <a:cxnLst/>
              <a:rect r="r" b="b" t="t" l="l"/>
              <a:pathLst>
                <a:path h="1029335" w="1029335">
                  <a:moveTo>
                    <a:pt x="0" y="0"/>
                  </a:moveTo>
                  <a:lnTo>
                    <a:pt x="1029335" y="0"/>
                  </a:lnTo>
                  <a:lnTo>
                    <a:pt x="1029335" y="1029335"/>
                  </a:lnTo>
                  <a:lnTo>
                    <a:pt x="0" y="10293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1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6741195" y="7471543"/>
            <a:ext cx="4819450" cy="764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Transformer Conditioning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768646" y="8170478"/>
            <a:ext cx="4764548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1"/>
              </a:lnSpc>
            </a:pPr>
            <a:r>
              <a:rPr lang="en-US" sz="1901">
                <a:solidFill>
                  <a:srgbClr val="C6D6EE"/>
                </a:solidFill>
                <a:latin typeface="Calibri (MS)"/>
                <a:ea typeface="Calibri (MS)"/>
                <a:cs typeface="Calibri (MS)"/>
                <a:sym typeface="Calibri (MS)"/>
              </a:rPr>
              <a:t>Incorporate transformer-based attention for richer cross-slice conditioning.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2168816" y="5755691"/>
            <a:ext cx="5387588" cy="3519383"/>
            <a:chOff x="0" y="0"/>
            <a:chExt cx="7183450" cy="469251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183501" cy="4692523"/>
            </a:xfrm>
            <a:custGeom>
              <a:avLst/>
              <a:gdLst/>
              <a:ahLst/>
              <a:cxnLst/>
              <a:rect r="r" b="b" t="t" l="l"/>
              <a:pathLst>
                <a:path h="4692523" w="7183501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7017893" y="0"/>
                  </a:lnTo>
                  <a:cubicBezTo>
                    <a:pt x="7109333" y="0"/>
                    <a:pt x="7183501" y="74168"/>
                    <a:pt x="7183501" y="165608"/>
                  </a:cubicBezTo>
                  <a:lnTo>
                    <a:pt x="7183501" y="4526915"/>
                  </a:lnTo>
                  <a:cubicBezTo>
                    <a:pt x="7183501" y="4618355"/>
                    <a:pt x="7109333" y="4692523"/>
                    <a:pt x="7017893" y="4692523"/>
                  </a:cubicBezTo>
                  <a:lnTo>
                    <a:pt x="165608" y="4692523"/>
                  </a:lnTo>
                  <a:cubicBezTo>
                    <a:pt x="74168" y="4692523"/>
                    <a:pt x="0" y="4618355"/>
                    <a:pt x="0" y="4526915"/>
                  </a:cubicBezTo>
                  <a:close/>
                </a:path>
              </a:pathLst>
            </a:custGeom>
            <a:solidFill>
              <a:srgbClr val="263269"/>
            </a:solidFill>
            <a:ln w="19065" cap="sq">
              <a:solidFill>
                <a:srgbClr val="3A4A8F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4340992" y="6204480"/>
            <a:ext cx="1043235" cy="1043235"/>
            <a:chOff x="0" y="0"/>
            <a:chExt cx="1390980" cy="13909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390904" cy="1390904"/>
            </a:xfrm>
            <a:custGeom>
              <a:avLst/>
              <a:gdLst/>
              <a:ahLst/>
              <a:cxnLst/>
              <a:rect r="r" b="b" t="t" l="l"/>
              <a:pathLst>
                <a:path h="1390904" w="1390904">
                  <a:moveTo>
                    <a:pt x="0" y="695452"/>
                  </a:moveTo>
                  <a:cubicBezTo>
                    <a:pt x="0" y="311404"/>
                    <a:pt x="311404" y="0"/>
                    <a:pt x="695452" y="0"/>
                  </a:cubicBezTo>
                  <a:cubicBezTo>
                    <a:pt x="1079500" y="0"/>
                    <a:pt x="1390904" y="311404"/>
                    <a:pt x="1390904" y="695452"/>
                  </a:cubicBezTo>
                  <a:cubicBezTo>
                    <a:pt x="1390904" y="1079500"/>
                    <a:pt x="1079500" y="1390904"/>
                    <a:pt x="695452" y="1390904"/>
                  </a:cubicBezTo>
                  <a:cubicBezTo>
                    <a:pt x="311404" y="1390904"/>
                    <a:pt x="0" y="1079627"/>
                    <a:pt x="0" y="695452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4438867" y="6340102"/>
            <a:ext cx="771992" cy="771992"/>
            <a:chOff x="0" y="0"/>
            <a:chExt cx="1029322" cy="1029322"/>
          </a:xfrm>
        </p:grpSpPr>
        <p:sp>
          <p:nvSpPr>
            <p:cNvPr name="Freeform 41" id="41" descr="/home/claude/proj/icons/rocket_white.png"/>
            <p:cNvSpPr/>
            <p:nvPr/>
          </p:nvSpPr>
          <p:spPr>
            <a:xfrm flipH="false" flipV="false" rot="0">
              <a:off x="0" y="0"/>
              <a:ext cx="1029335" cy="1029335"/>
            </a:xfrm>
            <a:custGeom>
              <a:avLst/>
              <a:gdLst/>
              <a:ahLst/>
              <a:cxnLst/>
              <a:rect r="r" b="b" t="t" l="l"/>
              <a:pathLst>
                <a:path h="1029335" w="1029335">
                  <a:moveTo>
                    <a:pt x="0" y="0"/>
                  </a:moveTo>
                  <a:lnTo>
                    <a:pt x="1029335" y="0"/>
                  </a:lnTo>
                  <a:lnTo>
                    <a:pt x="1029335" y="1029335"/>
                  </a:lnTo>
                  <a:lnTo>
                    <a:pt x="0" y="10293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1"/>
              </a:stretch>
            </a:blip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12452880" y="7471543"/>
            <a:ext cx="4819450" cy="764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Real-Time Clinical Deployment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480341" y="8170478"/>
            <a:ext cx="4764548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1"/>
              </a:lnSpc>
            </a:pPr>
            <a:r>
              <a:rPr lang="en-US" sz="1901">
                <a:solidFill>
                  <a:srgbClr val="C6D6EE"/>
                </a:solidFill>
                <a:latin typeface="Calibri (MS)"/>
                <a:ea typeface="Calibri (MS)"/>
                <a:cs typeface="Calibri (MS)"/>
                <a:sym typeface="Calibri (MS)"/>
              </a:rPr>
              <a:t>Optimize inference for real-time, clinically deployable reconstruction pipelines.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754971" y="9718519"/>
            <a:ext cx="10981382" cy="411804"/>
            <a:chOff x="0" y="0"/>
            <a:chExt cx="14641843" cy="54907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4641840" cy="549069"/>
            </a:xfrm>
            <a:custGeom>
              <a:avLst/>
              <a:gdLst/>
              <a:ahLst/>
              <a:cxnLst/>
              <a:rect r="r" b="b" t="t" l="l"/>
              <a:pathLst>
                <a:path h="549069" w="14641840">
                  <a:moveTo>
                    <a:pt x="0" y="0"/>
                  </a:moveTo>
                  <a:lnTo>
                    <a:pt x="14641840" y="0"/>
                  </a:lnTo>
                  <a:lnTo>
                    <a:pt x="1464184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0" r="0" b="-469601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14641843" cy="5776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>
                  <a:solidFill>
                    <a:srgbClr val="8FA6C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3D Reconstruction of Biomedical Tissues — B.Tech Project Proposal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5899663" y="9718519"/>
            <a:ext cx="1647206" cy="411804"/>
            <a:chOff x="0" y="0"/>
            <a:chExt cx="2196274" cy="54907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196276" cy="549069"/>
            </a:xfrm>
            <a:custGeom>
              <a:avLst/>
              <a:gdLst/>
              <a:ahLst/>
              <a:cxnLst/>
              <a:rect r="r" b="b" t="t" l="l"/>
              <a:pathLst>
                <a:path h="549069" w="2196276">
                  <a:moveTo>
                    <a:pt x="0" y="0"/>
                  </a:moveTo>
                  <a:lnTo>
                    <a:pt x="2196276" y="0"/>
                  </a:lnTo>
                  <a:lnTo>
                    <a:pt x="219627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39" r="0" b="-2794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2196274" cy="5776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1"/>
                </a:lnSpc>
              </a:pPr>
              <a:r>
                <a:rPr lang="en-US" sz="1351">
                  <a:solidFill>
                    <a:srgbClr val="8FA6C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 / 12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DAHPbchna2o</dc:identifier>
  <dcterms:modified xsi:type="dcterms:W3CDTF">2011-08-01T06:04:30Z</dcterms:modified>
  <cp:revision>1</cp:revision>
  <dc:title>3D_Reconstruction_Project_Proposal.pptx</dc:title>
</cp:coreProperties>
</file>